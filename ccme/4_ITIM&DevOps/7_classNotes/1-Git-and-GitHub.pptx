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8" r:id="rId12"/>
    <p:sldId id="267" r:id="rId13"/>
    <p:sldId id="264" r:id="rId14"/>
    <p:sldId id="269" r:id="rId15"/>
    <p:sldId id="276" r:id="rId16"/>
    <p:sldId id="273" r:id="rId17"/>
    <p:sldId id="270" r:id="rId18"/>
    <p:sldId id="271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8B768-21BB-4D13-8555-B5EF0BD03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E409C-32AE-46AA-A571-3C1B1D01A6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6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E409C-32AE-46AA-A571-3C1B1D01A61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264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1E69-3D97-C8D8-13C3-309309E68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1C538-36BF-029B-B01B-34892D37C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83E25-EEB1-A419-59BE-E8AA4D8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65F38-BDDC-A259-FBBF-006EC99E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69697-30FF-930A-2C34-551BDA4A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6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0DEB-AF09-BCE3-5C23-B4A01069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D1C1-AFC5-67FC-99E4-C6DA305B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47A33-F28B-A49A-2EAB-56BFCA3B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67DB-83FB-9EDB-E1FF-5DF32029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E766-D12B-A063-AE25-FFB84669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01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C6BF-18B5-98A8-4CBE-75BC2976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D651D-774D-9B5A-57C6-E58E5E9A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BE5F-4CCF-BC87-9ED4-38B2BDCA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9377-09A8-9C1D-BF5A-C2FAA1C2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FD527-6395-B63F-D51E-0F65CE50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5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F8FD-2EC1-8A71-7DBD-F48BDCB6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E853-E32D-175A-C1EB-132174832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BD270-5561-15BF-13E2-14C0E115D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9352-BBC9-08D3-48AD-B396B09C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B158F-DC5F-7E29-5B4C-16FB3B42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F0AD1-24B0-152F-68E8-AB32D67E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1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171F-4AB9-4BD7-4B10-272D769D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AF480-D92D-7DCE-9A80-666E2A78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455F6-4016-B9EA-D8D7-8DFEE8D66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C7230-7E79-6E8A-0DBF-FAAB60E99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B1423-E5AB-87B1-9FB2-9098DB349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C5E58-F764-E05A-7FB7-06896DE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4083C-B5AF-7BDA-37FF-B4CAE937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6D9D7-2432-8CAC-4A46-C99446B0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7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3878-E741-ACD1-CC7F-BE0522E9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68342-B9AA-2F7F-3595-A6B65A7F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B0E68-200D-AE8D-58D6-B047AA6C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CEA62-478B-9BA9-8CFE-AD9A8A5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8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1528D-1D7A-463B-07A4-5D3603A5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9E001-D523-EEF4-18B5-39FBF7CB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911E8-A946-B448-447C-6845D768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1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C48C-9719-E702-DA65-39FA5478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4888-409A-2D8F-164C-2D6C788D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CEDDC-C5A2-92FB-8264-7157FC1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FE2B6-F338-F0EC-96C2-CF2E5F40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B91D0-00F5-1FEC-5058-C3F58CA8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2F657-B5AA-CCC0-3E06-DB10FDFE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9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802E-DA23-FE86-9B2D-A417EC4A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F1634-4A9B-9A0C-8C5F-93B57C709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214E6-76D4-17E4-936C-F55CEC7D1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C1D9F-E4BF-71B3-612B-6D5EA609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5D465-F933-0D18-09EF-C6ABE58B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DBC37-31FB-08D1-0BAD-4348949C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1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D008-978A-675F-B5E1-B1E77070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59EF4-097C-D4EE-D924-BDE5B3B46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B8AAD-4A46-9D40-C553-E655634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EA99-C99B-78EE-4FEC-B1F7539C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5A53C-262A-6F86-8FDF-9CD2C273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9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E9960-D582-D0D8-4CFD-6583638FA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5E384-8C47-A930-8EC4-FE0A92725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8476-8819-8108-1B4C-D3711B63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B3C5-C411-6C5E-0B54-D47CD377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016F-766D-929F-D480-74E2BC4F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87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A27796-A023-C049-FBA5-CAAE03DC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0BDFA-C262-B261-5EFB-6B57F1DB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463C-DF64-8ABA-6F1C-A4808015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35276-6BA3-4D9B-9FB1-AB1C03DC1B2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DEFC-5CE4-28A3-3771-1A8E5DBB5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636D5-18F4-A898-ABFF-1355C796B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5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openclipart.org/detail/15038" TargetMode="External"/><Relationship Id="rId7" Type="http://schemas.openxmlformats.org/officeDocument/2006/relationships/hyperlink" Target="https://openclipart.org/detail/171013/fwd__bubble_hand_drawn-by-rejon-17766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pixabay.com/en/stick-figure-red-man-isolated-304090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openclipart.org/detail/15038" TargetMode="External"/><Relationship Id="rId7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openclipart.org/detail/171013/fwd__bubble_hand_drawn-by-rejon-177666" TargetMode="External"/><Relationship Id="rId10" Type="http://schemas.openxmlformats.org/officeDocument/2006/relationships/hyperlink" Target="https://freepngimg.com/png/62418-database-icons-virtual-servers-computer-private-server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branch-test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BB7A-72F3-87FB-D5D2-59D83D8DE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8D855-CE2C-9F81-B857-DFC40AB7B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87862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6858-9AF6-8529-92B4-3A65F778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7294-096D-AC95-7B37-6CCF8EC2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that tracks changes in files over time</a:t>
            </a:r>
          </a:p>
          <a:p>
            <a:r>
              <a:rPr lang="en-US" dirty="0"/>
              <a:t>Allows developers to restore previous versions</a:t>
            </a:r>
          </a:p>
          <a:p>
            <a:r>
              <a:rPr lang="en-US" dirty="0"/>
              <a:t>Maintains a complete history of changes</a:t>
            </a:r>
          </a:p>
          <a:p>
            <a:r>
              <a:rPr lang="en-US" dirty="0"/>
              <a:t>Enables multiple people to work on the same project</a:t>
            </a:r>
          </a:p>
          <a:p>
            <a:r>
              <a:rPr lang="en-US" dirty="0"/>
              <a:t>Essential for software development and data projects</a:t>
            </a:r>
          </a:p>
        </p:txBody>
      </p:sp>
    </p:spTree>
    <p:extLst>
      <p:ext uri="{BB962C8B-B14F-4D97-AF65-F5344CB8AC3E}">
        <p14:creationId xmlns:p14="http://schemas.microsoft.com/office/powerpoint/2010/main" val="115580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6012-94EE-A9D4-FAAF-D41E1D36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688369"/>
          </a:xfrm>
        </p:spPr>
        <p:txBody>
          <a:bodyPr>
            <a:normAutofit fontScale="90000"/>
          </a:bodyPr>
          <a:lstStyle/>
          <a:p>
            <a:r>
              <a:rPr lang="en-IN" dirty="0"/>
              <a:t>Without 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8240F-3D6C-500A-FA00-6A85E7361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8478" y="838618"/>
            <a:ext cx="719444" cy="14341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5969B7-0E8A-643E-7A02-7EBCAFB03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8716607" y="760288"/>
            <a:ext cx="737282" cy="1472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625F7-2348-E362-8AD6-382BD00DC5FC}"/>
              </a:ext>
            </a:extLst>
          </p:cNvPr>
          <p:cNvSpPr txBox="1"/>
          <p:nvPr/>
        </p:nvSpPr>
        <p:spPr>
          <a:xfrm>
            <a:off x="92467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1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6D038329-66B9-AA7E-707C-81210399D10D}"/>
              </a:ext>
            </a:extLst>
          </p:cNvPr>
          <p:cNvSpPr/>
          <p:nvPr/>
        </p:nvSpPr>
        <p:spPr>
          <a:xfrm>
            <a:off x="2075380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46CE33-5CB7-0133-CD50-D3AF43E09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42591" y="695934"/>
            <a:ext cx="1864479" cy="18644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66BE05B-EAEB-0574-DD4B-73221265893E}"/>
              </a:ext>
            </a:extLst>
          </p:cNvPr>
          <p:cNvSpPr/>
          <p:nvPr/>
        </p:nvSpPr>
        <p:spPr>
          <a:xfrm>
            <a:off x="1304691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EE4A45-C9C4-6DAF-A244-FDE55C9720BC}"/>
              </a:ext>
            </a:extLst>
          </p:cNvPr>
          <p:cNvSpPr/>
          <p:nvPr/>
        </p:nvSpPr>
        <p:spPr>
          <a:xfrm>
            <a:off x="3723147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BADE3-0782-E539-BBCB-7E2A23E83E61}"/>
              </a:ext>
            </a:extLst>
          </p:cNvPr>
          <p:cNvSpPr txBox="1"/>
          <p:nvPr/>
        </p:nvSpPr>
        <p:spPr>
          <a:xfrm>
            <a:off x="6115314" y="129101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9B2C9F2-BD87-6BAC-8832-29098F9F7A72}"/>
              </a:ext>
            </a:extLst>
          </p:cNvPr>
          <p:cNvSpPr/>
          <p:nvPr/>
        </p:nvSpPr>
        <p:spPr>
          <a:xfrm>
            <a:off x="6884603" y="3504143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EDD41-8C55-A9A5-AA5B-FE9416490E73}"/>
              </a:ext>
            </a:extLst>
          </p:cNvPr>
          <p:cNvSpPr txBox="1"/>
          <p:nvPr/>
        </p:nvSpPr>
        <p:spPr>
          <a:xfrm>
            <a:off x="8372002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D6271-EBD9-DBF2-3FBB-9652DE652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460640" y="3221555"/>
            <a:ext cx="737282" cy="1472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85EA20-538B-2484-CE67-948B76309AE3}"/>
              </a:ext>
            </a:extLst>
          </p:cNvPr>
          <p:cNvSpPr txBox="1"/>
          <p:nvPr/>
        </p:nvSpPr>
        <p:spPr>
          <a:xfrm>
            <a:off x="92467" y="491612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39454DBF-BB48-FE48-A8FA-050B68517D95}"/>
              </a:ext>
            </a:extLst>
          </p:cNvPr>
          <p:cNvSpPr/>
          <p:nvPr/>
        </p:nvSpPr>
        <p:spPr>
          <a:xfrm>
            <a:off x="2075380" y="3274870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0469FD7-8001-9040-CB9A-68184094BF7C}"/>
              </a:ext>
            </a:extLst>
          </p:cNvPr>
          <p:cNvSpPr/>
          <p:nvPr/>
        </p:nvSpPr>
        <p:spPr>
          <a:xfrm>
            <a:off x="1304691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039C0E6-B23F-FBA6-790D-05FD75E1159E}"/>
              </a:ext>
            </a:extLst>
          </p:cNvPr>
          <p:cNvSpPr/>
          <p:nvPr/>
        </p:nvSpPr>
        <p:spPr>
          <a:xfrm>
            <a:off x="3723147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E1FC84-E88B-6BA9-7046-6140D0CFC08A}"/>
              </a:ext>
            </a:extLst>
          </p:cNvPr>
          <p:cNvSpPr txBox="1"/>
          <p:nvPr/>
        </p:nvSpPr>
        <p:spPr>
          <a:xfrm>
            <a:off x="6290039" y="4162184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8892B199-DEC5-E540-097F-2115AB0B6EC5}"/>
              </a:ext>
            </a:extLst>
          </p:cNvPr>
          <p:cNvSpPr/>
          <p:nvPr/>
        </p:nvSpPr>
        <p:spPr>
          <a:xfrm>
            <a:off x="10373673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23C40E5-F096-05E1-5610-B61B38868669}"/>
              </a:ext>
            </a:extLst>
          </p:cNvPr>
          <p:cNvSpPr/>
          <p:nvPr/>
        </p:nvSpPr>
        <p:spPr>
          <a:xfrm>
            <a:off x="9602984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26061DF-B8F9-1626-9255-129B6DC5AC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260" y="2800585"/>
            <a:ext cx="2076729" cy="19884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7D2121-FE16-F5D2-B808-78E5D1046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561264" y="2960148"/>
            <a:ext cx="1864479" cy="18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8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4DAF-C148-8377-06B0-1FE40ED9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5B14-8044-D8A2-520D-74E80C53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688369"/>
          </a:xfrm>
        </p:spPr>
        <p:txBody>
          <a:bodyPr>
            <a:normAutofit fontScale="90000"/>
          </a:bodyPr>
          <a:lstStyle/>
          <a:p>
            <a:r>
              <a:rPr lang="en-IN" dirty="0"/>
              <a:t>With 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11D31-0170-87E9-72C4-6D3D686E7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8478" y="838618"/>
            <a:ext cx="719444" cy="14341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910140-829F-EAB8-30AE-22B7458E9D3E}"/>
              </a:ext>
            </a:extLst>
          </p:cNvPr>
          <p:cNvSpPr txBox="1"/>
          <p:nvPr/>
        </p:nvSpPr>
        <p:spPr>
          <a:xfrm>
            <a:off x="92467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1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0E924271-FDD7-E988-88EE-5437D35389E3}"/>
              </a:ext>
            </a:extLst>
          </p:cNvPr>
          <p:cNvSpPr/>
          <p:nvPr/>
        </p:nvSpPr>
        <p:spPr>
          <a:xfrm>
            <a:off x="2075380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9420C-3BB5-9DF9-2040-5463DB2E8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35848" y="5090482"/>
            <a:ext cx="1864479" cy="18644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AA38AE1-0E67-829B-268E-DE848B84A3B3}"/>
              </a:ext>
            </a:extLst>
          </p:cNvPr>
          <p:cNvSpPr/>
          <p:nvPr/>
        </p:nvSpPr>
        <p:spPr>
          <a:xfrm>
            <a:off x="1304691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4E8F944-516C-31EA-B3EC-16CDA1575832}"/>
              </a:ext>
            </a:extLst>
          </p:cNvPr>
          <p:cNvSpPr/>
          <p:nvPr/>
        </p:nvSpPr>
        <p:spPr>
          <a:xfrm>
            <a:off x="3723147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A6DB00-7EA7-1B44-0D84-3E279DB846B6}"/>
              </a:ext>
            </a:extLst>
          </p:cNvPr>
          <p:cNvSpPr txBox="1"/>
          <p:nvPr/>
        </p:nvSpPr>
        <p:spPr>
          <a:xfrm>
            <a:off x="5807128" y="469381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98655E-47DC-CD2F-011A-E8891340CB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flipH="1">
            <a:off x="460640" y="3221555"/>
            <a:ext cx="737282" cy="1472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79440D-E13A-A059-B0DB-0F6759A6F2E7}"/>
              </a:ext>
            </a:extLst>
          </p:cNvPr>
          <p:cNvSpPr txBox="1"/>
          <p:nvPr/>
        </p:nvSpPr>
        <p:spPr>
          <a:xfrm>
            <a:off x="92467" y="491612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B99E2C17-44ED-4FE5-4451-4B1CBEA3AF02}"/>
              </a:ext>
            </a:extLst>
          </p:cNvPr>
          <p:cNvSpPr/>
          <p:nvPr/>
        </p:nvSpPr>
        <p:spPr>
          <a:xfrm>
            <a:off x="7233533" y="3190807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C1E9EF6-E8CE-2F40-0C25-4372430D2A79}"/>
              </a:ext>
            </a:extLst>
          </p:cNvPr>
          <p:cNvSpPr/>
          <p:nvPr/>
        </p:nvSpPr>
        <p:spPr>
          <a:xfrm>
            <a:off x="1304691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4A9474A-3F42-F0E6-9E54-B9F8AF8357B1}"/>
              </a:ext>
            </a:extLst>
          </p:cNvPr>
          <p:cNvSpPr/>
          <p:nvPr/>
        </p:nvSpPr>
        <p:spPr>
          <a:xfrm>
            <a:off x="6296191" y="3551795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FE9F3960-2581-DA46-02DD-8A6E086DC056}"/>
              </a:ext>
            </a:extLst>
          </p:cNvPr>
          <p:cNvSpPr/>
          <p:nvPr/>
        </p:nvSpPr>
        <p:spPr>
          <a:xfrm>
            <a:off x="4585741" y="317823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9FBE0C-2F41-2430-3B37-49E50324D0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817" y="4797613"/>
            <a:ext cx="2076729" cy="19884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D03491-334B-7EC2-B59A-F13EB680E2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670309" y="551706"/>
            <a:ext cx="1518605" cy="214730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CD1C460-2BA3-4FA0-19EE-D3F50D34399A}"/>
              </a:ext>
            </a:extLst>
          </p:cNvPr>
          <p:cNvSpPr/>
          <p:nvPr/>
        </p:nvSpPr>
        <p:spPr>
          <a:xfrm>
            <a:off x="6233379" y="1351003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9A2066-85EF-6D01-ED07-C2CAD8CCE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06909" y="677764"/>
            <a:ext cx="1864479" cy="18644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17D3A90-AF94-08E9-0EB1-DE94DE69AD5D}"/>
              </a:ext>
            </a:extLst>
          </p:cNvPr>
          <p:cNvSpPr txBox="1"/>
          <p:nvPr/>
        </p:nvSpPr>
        <p:spPr>
          <a:xfrm>
            <a:off x="8579632" y="127284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6F632-1EBF-84F3-014A-21C5094163CB}"/>
              </a:ext>
            </a:extLst>
          </p:cNvPr>
          <p:cNvSpPr txBox="1"/>
          <p:nvPr/>
        </p:nvSpPr>
        <p:spPr>
          <a:xfrm>
            <a:off x="4616968" y="243327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Repository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1EE525D-0A36-FD1B-35EC-EB7E79C234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101114" y="2768818"/>
            <a:ext cx="1518605" cy="21473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FB9322D-0882-61B0-1633-ACB983E9AEE6}"/>
              </a:ext>
            </a:extLst>
          </p:cNvPr>
          <p:cNvSpPr txBox="1"/>
          <p:nvPr/>
        </p:nvSpPr>
        <p:spPr>
          <a:xfrm>
            <a:off x="1101769" y="9075112"/>
            <a:ext cx="4850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0" tooltip="https://freepngimg.com/png/62418-database-icons-virtual-servers-computer-private-server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11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F9F5839-218F-3CC4-2F12-D733ECA77AC4}"/>
              </a:ext>
            </a:extLst>
          </p:cNvPr>
          <p:cNvSpPr/>
          <p:nvPr/>
        </p:nvSpPr>
        <p:spPr>
          <a:xfrm>
            <a:off x="3664184" y="3568115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CEB356-BD0D-4E18-E5A9-6428D2A404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766664" y="2600084"/>
            <a:ext cx="1518605" cy="21473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D0D644F-C178-AA11-3003-7C2A2C282A1A}"/>
              </a:ext>
            </a:extLst>
          </p:cNvPr>
          <p:cNvSpPr txBox="1"/>
          <p:nvPr/>
        </p:nvSpPr>
        <p:spPr>
          <a:xfrm>
            <a:off x="9713323" y="4481654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Repository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6917B6A-3DAC-1FED-2F0F-EC03DA3A8D41}"/>
              </a:ext>
            </a:extLst>
          </p:cNvPr>
          <p:cNvSpPr/>
          <p:nvPr/>
        </p:nvSpPr>
        <p:spPr>
          <a:xfrm>
            <a:off x="8941184" y="3551794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F05ED92-C536-CFE2-E970-1E05116203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28872" y="5100792"/>
            <a:ext cx="1518605" cy="2147308"/>
          </a:xfrm>
          <a:prstGeom prst="rect">
            <a:avLst/>
          </a:prstGeom>
        </p:spPr>
      </p:pic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13B25975-2286-9FCC-85E6-06D8806C14B7}"/>
              </a:ext>
            </a:extLst>
          </p:cNvPr>
          <p:cNvSpPr/>
          <p:nvPr/>
        </p:nvSpPr>
        <p:spPr>
          <a:xfrm>
            <a:off x="2641551" y="5417429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FD124C7-68E3-0888-4521-4E518DE774E8}"/>
              </a:ext>
            </a:extLst>
          </p:cNvPr>
          <p:cNvSpPr/>
          <p:nvPr/>
        </p:nvSpPr>
        <p:spPr>
          <a:xfrm>
            <a:off x="1704209" y="5778417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A625E2D-BB08-298C-87FC-3B508F20FB5C}"/>
              </a:ext>
            </a:extLst>
          </p:cNvPr>
          <p:cNvSpPr/>
          <p:nvPr/>
        </p:nvSpPr>
        <p:spPr>
          <a:xfrm>
            <a:off x="4349202" y="5778416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685A29F-C29C-E293-8EC9-F57B3E7B13C3}"/>
              </a:ext>
            </a:extLst>
          </p:cNvPr>
          <p:cNvSpPr/>
          <p:nvPr/>
        </p:nvSpPr>
        <p:spPr>
          <a:xfrm>
            <a:off x="6952823" y="5865886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4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AEDE-F055-B3AB-B786-BA7A6C72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Centralized Vs Distributed Version Control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4D69F-D918-59CE-7E43-3A3CA173A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263966"/>
              </p:ext>
            </p:extLst>
          </p:nvPr>
        </p:nvGraphicFramePr>
        <p:xfrm>
          <a:off x="472612" y="1447800"/>
          <a:ext cx="11414588" cy="4267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70095">
                  <a:extLst>
                    <a:ext uri="{9D8B030D-6E8A-4147-A177-3AD203B41FA5}">
                      <a16:colId xmlns:a16="http://schemas.microsoft.com/office/drawing/2014/main" val="2687737519"/>
                    </a:ext>
                  </a:extLst>
                </a:gridCol>
                <a:gridCol w="4110848">
                  <a:extLst>
                    <a:ext uri="{9D8B030D-6E8A-4147-A177-3AD203B41FA5}">
                      <a16:colId xmlns:a16="http://schemas.microsoft.com/office/drawing/2014/main" val="1343732958"/>
                    </a:ext>
                  </a:extLst>
                </a:gridCol>
                <a:gridCol w="4633645">
                  <a:extLst>
                    <a:ext uri="{9D8B030D-6E8A-4147-A177-3AD203B41FA5}">
                      <a16:colId xmlns:a16="http://schemas.microsoft.com/office/drawing/2014/main" val="1045538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Centralized Version Control (CVCS)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Distributed Version Control (DVCS)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67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Repository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Single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Every developer has full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791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Internet 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Usually required to commit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Not required for most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45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Stored on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Stored on every developer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753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Slower due to server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Faster since operations are 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991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Risk if central server fails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Multiple copies act as backup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219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Developers depend on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Developers can work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237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Offline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Limited or 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Fully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627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Less scalable for large teams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Highly 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5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SVN, CVS, Perforce, Visual Source Safe (VSS), Endeavor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Git, Mercurial, Bazaar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20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70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9583-10B3-93E0-ADAD-A4332BA0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EFCC-286F-7E60-D8AA-6238EC5F9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Distributed Version Control System (DVCS) used to track changes in files and source code</a:t>
            </a:r>
          </a:p>
          <a:p>
            <a:r>
              <a:rPr lang="en-US" dirty="0"/>
              <a:t>Created by Linus Torvalds in 2005 for Linux kernel development</a:t>
            </a:r>
          </a:p>
          <a:p>
            <a:r>
              <a:rPr lang="en-US" dirty="0"/>
              <a:t>Allows multiple developers to work on the same project simultaneously</a:t>
            </a:r>
          </a:p>
          <a:p>
            <a:r>
              <a:rPr lang="en-US" dirty="0"/>
              <a:t>Maintains a complete history of all changes made to files</a:t>
            </a:r>
          </a:p>
          <a:p>
            <a:r>
              <a:rPr lang="en-US" dirty="0"/>
              <a:t>Supports branching and merging for parallel development</a:t>
            </a:r>
          </a:p>
          <a:p>
            <a:r>
              <a:rPr lang="en-US" dirty="0"/>
              <a:t>Works locally on a developer’s machine, so many operations are very fast</a:t>
            </a:r>
          </a:p>
          <a:p>
            <a:r>
              <a:rPr lang="en-US" dirty="0"/>
              <a:t>Enables easy collaboration through platforms like GitHub, GitLab, and Bitbucket</a:t>
            </a:r>
          </a:p>
          <a:p>
            <a:r>
              <a:rPr lang="en-US" dirty="0"/>
              <a:t>Widely used in software development, DevOps, AI/ML projects, and data science workflows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28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0AE6-D9EC-4297-1AD6-CEBC3DCB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F8B9-B0E6-ACF2-8A1E-1B524C43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cloud-based platform for hosting Git repositories</a:t>
            </a:r>
          </a:p>
          <a:p>
            <a:r>
              <a:rPr lang="en-US" dirty="0"/>
              <a:t>Allows developers to store, share, and collaborate on code online</a:t>
            </a:r>
          </a:p>
          <a:p>
            <a:r>
              <a:rPr lang="en-US" dirty="0"/>
              <a:t>Built on top of Git version control system</a:t>
            </a:r>
          </a:p>
          <a:p>
            <a:r>
              <a:rPr lang="en-US" dirty="0"/>
              <a:t>Enables teams to work together on the same project from different locations</a:t>
            </a:r>
          </a:p>
          <a:p>
            <a:r>
              <a:rPr lang="en-US" dirty="0"/>
              <a:t>Provides features like Pull Requests, Issues, and Code Reviews</a:t>
            </a:r>
          </a:p>
          <a:p>
            <a:r>
              <a:rPr lang="en-US" dirty="0"/>
              <a:t>Keeps track of project history and contributions by different developers</a:t>
            </a:r>
          </a:p>
          <a:p>
            <a:r>
              <a:rPr lang="en-US" dirty="0"/>
              <a:t>Integrates with CI/CD tools for automated testing and deployment</a:t>
            </a:r>
          </a:p>
          <a:p>
            <a:r>
              <a:rPr lang="en-US" dirty="0"/>
              <a:t>Widely used for open-source projects, software development, and collaborative coding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66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B90-6B0D-4775-BDBF-E71B3235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61BF-8286-59C8-6075-1208B6B34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Go to https://github.com and log in to our account</a:t>
            </a:r>
          </a:p>
          <a:p>
            <a:r>
              <a:rPr lang="en-US" dirty="0"/>
              <a:t>Click the “+” icon at the top-right corner</a:t>
            </a:r>
          </a:p>
          <a:p>
            <a:r>
              <a:rPr lang="en-US" dirty="0"/>
              <a:t>Select New repository.</a:t>
            </a:r>
          </a:p>
          <a:p>
            <a:r>
              <a:rPr lang="en-US" dirty="0"/>
              <a:t>Enter the Repository name (example: demo)</a:t>
            </a:r>
          </a:p>
          <a:p>
            <a:r>
              <a:rPr lang="en-US" dirty="0"/>
              <a:t>Optionally add a description for the repository</a:t>
            </a:r>
          </a:p>
          <a:p>
            <a:r>
              <a:rPr lang="en-US" dirty="0"/>
              <a:t>Choose repository visibility</a:t>
            </a:r>
          </a:p>
          <a:p>
            <a:pPr lvl="1"/>
            <a:r>
              <a:rPr lang="en-US" dirty="0"/>
              <a:t>Public (anyone can see)</a:t>
            </a:r>
          </a:p>
          <a:p>
            <a:pPr lvl="1"/>
            <a:r>
              <a:rPr lang="en-US" dirty="0"/>
              <a:t>Private (only invited users can see)</a:t>
            </a:r>
          </a:p>
          <a:p>
            <a:r>
              <a:rPr lang="en-US" dirty="0"/>
              <a:t>Optionally select:</a:t>
            </a:r>
          </a:p>
          <a:p>
            <a:pPr lvl="1"/>
            <a:r>
              <a:rPr lang="en-US" dirty="0"/>
              <a:t>Add a README file</a:t>
            </a:r>
          </a:p>
          <a:p>
            <a:pPr lvl="1"/>
            <a:r>
              <a:rPr lang="en-US" dirty="0"/>
              <a:t>Add .</a:t>
            </a:r>
            <a:r>
              <a:rPr lang="en-US" dirty="0" err="1"/>
              <a:t>gitignore</a:t>
            </a:r>
            <a:endParaRPr lang="en-US" dirty="0"/>
          </a:p>
          <a:p>
            <a:pPr lvl="1"/>
            <a:r>
              <a:rPr lang="en-US" dirty="0"/>
              <a:t>Choose a license</a:t>
            </a:r>
          </a:p>
          <a:p>
            <a:pPr lvl="1"/>
            <a:r>
              <a:rPr lang="en-US" dirty="0"/>
              <a:t>Click Create repository</a:t>
            </a:r>
          </a:p>
          <a:p>
            <a:r>
              <a:rPr lang="en-US" dirty="0"/>
              <a:t>GitHub will create the repository and show commands to connect our local Git project</a:t>
            </a:r>
          </a:p>
          <a:p>
            <a:r>
              <a:rPr lang="en-US" dirty="0"/>
              <a:t>We can now clone, add files, commit, and push code to this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70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6089-3A3C-188C-0A0F-8FB2FB58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EFAE5F-A837-9226-DC51-A300E7437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577416"/>
              </p:ext>
            </p:extLst>
          </p:nvPr>
        </p:nvGraphicFramePr>
        <p:xfrm>
          <a:off x="601895" y="1995265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254321">
                  <a:extLst>
                    <a:ext uri="{9D8B030D-6E8A-4147-A177-3AD203B41FA5}">
                      <a16:colId xmlns:a16="http://schemas.microsoft.com/office/drawing/2014/main" val="3731744166"/>
                    </a:ext>
                  </a:extLst>
                </a:gridCol>
                <a:gridCol w="3811712">
                  <a:extLst>
                    <a:ext uri="{9D8B030D-6E8A-4147-A177-3AD203B41FA5}">
                      <a16:colId xmlns:a16="http://schemas.microsoft.com/office/drawing/2014/main" val="2593725856"/>
                    </a:ext>
                  </a:extLst>
                </a:gridCol>
                <a:gridCol w="4449567">
                  <a:extLst>
                    <a:ext uri="{9D8B030D-6E8A-4147-A177-3AD203B41FA5}">
                      <a16:colId xmlns:a16="http://schemas.microsoft.com/office/drawing/2014/main" val="4127103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52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 add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Add files to </a:t>
                      </a:r>
                      <a:r>
                        <a:rPr lang="en-US" sz="2400" b="1" dirty="0"/>
                        <a:t>staging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Selects changes that will be included in the next commit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03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 commit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Save changes to </a:t>
                      </a:r>
                      <a:r>
                        <a:rPr lang="en-US" sz="2400" b="1" dirty="0"/>
                        <a:t>local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Creates a snapshot of the staged changes with a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67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 push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Upload changes to </a:t>
                      </a:r>
                      <a:r>
                        <a:rPr lang="en-US" sz="2400" b="1" dirty="0"/>
                        <a:t>remote (GitHub)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Sends committed changes from local machine to remote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94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04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BB0C-9315-9A7F-53EB-DFE99341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On the Local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0D565-3E1C-05EB-0115-4D9C9D424F94}"/>
              </a:ext>
            </a:extLst>
          </p:cNvPr>
          <p:cNvSpPr txBox="1"/>
          <p:nvPr/>
        </p:nvSpPr>
        <p:spPr>
          <a:xfrm>
            <a:off x="1315092" y="1780922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Workspace</a:t>
            </a:r>
            <a:r>
              <a:rPr lang="en-IN" sz="2000" b="1" dirty="0"/>
              <a:t> 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(Directory where we write code)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A9EB6-BF8D-0BFD-B7F8-00EF79181B37}"/>
              </a:ext>
            </a:extLst>
          </p:cNvPr>
          <p:cNvSpPr txBox="1"/>
          <p:nvPr/>
        </p:nvSpPr>
        <p:spPr>
          <a:xfrm>
            <a:off x="3961115" y="2716461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Staging Area</a:t>
            </a:r>
            <a:endParaRPr lang="en-IN" sz="2000" b="1" dirty="0"/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(git now tracks our files)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42963-CB7D-76B8-F56E-438BCCBEDDBF}"/>
              </a:ext>
            </a:extLst>
          </p:cNvPr>
          <p:cNvSpPr txBox="1"/>
          <p:nvPr/>
        </p:nvSpPr>
        <p:spPr>
          <a:xfrm>
            <a:off x="6607138" y="3816295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Local Repo</a:t>
            </a:r>
            <a:endParaRPr lang="en-IN" sz="2000" b="1" dirty="0"/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(Replica of remote repo)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957E3-D166-F21D-3C1F-B4C534DC9CA5}"/>
              </a:ext>
            </a:extLst>
          </p:cNvPr>
          <p:cNvSpPr txBox="1"/>
          <p:nvPr/>
        </p:nvSpPr>
        <p:spPr>
          <a:xfrm>
            <a:off x="9253161" y="4966040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Remote Repo</a:t>
            </a:r>
            <a:endParaRPr lang="en-IN" sz="2000" b="1" dirty="0"/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(cloud-based </a:t>
            </a:r>
            <a:r>
              <a:rPr lang="en-IN" sz="2000" dirty="0" err="1"/>
              <a:t>github</a:t>
            </a:r>
            <a:r>
              <a:rPr lang="en-IN" sz="2000" dirty="0"/>
              <a:t> repo)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4916C-53D4-A59C-5FB8-A8D8365A54DA}"/>
              </a:ext>
            </a:extLst>
          </p:cNvPr>
          <p:cNvSpPr txBox="1"/>
          <p:nvPr/>
        </p:nvSpPr>
        <p:spPr>
          <a:xfrm>
            <a:off x="1654140" y="1397250"/>
            <a:ext cx="1664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nano hello.py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D2DA62-27EF-1CF6-603B-64070A2753E1}"/>
              </a:ext>
            </a:extLst>
          </p:cNvPr>
          <p:cNvSpPr txBox="1"/>
          <p:nvPr/>
        </p:nvSpPr>
        <p:spPr>
          <a:xfrm>
            <a:off x="4274476" y="2304142"/>
            <a:ext cx="19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git add hello.py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55083E-AA8B-7213-9385-8F429A36C88F}"/>
              </a:ext>
            </a:extLst>
          </p:cNvPr>
          <p:cNvSpPr txBox="1"/>
          <p:nvPr/>
        </p:nvSpPr>
        <p:spPr>
          <a:xfrm>
            <a:off x="6303623" y="3286621"/>
            <a:ext cx="327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git commit –m “first commit”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540927-F188-B030-487F-29599A28C164}"/>
              </a:ext>
            </a:extLst>
          </p:cNvPr>
          <p:cNvSpPr txBox="1"/>
          <p:nvPr/>
        </p:nvSpPr>
        <p:spPr>
          <a:xfrm>
            <a:off x="9253161" y="4339515"/>
            <a:ext cx="2445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git push origin main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4231E3-DFCA-BCA3-650E-1D70E0D9A697}"/>
              </a:ext>
            </a:extLst>
          </p:cNvPr>
          <p:cNvCxnSpPr/>
          <p:nvPr/>
        </p:nvCxnSpPr>
        <p:spPr>
          <a:xfrm>
            <a:off x="2486345" y="3686731"/>
            <a:ext cx="1325367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E7F9EB-C8CF-0A85-81A0-D97D8AFEE5BD}"/>
              </a:ext>
            </a:extLst>
          </p:cNvPr>
          <p:cNvCxnSpPr/>
          <p:nvPr/>
        </p:nvCxnSpPr>
        <p:spPr>
          <a:xfrm>
            <a:off x="5192301" y="4695125"/>
            <a:ext cx="1325367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F3D1D9-4916-B2CE-87A7-B46E74E58CCB}"/>
              </a:ext>
            </a:extLst>
          </p:cNvPr>
          <p:cNvCxnSpPr/>
          <p:nvPr/>
        </p:nvCxnSpPr>
        <p:spPr>
          <a:xfrm>
            <a:off x="7778392" y="5873414"/>
            <a:ext cx="1325367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26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4571-748B-E61C-86DB-F6111929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Git to Work With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B23E0-D42F-AB97-E941-E01AF389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git   config   --global   user.name   “</a:t>
            </a:r>
            <a:r>
              <a:rPr lang="en-IN" sz="3200" dirty="0">
                <a:highlight>
                  <a:srgbClr val="FFFF00"/>
                </a:highlight>
              </a:rPr>
              <a:t>Atul Kahate</a:t>
            </a:r>
            <a:r>
              <a:rPr lang="en-IN" sz="3200" dirty="0"/>
              <a:t>“</a:t>
            </a:r>
          </a:p>
          <a:p>
            <a:endParaRPr lang="en-IN" sz="3200" dirty="0"/>
          </a:p>
          <a:p>
            <a:r>
              <a:rPr lang="en-IN" sz="3200" dirty="0"/>
              <a:t>git   config   --global   </a:t>
            </a:r>
            <a:r>
              <a:rPr lang="en-IN" sz="3200" dirty="0" err="1"/>
              <a:t>user.email</a:t>
            </a:r>
            <a:r>
              <a:rPr lang="en-IN" sz="3200" dirty="0"/>
              <a:t>   “</a:t>
            </a:r>
            <a:r>
              <a:rPr lang="en-IN" sz="3200" dirty="0">
                <a:highlight>
                  <a:srgbClr val="FFFF00"/>
                </a:highlight>
              </a:rPr>
              <a:t>newdelthis@gmail.com</a:t>
            </a:r>
            <a:r>
              <a:rPr lang="en-IN" sz="32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94116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0225-A810-BA3C-4303-A36E6CA1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a Personal Access Token (PAT)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3228-12F7-D43E-3245-157C4834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Log in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your profile icon (top-right corner)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Settings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the left sidebar, click Developer settings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Personal access tokens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Tokens (classic) or Fine-grained tokens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Generate new token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a token name (description)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the expiration period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required permissions (scopes) such as repo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Generate token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and store the token immediately (it will not be shown again)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this PAT instead of your GitHub password when performing operations like git push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8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50D1-543B-0506-5954-64D6B13D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 the Local Machine (Git)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03E9-07E7-B738-DF4D-022843902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 ~</a:t>
            </a:r>
          </a:p>
          <a:p>
            <a:r>
              <a:rPr lang="en-IN" dirty="0"/>
              <a:t>git clone </a:t>
            </a:r>
            <a:r>
              <a:rPr lang="en-IN" dirty="0">
                <a:highlight>
                  <a:srgbClr val="FFFF00"/>
                </a:highlight>
              </a:rPr>
              <a:t>https://github.com/newdelthis/demo.git</a:t>
            </a:r>
          </a:p>
          <a:p>
            <a:r>
              <a:rPr lang="en-IN" dirty="0"/>
              <a:t>cd demo</a:t>
            </a:r>
          </a:p>
          <a:p>
            <a:r>
              <a:rPr lang="en-IN" dirty="0"/>
              <a:t>nano Hello.java</a:t>
            </a:r>
          </a:p>
          <a:p>
            <a:r>
              <a:rPr lang="en-IN" dirty="0"/>
              <a:t>git status</a:t>
            </a:r>
          </a:p>
          <a:p>
            <a:r>
              <a:rPr lang="en-IN" dirty="0"/>
              <a:t>git add Hello.java</a:t>
            </a:r>
          </a:p>
          <a:p>
            <a:r>
              <a:rPr lang="en-US" dirty="0"/>
              <a:t>git commit -m "Added Hello.java“</a:t>
            </a:r>
          </a:p>
          <a:p>
            <a:r>
              <a:rPr lang="en-IN" dirty="0"/>
              <a:t>git push origin main</a:t>
            </a:r>
          </a:p>
        </p:txBody>
      </p:sp>
    </p:spTree>
    <p:extLst>
      <p:ext uri="{BB962C8B-B14F-4D97-AF65-F5344CB8AC3E}">
        <p14:creationId xmlns:p14="http://schemas.microsoft.com/office/powerpoint/2010/main" val="232801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28BA-7D4D-5B2C-9223-17C2627F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5900"/>
          </a:xfrm>
        </p:spPr>
        <p:txBody>
          <a:bodyPr>
            <a:normAutofit fontScale="90000"/>
          </a:bodyPr>
          <a:lstStyle/>
          <a:p>
            <a:r>
              <a:rPr lang="en-IN" dirty="0"/>
              <a:t>Miscellaneous Git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1ABF5C-CB16-8E63-CAE7-11164EC54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971309"/>
              </p:ext>
            </p:extLst>
          </p:nvPr>
        </p:nvGraphicFramePr>
        <p:xfrm>
          <a:off x="460624" y="595901"/>
          <a:ext cx="11270751" cy="620304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198670">
                  <a:extLst>
                    <a:ext uri="{9D8B030D-6E8A-4147-A177-3AD203B41FA5}">
                      <a16:colId xmlns:a16="http://schemas.microsoft.com/office/drawing/2014/main" val="3338937749"/>
                    </a:ext>
                  </a:extLst>
                </a:gridCol>
                <a:gridCol w="5315164">
                  <a:extLst>
                    <a:ext uri="{9D8B030D-6E8A-4147-A177-3AD203B41FA5}">
                      <a16:colId xmlns:a16="http://schemas.microsoft.com/office/drawing/2014/main" val="1083856481"/>
                    </a:ext>
                  </a:extLst>
                </a:gridCol>
                <a:gridCol w="3756917">
                  <a:extLst>
                    <a:ext uri="{9D8B030D-6E8A-4147-A177-3AD203B41FA5}">
                      <a16:colId xmlns:a16="http://schemas.microsoft.com/office/drawing/2014/main" val="3354489648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Purpose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Example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545858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status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Show current state of repository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status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713100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log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commit history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log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221279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diff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differences between files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diff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40345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pull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Fetch and merge updates from remote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pull origin main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18129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fetch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Download changes without merging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fetch origin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855841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remote -v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remote repositories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remote -v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495552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reset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Undo staging or commits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reset file1.txt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8830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rm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Remove a file from repository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rm file1.txt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91661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Temporarily save changes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73511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 pop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Restore stashed changes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stash pop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4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858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B006-DEE6-334A-55B9-40BDA9F7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80EB5-57FB-69B8-A306-802C60B3F9A9}"/>
              </a:ext>
            </a:extLst>
          </p:cNvPr>
          <p:cNvSpPr txBox="1"/>
          <p:nvPr/>
        </p:nvSpPr>
        <p:spPr>
          <a:xfrm>
            <a:off x="5917914" y="490359"/>
            <a:ext cx="223976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Original “main” Repository on 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B9F60-B672-6565-E80C-EE41BD515050}"/>
              </a:ext>
            </a:extLst>
          </p:cNvPr>
          <p:cNvSpPr txBox="1"/>
          <p:nvPr/>
        </p:nvSpPr>
        <p:spPr>
          <a:xfrm>
            <a:off x="2731213" y="2307173"/>
            <a:ext cx="18493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Branch D-1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A51C5-15C9-573A-58BB-97E71746594A}"/>
              </a:ext>
            </a:extLst>
          </p:cNvPr>
          <p:cNvSpPr txBox="1"/>
          <p:nvPr/>
        </p:nvSpPr>
        <p:spPr>
          <a:xfrm>
            <a:off x="8924817" y="2307173"/>
            <a:ext cx="18493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Branch D-2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850CE-6BBA-FC7D-24B7-71AF454B94CC}"/>
              </a:ext>
            </a:extLst>
          </p:cNvPr>
          <p:cNvSpPr txBox="1"/>
          <p:nvPr/>
        </p:nvSpPr>
        <p:spPr>
          <a:xfrm>
            <a:off x="6096000" y="3507537"/>
            <a:ext cx="18493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Merge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06F87-F9A5-5F94-7230-6AD6B086DCE5}"/>
              </a:ext>
            </a:extLst>
          </p:cNvPr>
          <p:cNvSpPr txBox="1"/>
          <p:nvPr/>
        </p:nvSpPr>
        <p:spPr>
          <a:xfrm>
            <a:off x="6095999" y="4423062"/>
            <a:ext cx="184934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Merge into “main” branch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B9C018-8266-FFD3-C5AE-BC91F2EF4F1E}"/>
              </a:ext>
            </a:extLst>
          </p:cNvPr>
          <p:cNvCxnSpPr>
            <a:cxnSpLocks/>
          </p:cNvCxnSpPr>
          <p:nvPr/>
        </p:nvCxnSpPr>
        <p:spPr>
          <a:xfrm flipH="1">
            <a:off x="7037797" y="1680414"/>
            <a:ext cx="1" cy="40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6CB433-1C6B-F96C-2744-1DF35D2977BB}"/>
              </a:ext>
            </a:extLst>
          </p:cNvPr>
          <p:cNvCxnSpPr/>
          <p:nvPr/>
        </p:nvCxnSpPr>
        <p:spPr>
          <a:xfrm>
            <a:off x="3760342" y="2075380"/>
            <a:ext cx="6256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4FD0FE-A29E-4F4D-4DA4-24235C1C7271}"/>
              </a:ext>
            </a:extLst>
          </p:cNvPr>
          <p:cNvCxnSpPr/>
          <p:nvPr/>
        </p:nvCxnSpPr>
        <p:spPr>
          <a:xfrm>
            <a:off x="3760342" y="2075380"/>
            <a:ext cx="0" cy="231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7D9F0B-C592-7335-CFD8-83522DA19725}"/>
              </a:ext>
            </a:extLst>
          </p:cNvPr>
          <p:cNvCxnSpPr/>
          <p:nvPr/>
        </p:nvCxnSpPr>
        <p:spPr>
          <a:xfrm>
            <a:off x="10017303" y="2075379"/>
            <a:ext cx="0" cy="231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A415CF-488A-A1C8-413F-8B9F8C268A04}"/>
              </a:ext>
            </a:extLst>
          </p:cNvPr>
          <p:cNvCxnSpPr>
            <a:cxnSpLocks/>
          </p:cNvCxnSpPr>
          <p:nvPr/>
        </p:nvCxnSpPr>
        <p:spPr>
          <a:xfrm>
            <a:off x="3738084" y="2751764"/>
            <a:ext cx="0" cy="339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E40329-E3E0-72E2-1F92-ADA2DAD168E1}"/>
              </a:ext>
            </a:extLst>
          </p:cNvPr>
          <p:cNvCxnSpPr/>
          <p:nvPr/>
        </p:nvCxnSpPr>
        <p:spPr>
          <a:xfrm>
            <a:off x="3738084" y="3090809"/>
            <a:ext cx="6256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47E3DD-7F26-6E18-34CF-32D3647459DB}"/>
              </a:ext>
            </a:extLst>
          </p:cNvPr>
          <p:cNvCxnSpPr>
            <a:cxnSpLocks/>
          </p:cNvCxnSpPr>
          <p:nvPr/>
        </p:nvCxnSpPr>
        <p:spPr>
          <a:xfrm>
            <a:off x="10003607" y="2743203"/>
            <a:ext cx="0" cy="339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263131-0B8E-EF78-850C-859D379F3232}"/>
              </a:ext>
            </a:extLst>
          </p:cNvPr>
          <p:cNvCxnSpPr>
            <a:cxnSpLocks/>
          </p:cNvCxnSpPr>
          <p:nvPr/>
        </p:nvCxnSpPr>
        <p:spPr>
          <a:xfrm flipH="1">
            <a:off x="7037797" y="3106291"/>
            <a:ext cx="1" cy="40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44A006-6EC2-9B6E-6082-4E7A9BF84356}"/>
              </a:ext>
            </a:extLst>
          </p:cNvPr>
          <p:cNvCxnSpPr>
            <a:cxnSpLocks/>
          </p:cNvCxnSpPr>
          <p:nvPr/>
        </p:nvCxnSpPr>
        <p:spPr>
          <a:xfrm flipH="1">
            <a:off x="7037797" y="3997274"/>
            <a:ext cx="1" cy="40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8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0740-F3AB-D3B0-9D38-C36B7676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 Example – Basic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08140C-B830-8313-B278-DB5D50D7A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009445"/>
              </p:ext>
            </p:extLst>
          </p:nvPr>
        </p:nvGraphicFramePr>
        <p:xfrm>
          <a:off x="523987" y="1598310"/>
          <a:ext cx="11435132" cy="5120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32202">
                  <a:extLst>
                    <a:ext uri="{9D8B030D-6E8A-4147-A177-3AD203B41FA5}">
                      <a16:colId xmlns:a16="http://schemas.microsoft.com/office/drawing/2014/main" val="3279800205"/>
                    </a:ext>
                  </a:extLst>
                </a:gridCol>
                <a:gridCol w="1890445">
                  <a:extLst>
                    <a:ext uri="{9D8B030D-6E8A-4147-A177-3AD203B41FA5}">
                      <a16:colId xmlns:a16="http://schemas.microsoft.com/office/drawing/2014/main" val="3225141196"/>
                    </a:ext>
                  </a:extLst>
                </a:gridCol>
                <a:gridCol w="8712485">
                  <a:extLst>
                    <a:ext uri="{9D8B030D-6E8A-4147-A177-3AD203B41FA5}">
                      <a16:colId xmlns:a16="http://schemas.microsoft.com/office/drawing/2014/main" val="67622340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Step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96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Create a new repo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In GitHub, create a new repo named branch-test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14761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Clone it on the Linux machine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cd ~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clone </a:t>
                      </a:r>
                      <a:r>
                        <a:rPr lang="en-IN" sz="2800" b="1" dirty="0">
                          <a:hlinkClick r:id="rId2"/>
                        </a:rPr>
                        <a:t>https://github.com/</a:t>
                      </a:r>
                      <a:r>
                        <a:rPr lang="en-IN" sz="2800" b="1" dirty="0">
                          <a:highlight>
                            <a:srgbClr val="FFFF00"/>
                          </a:highlight>
                          <a:hlinkClick r:id="rId2"/>
                        </a:rPr>
                        <a:t>newdelthis</a:t>
                      </a:r>
                      <a:r>
                        <a:rPr lang="en-IN" sz="2800" b="1" dirty="0">
                          <a:hlinkClick r:id="rId2"/>
                        </a:rPr>
                        <a:t>/branch-test.git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302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Create hello.py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cd    branch-test 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Nano    hello.py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14065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Push it to GitHub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  add      .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   commit       -m        “Branch test – First commit”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  push           origin             main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26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080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2173-E481-463F-7268-653ADBA4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9464"/>
          </a:xfrm>
        </p:spPr>
        <p:txBody>
          <a:bodyPr/>
          <a:lstStyle/>
          <a:p>
            <a:r>
              <a:rPr lang="en-IN" dirty="0"/>
              <a:t>Branch and Merge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8E263E-37A2-A9F8-FCFA-A1EBBDF8F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221818"/>
              </p:ext>
            </p:extLst>
          </p:nvPr>
        </p:nvGraphicFramePr>
        <p:xfrm>
          <a:off x="359601" y="729465"/>
          <a:ext cx="11178279" cy="4974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81000">
                  <a:extLst>
                    <a:ext uri="{9D8B030D-6E8A-4147-A177-3AD203B41FA5}">
                      <a16:colId xmlns:a16="http://schemas.microsoft.com/office/drawing/2014/main" val="3279800205"/>
                    </a:ext>
                  </a:extLst>
                </a:gridCol>
                <a:gridCol w="3547156">
                  <a:extLst>
                    <a:ext uri="{9D8B030D-6E8A-4147-A177-3AD203B41FA5}">
                      <a16:colId xmlns:a16="http://schemas.microsoft.com/office/drawing/2014/main" val="3225141196"/>
                    </a:ext>
                  </a:extLst>
                </a:gridCol>
                <a:gridCol w="6750123">
                  <a:extLst>
                    <a:ext uri="{9D8B030D-6E8A-4147-A177-3AD203B41FA5}">
                      <a16:colId xmlns:a16="http://schemas.microsoft.com/office/drawing/2014/main" val="67622340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Step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96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branches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(-b means create)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checkout    -b       d-1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checkout    -b       d-2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302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Switch to d-1 branch and complete developer 1’s work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checkout         d-1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nano   hello.py   </a:t>
                      </a:r>
                      <a:r>
                        <a:rPr lang="en-IN" sz="2800" b="0" dirty="0">
                          <a:solidFill>
                            <a:srgbClr val="7030A0"/>
                          </a:solidFill>
                        </a:rPr>
                        <a:t>Edit the line and add a 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 add     hello.py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  -m   "Developer-1 hello.py"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5345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Repeat for Developer 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checkout         d-2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nano   hello.py   </a:t>
                      </a:r>
                      <a:r>
                        <a:rPr lang="en-IN" sz="2800" b="0" dirty="0">
                          <a:solidFill>
                            <a:srgbClr val="7030A0"/>
                          </a:solidFill>
                        </a:rPr>
                        <a:t>Edit the line and add a line</a:t>
                      </a:r>
                      <a:endParaRPr lang="en-IN" sz="28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 add     hello.py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  -m   "Developer-2 hello.py"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14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106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C698-F8C6-DE23-A16C-BFDB777D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F3D5-351C-2BCB-F080-2C59839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68"/>
            <a:ext cx="10515600" cy="739740"/>
          </a:xfrm>
        </p:spPr>
        <p:txBody>
          <a:bodyPr/>
          <a:lstStyle/>
          <a:p>
            <a:r>
              <a:rPr lang="en-IN" dirty="0"/>
              <a:t>Branch and Merge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058A5F-915D-B107-A966-764EB539F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144808"/>
              </p:ext>
            </p:extLst>
          </p:nvPr>
        </p:nvGraphicFramePr>
        <p:xfrm>
          <a:off x="184935" y="752092"/>
          <a:ext cx="11763910" cy="56997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04750">
                  <a:extLst>
                    <a:ext uri="{9D8B030D-6E8A-4147-A177-3AD203B41FA5}">
                      <a16:colId xmlns:a16="http://schemas.microsoft.com/office/drawing/2014/main" val="1532268951"/>
                    </a:ext>
                  </a:extLst>
                </a:gridCol>
                <a:gridCol w="4759052">
                  <a:extLst>
                    <a:ext uri="{9D8B030D-6E8A-4147-A177-3AD203B41FA5}">
                      <a16:colId xmlns:a16="http://schemas.microsoft.com/office/drawing/2014/main" val="1004746342"/>
                    </a:ext>
                  </a:extLst>
                </a:gridCol>
                <a:gridCol w="6000108">
                  <a:extLst>
                    <a:ext uri="{9D8B030D-6E8A-4147-A177-3AD203B41FA5}">
                      <a16:colId xmlns:a16="http://schemas.microsoft.com/office/drawing/2014/main" val="4056356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43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Try merging d-1 branch into d-2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merge   d-1     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ERROR!</a:t>
                      </a:r>
                    </a:p>
                    <a:p>
                      <a:pPr>
                        <a:buNone/>
                      </a:pP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97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Edit </a:t>
                      </a:r>
                      <a:r>
                        <a:rPr lang="en-IN" sz="2400"/>
                        <a:t>hello.py </a:t>
                      </a:r>
                      <a:r>
                        <a:rPr lang="en-IN" sz="2400" dirty="0"/>
                        <a:t>and resolve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nano hello.py    </a:t>
                      </a:r>
                      <a:r>
                        <a:rPr lang="en-US" sz="2800" b="0" dirty="0"/>
                        <a:t>and resolve conflicts</a:t>
                      </a:r>
                      <a:endParaRPr 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488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Again add and commit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add   hello.py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-m “Conflict handled”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44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Try merging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merge   d-1       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OK!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38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Switch to main and merge branch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checkout   main</a:t>
                      </a:r>
                    </a:p>
                    <a:p>
                      <a:pPr>
                        <a:buNone/>
                      </a:pPr>
                      <a:r>
                        <a:rPr lang="en-US" sz="2800" b="1" dirty="0"/>
                        <a:t>git   merge   d-2</a:t>
                      </a:r>
                    </a:p>
                    <a:p>
                      <a:pPr>
                        <a:buNone/>
                      </a:pPr>
                      <a:r>
                        <a:rPr lang="en-US" sz="2800" b="1" dirty="0"/>
                        <a:t>git   push  origin   main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48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Remove other branches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branch   -d   d-1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branch   -d   d-2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918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35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2406-3500-D26B-AE60-03FAC689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22C238-A758-C9B0-D9FB-B1629F47E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146391"/>
              </p:ext>
            </p:extLst>
          </p:nvPr>
        </p:nvGraphicFramePr>
        <p:xfrm>
          <a:off x="285964" y="1561238"/>
          <a:ext cx="11620071" cy="474204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873357">
                  <a:extLst>
                    <a:ext uri="{9D8B030D-6E8A-4147-A177-3AD203B41FA5}">
                      <a16:colId xmlns:a16="http://schemas.microsoft.com/office/drawing/2014/main" val="2575282651"/>
                    </a:ext>
                  </a:extLst>
                </a:gridCol>
                <a:gridCol w="4049418">
                  <a:extLst>
                    <a:ext uri="{9D8B030D-6E8A-4147-A177-3AD203B41FA5}">
                      <a16:colId xmlns:a16="http://schemas.microsoft.com/office/drawing/2014/main" val="1733471545"/>
                    </a:ext>
                  </a:extLst>
                </a:gridCol>
                <a:gridCol w="3697296">
                  <a:extLst>
                    <a:ext uri="{9D8B030D-6E8A-4147-A177-3AD203B41FA5}">
                      <a16:colId xmlns:a16="http://schemas.microsoft.com/office/drawing/2014/main" val="109991655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90649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List all branches in the repository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69276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branch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a new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2632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checkout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Switch to an existing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checkout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36614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git checkout -b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 and switch to a new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checkout -b feature2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2650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merge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Merge another branch into the current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merge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973288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/>
                        <a:t>git branch -d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a local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 -d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830508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git push origin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Push a branch to remote repository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push origin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4897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push origin --delete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a remote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git push origin --delete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06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761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87B6-56DF-A9ED-18E5-A12620D9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Alternative: switch Command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62E513-D815-B07C-CD8E-7C0E882EC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770573"/>
              </p:ext>
            </p:extLst>
          </p:nvPr>
        </p:nvGraphicFramePr>
        <p:xfrm>
          <a:off x="663539" y="1690688"/>
          <a:ext cx="11131194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10398">
                  <a:extLst>
                    <a:ext uri="{9D8B030D-6E8A-4147-A177-3AD203B41FA5}">
                      <a16:colId xmlns:a16="http://schemas.microsoft.com/office/drawing/2014/main" val="3307439558"/>
                    </a:ext>
                  </a:extLst>
                </a:gridCol>
                <a:gridCol w="3710398">
                  <a:extLst>
                    <a:ext uri="{9D8B030D-6E8A-4147-A177-3AD203B41FA5}">
                      <a16:colId xmlns:a16="http://schemas.microsoft.com/office/drawing/2014/main" val="1045560456"/>
                    </a:ext>
                  </a:extLst>
                </a:gridCol>
                <a:gridCol w="3710398">
                  <a:extLst>
                    <a:ext uri="{9D8B030D-6E8A-4147-A177-3AD203B41FA5}">
                      <a16:colId xmlns:a16="http://schemas.microsoft.com/office/drawing/2014/main" val="3274910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53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branch_name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an existing branch (modern alternative to checkout)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feature1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79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-c branch_name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 a new branch and switch to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-c feature2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68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back to the main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23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the previously used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4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 switch --detach commit_id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a specific commit (detached HEAD state)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git switch --detach a1b2c3d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32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0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1429</Words>
  <Application>Microsoft Office PowerPoint</Application>
  <PresentationFormat>Widescreen</PresentationFormat>
  <Paragraphs>305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Git and GitHub</vt:lpstr>
      <vt:lpstr>Version Control</vt:lpstr>
      <vt:lpstr>Without Version Control</vt:lpstr>
      <vt:lpstr>With Version Control</vt:lpstr>
      <vt:lpstr>Centralized Vs Distributed Version Control</vt:lpstr>
      <vt:lpstr>Git</vt:lpstr>
      <vt:lpstr>GitHub</vt:lpstr>
      <vt:lpstr>Creating a GitHub Repository</vt:lpstr>
      <vt:lpstr>Git Commands</vt:lpstr>
      <vt:lpstr>Git On the Local Machine</vt:lpstr>
      <vt:lpstr>Set Up Git to Work With GitHub</vt:lpstr>
      <vt:lpstr>Generating a Personal Access Token (PAT)</vt:lpstr>
      <vt:lpstr>On the Local Machine (Git) Terminal</vt:lpstr>
      <vt:lpstr>Miscellaneous Git Commands</vt:lpstr>
      <vt:lpstr>Branch and Merge</vt:lpstr>
      <vt:lpstr>Branch and Merge Example – Basic Setup</vt:lpstr>
      <vt:lpstr>Branch and Merge Example</vt:lpstr>
      <vt:lpstr>Branch and Merge Example</vt:lpstr>
      <vt:lpstr>Branch and Merge Commands</vt:lpstr>
      <vt:lpstr>Alternative: switch Command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16</cp:revision>
  <dcterms:created xsi:type="dcterms:W3CDTF">2026-03-06T09:43:41Z</dcterms:created>
  <dcterms:modified xsi:type="dcterms:W3CDTF">2026-04-20T07:56:11Z</dcterms:modified>
</cp:coreProperties>
</file>