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2" r:id="rId6"/>
    <p:sldId id="264" r:id="rId7"/>
    <p:sldId id="267" r:id="rId8"/>
    <p:sldId id="281" r:id="rId9"/>
    <p:sldId id="282" r:id="rId10"/>
    <p:sldId id="270" r:id="rId11"/>
    <p:sldId id="265" r:id="rId12"/>
    <p:sldId id="268" r:id="rId13"/>
    <p:sldId id="271" r:id="rId14"/>
    <p:sldId id="266" r:id="rId15"/>
    <p:sldId id="269" r:id="rId16"/>
    <p:sldId id="272" r:id="rId17"/>
    <p:sldId id="273" r:id="rId18"/>
    <p:sldId id="274" r:id="rId19"/>
    <p:sldId id="275" r:id="rId20"/>
    <p:sldId id="276" r:id="rId21"/>
    <p:sldId id="277" r:id="rId22"/>
    <p:sldId id="283" r:id="rId23"/>
    <p:sldId id="284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7CACE-0FA5-E150-DF2A-15683B3DA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5AA389-E3CA-9D2B-BE5A-551C6DC9C5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5066F-2983-CA38-814E-A6F3A23EF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131C9-51B5-6DC6-D621-126134169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D3D5E-A066-78FA-07CB-07A9279D1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142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AA1BA-419A-10EF-5190-B698ABE88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48E71-EC58-9518-B856-68A74E76E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F871E-9A22-6146-1C89-584A6A6AF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4F44C-12F2-77CC-7ECA-3230EBEE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338FC-D009-086C-F4BD-CEC432A2B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905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D8FE4-0BDA-19A2-423F-77CF39DCD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553F-1C7B-D36B-9474-41F029CBDC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9BCDE-AEBC-1427-4986-68511E38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97F51-FA05-BE42-EF79-CB7F9494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01EC9-4F5C-2AAC-86AE-920F1C6F4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489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78AA7-598F-57B7-92CC-719C8C62E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43615-D7D4-7BE2-750A-A69C48565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7005C-DF27-DA25-4A50-DEAB4BDCC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EB86BE-BBF4-21B1-D53B-99F95CE6F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5D46D-B3D3-05FD-7661-6D2A6860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9466D4-DC6C-737C-0CC1-F5AC9B3B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39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DB0EE-11D0-4F9A-ABF3-025D50DD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687DC8-06D7-E30D-1AD2-6A10B81FC1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4176DA-FA9F-EA04-C43F-236693EEF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6D139E-FA30-993F-9956-51420D01E3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ECE6E-EB07-5234-9D19-00A7FF2E7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6D46F-FF56-F0CF-486B-A0DA6AF1E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5F492-9C46-B32A-40FF-9601139F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07A514-76B2-6664-0EA7-67648C25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02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803A-49C6-3841-D79B-A7871BDD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211D2-427D-60EA-8162-B1CF63C9F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5A3B2-0868-B70F-E912-EE7B09663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E1CA2-82EF-2CF1-4819-3CC252BA0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6451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AFEDA8-4929-6001-EFA1-4308B32F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697E28-5E6B-5C2B-9E7D-E9B1C560B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8998F-A590-A2AF-93A8-C1DA2563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41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7B0D-941E-76D0-9E88-EE8FC2A5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AF62C-2258-ADCF-A5F2-37DA7324C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849A49-8730-88D9-7ACB-B7147F180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CFD5A-8607-7993-086E-DAAA06D6C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67F0A-BD87-2D74-D675-2AC209C20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8A28AC-B8AF-021D-39E0-16DDB0A58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153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3D0E-72A8-42CC-2085-D1DEB493A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21FC2-5E38-DA65-6E6E-9AAC0532E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25D49-B1C0-D5C5-61E8-6705CE8ED3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88D0E-2C9F-4F64-B078-8CDD5A03F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8BC6FD-D8F7-D1CE-7494-D3EDF05A1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D59610-6508-7AFD-288D-F1B3D0AC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382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5561-D7C5-87B2-95C5-B883727C3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5A286-8925-9A96-A8D0-91364E99DC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FE4DD0-566F-7FDC-70CE-3AE20DD05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1C986-11FF-1D61-69C3-4E0C4122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02558-8F75-A960-8B98-12C2FA6E9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09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62D78D-CA84-6040-ADB8-295FF1225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E8FEE-A7CC-9B0B-58B4-53B662337A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8EE8E-B999-85EE-9558-52A22F83E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EDFF9-7AFF-65DA-762F-8EB327D52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9A6D8-59F2-A6A6-2D54-5A55DFB91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3166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A681F-2A17-F9A2-7134-AAAF5FE8E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E0163-2E4D-7B7A-CDD2-62E6CC60E4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2AD55-677D-4592-7E97-D184A7A5F6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9C84E-F5C8-432C-A15C-759540E5B4B7}" type="datetimeFigureOut">
              <a:rPr lang="en-IN" smtClean="0"/>
              <a:t>30-04-2026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5896B-92CB-4456-1652-C18D4B66B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05130-C245-B021-6B1C-EAFF6243D5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A3FEF-4DD5-442E-B472-814B4377F0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881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3E40-686F-A196-D5CA-80B304542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Terraform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B5CC3-F6C1-0F26-AFCD-3621DF4187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216638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561CD-8035-B385-F5D4-7EB21BDBB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Terraform Basics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A7ACA1-F2E5-F19E-7D51-B9D33D3FB9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313794"/>
              </p:ext>
            </p:extLst>
          </p:nvPr>
        </p:nvGraphicFramePr>
        <p:xfrm>
          <a:off x="349321" y="1714553"/>
          <a:ext cx="11630345" cy="32613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072857">
                  <a:extLst>
                    <a:ext uri="{9D8B030D-6E8A-4147-A177-3AD203B41FA5}">
                      <a16:colId xmlns:a16="http://schemas.microsoft.com/office/drawing/2014/main" val="2644461254"/>
                    </a:ext>
                  </a:extLst>
                </a:gridCol>
                <a:gridCol w="9557488">
                  <a:extLst>
                    <a:ext uri="{9D8B030D-6E8A-4147-A177-3AD203B41FA5}">
                      <a16:colId xmlns:a16="http://schemas.microsoft.com/office/drawing/2014/main" val="1637559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96502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Tool to manage infrastructure using code - </a:t>
                      </a:r>
                      <a:r>
                        <a:rPr lang="en-US" sz="2800" b="1" dirty="0"/>
                        <a:t>Infrastructure as Code</a:t>
                      </a:r>
                      <a:r>
                        <a:rPr lang="en-US" sz="2400" b="1" dirty="0"/>
                        <a:t> (IAC)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331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Automate creation, update, and deletion of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009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Works With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AWS, Azure, GCP, Docker, Kubernetes, etc.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3827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No manual setup, consistent environments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6412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Developed by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Hashicorp</a:t>
                      </a:r>
                      <a:r>
                        <a:rPr lang="en-IN" sz="2400" dirty="0"/>
                        <a:t> Limited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391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Uses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 err="1"/>
                        <a:t>Hashicorp</a:t>
                      </a:r>
                      <a:r>
                        <a:rPr lang="en-IN" sz="2400" dirty="0"/>
                        <a:t> Language (HCL)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142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5661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D6A6F-9F7C-AE65-E599-B6C177163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6B76FD-E4D6-A8F1-F7A9-336E5E83A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309445"/>
              </p:ext>
            </p:extLst>
          </p:nvPr>
        </p:nvGraphicFramePr>
        <p:xfrm>
          <a:off x="838200" y="1500027"/>
          <a:ext cx="10515600" cy="4147191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3360603192"/>
                    </a:ext>
                  </a:extLst>
                </a:gridCol>
                <a:gridCol w="3616503">
                  <a:extLst>
                    <a:ext uri="{9D8B030D-6E8A-4147-A177-3AD203B41FA5}">
                      <a16:colId xmlns:a16="http://schemas.microsoft.com/office/drawing/2014/main" val="2559835445"/>
                    </a:ext>
                  </a:extLst>
                </a:gridCol>
                <a:gridCol w="5908497">
                  <a:extLst>
                    <a:ext uri="{9D8B030D-6E8A-4147-A177-3AD203B41FA5}">
                      <a16:colId xmlns:a16="http://schemas.microsoft.com/office/drawing/2014/main" val="16871675"/>
                    </a:ext>
                  </a:extLst>
                </a:gridCol>
              </a:tblGrid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2689444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Write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Define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7489580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</a:t>
                      </a:r>
                      <a:r>
                        <a:rPr lang="en-IN" sz="2400" b="1" dirty="0" err="1"/>
                        <a:t>init</a:t>
                      </a:r>
                      <a:endParaRPr lang="en-IN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Initialize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3793241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Preview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53948058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apply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Create/update infra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0683200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Modify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Change infra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2672966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Check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4786805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apply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Apply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651996"/>
                  </a:ext>
                </a:extLst>
              </a:tr>
              <a:tr h="4607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terraform destroy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Delete infra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6533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549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9CD6-55AA-F300-EBCD-4F650FBC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FF0773-AD85-85C0-E478-3C2595D289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748927"/>
              </p:ext>
            </p:extLst>
          </p:nvPr>
        </p:nvGraphicFramePr>
        <p:xfrm>
          <a:off x="653265" y="1690688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4789959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889640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7210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main.tf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Main configuration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277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variables.tf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Input variables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2733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outputs.tf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Output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43754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terraform.tfvars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Variable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1823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terraform.tfstate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Stores current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087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11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363D-B6C6-8EE6-9A1D-36CD7F649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Important Commands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1C65F3-5640-AC17-739A-6107064175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3055735"/>
              </p:ext>
            </p:extLst>
          </p:nvPr>
        </p:nvGraphicFramePr>
        <p:xfrm>
          <a:off x="745732" y="1580702"/>
          <a:ext cx="10515600" cy="32004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54771183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7923070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Command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6247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init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Setup project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8315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Preview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411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apply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Execute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571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destroy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Delete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752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validate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Check syntax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573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fmt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Format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268002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84D11D3-FBD4-FCC3-4DB2-BDA1B375148A}"/>
              </a:ext>
            </a:extLst>
          </p:cNvPr>
          <p:cNvSpPr txBox="1"/>
          <p:nvPr/>
        </p:nvSpPr>
        <p:spPr>
          <a:xfrm>
            <a:off x="745732" y="5116530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Install: </a:t>
            </a:r>
            <a:r>
              <a:rPr lang="en-IN" sz="3200" b="1" dirty="0"/>
              <a:t>https://developer.hashicorp.com/terraform/install</a:t>
            </a:r>
            <a:endParaRPr lang="en-IN" sz="2400" b="1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24833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EBE46-6F5B-DC4E-D482-995E7947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4781764" cy="770561"/>
          </a:xfrm>
        </p:spPr>
        <p:txBody>
          <a:bodyPr>
            <a:noAutofit/>
          </a:bodyPr>
          <a:lstStyle/>
          <a:p>
            <a:r>
              <a:rPr lang="en-IN" sz="3200" dirty="0"/>
              <a:t>Lab 1: Create a Local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05D90-20D0-AA68-1E1C-CB518170D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3716"/>
            <a:ext cx="10515600" cy="52732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b="1" dirty="0"/>
              <a:t>terraform {</a:t>
            </a:r>
          </a:p>
          <a:p>
            <a:pPr marL="0" indent="0">
              <a:buNone/>
            </a:pPr>
            <a:r>
              <a:rPr lang="en-IN" sz="2000" b="1" dirty="0"/>
              <a:t>  </a:t>
            </a:r>
            <a:r>
              <a:rPr lang="en-IN" sz="2000" b="1" dirty="0" err="1"/>
              <a:t>required_providers</a:t>
            </a:r>
            <a:r>
              <a:rPr lang="en-IN" sz="2000" b="1" dirty="0"/>
              <a:t> {</a:t>
            </a:r>
          </a:p>
          <a:p>
            <a:pPr marL="0" indent="0">
              <a:buNone/>
            </a:pPr>
            <a:r>
              <a:rPr lang="en-IN" sz="2000" b="1" dirty="0"/>
              <a:t>    local = {</a:t>
            </a:r>
          </a:p>
          <a:p>
            <a:pPr marL="0" indent="0">
              <a:buNone/>
            </a:pPr>
            <a:r>
              <a:rPr lang="en-IN" sz="2000" b="1" dirty="0"/>
              <a:t>      source = "</a:t>
            </a:r>
            <a:r>
              <a:rPr lang="en-IN" sz="2000" b="1" dirty="0" err="1"/>
              <a:t>hashicorp</a:t>
            </a:r>
            <a:r>
              <a:rPr lang="en-IN" sz="2000" b="1" dirty="0"/>
              <a:t>/local"</a:t>
            </a:r>
          </a:p>
          <a:p>
            <a:pPr marL="0" indent="0">
              <a:buNone/>
            </a:pPr>
            <a:r>
              <a:rPr lang="en-IN" sz="2000" b="1" dirty="0"/>
              <a:t>      version = "~&gt; 2.0"</a:t>
            </a:r>
          </a:p>
          <a:p>
            <a:pPr marL="0" indent="0">
              <a:buNone/>
            </a:pPr>
            <a:r>
              <a:rPr lang="en-IN" sz="2000" b="1" dirty="0"/>
              <a:t>    }</a:t>
            </a:r>
          </a:p>
          <a:p>
            <a:pPr marL="0" indent="0">
              <a:buNone/>
            </a:pPr>
            <a:r>
              <a:rPr lang="en-IN" sz="2000" b="1" dirty="0"/>
              <a:t>  }</a:t>
            </a:r>
          </a:p>
          <a:p>
            <a:pPr marL="0" indent="0">
              <a:buNone/>
            </a:pPr>
            <a:r>
              <a:rPr lang="en-IN" sz="2000" b="1" dirty="0"/>
              <a:t>}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provider "local" {}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/>
              <a:t>resource "</a:t>
            </a:r>
            <a:r>
              <a:rPr lang="en-IN" sz="2000" b="1" dirty="0" err="1"/>
              <a:t>local_file</a:t>
            </a:r>
            <a:r>
              <a:rPr lang="en-IN" sz="2000" b="1" dirty="0"/>
              <a:t>" "example" {</a:t>
            </a:r>
          </a:p>
          <a:p>
            <a:pPr marL="0" indent="0">
              <a:buNone/>
            </a:pPr>
            <a:r>
              <a:rPr lang="en-IN" sz="2000" b="1" dirty="0"/>
              <a:t>  filename = "hello.txt"</a:t>
            </a:r>
          </a:p>
          <a:p>
            <a:pPr marL="0" indent="0">
              <a:buNone/>
            </a:pPr>
            <a:r>
              <a:rPr lang="en-IN" sz="2000" b="1" dirty="0"/>
              <a:t>  content  = "Hello Terraform!"</a:t>
            </a:r>
          </a:p>
          <a:p>
            <a:pPr marL="0" indent="0">
              <a:buNone/>
            </a:pPr>
            <a:r>
              <a:rPr lang="en-IN" sz="2000" b="1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68E6B0-563B-0D1D-7485-7301BEC835BA}"/>
              </a:ext>
            </a:extLst>
          </p:cNvPr>
          <p:cNvSpPr txBox="1"/>
          <p:nvPr/>
        </p:nvSpPr>
        <p:spPr>
          <a:xfrm>
            <a:off x="4467116" y="681037"/>
            <a:ext cx="3730375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Tell terraform that we need a plugin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The plugin is for local resource (i.e. same machine on which the script will run)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Which version of the plugin we want?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528C3B-62FC-7EAB-75E4-DE329C27399E}"/>
              </a:ext>
            </a:extLst>
          </p:cNvPr>
          <p:cNvSpPr txBox="1"/>
          <p:nvPr/>
        </p:nvSpPr>
        <p:spPr>
          <a:xfrm>
            <a:off x="4603678" y="4449796"/>
            <a:ext cx="3730375" cy="40011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Initialize the local provider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FDA655-5191-E922-F381-AD9C5DACD9BF}"/>
              </a:ext>
            </a:extLst>
          </p:cNvPr>
          <p:cNvSpPr txBox="1"/>
          <p:nvPr/>
        </p:nvSpPr>
        <p:spPr>
          <a:xfrm>
            <a:off x="4603678" y="5161300"/>
            <a:ext cx="6750121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Create a file named hello.txt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It should contain text “Hello Terraform”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We can refer to the file with a variable named </a:t>
            </a:r>
            <a:r>
              <a:rPr lang="en-IN" sz="2000" i="1" dirty="0"/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4A328D-D6A1-2B93-93CD-95D64ECDE918}"/>
              </a:ext>
            </a:extLst>
          </p:cNvPr>
          <p:cNvSpPr txBox="1"/>
          <p:nvPr/>
        </p:nvSpPr>
        <p:spPr>
          <a:xfrm>
            <a:off x="8402546" y="124019"/>
            <a:ext cx="3730375" cy="3416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400" b="1" dirty="0"/>
              <a:t>mkdir     ~/terraform_1</a:t>
            </a:r>
          </a:p>
          <a:p>
            <a:r>
              <a:rPr lang="pt-BR" sz="2400" b="1" dirty="0"/>
              <a:t>cd           ~/terraform_1</a:t>
            </a:r>
          </a:p>
          <a:p>
            <a:r>
              <a:rPr lang="pt-BR" sz="2400" b="1" dirty="0"/>
              <a:t>nano     main.tf</a:t>
            </a:r>
          </a:p>
          <a:p>
            <a:r>
              <a:rPr lang="pt-BR" sz="2400" b="1" dirty="0"/>
              <a:t>terraform   init</a:t>
            </a:r>
          </a:p>
          <a:p>
            <a:r>
              <a:rPr lang="pt-BR" sz="2400" b="1" dirty="0"/>
              <a:t>terraform   plan</a:t>
            </a:r>
          </a:p>
          <a:p>
            <a:r>
              <a:rPr lang="pt-BR" sz="2400" b="1" dirty="0"/>
              <a:t>terraform   apply</a:t>
            </a:r>
          </a:p>
          <a:p>
            <a:r>
              <a:rPr lang="pt-BR" sz="2400" b="1" dirty="0"/>
              <a:t>ls   -l</a:t>
            </a:r>
          </a:p>
          <a:p>
            <a:r>
              <a:rPr lang="pt-BR" sz="2400" b="1" dirty="0"/>
              <a:t>cat   hello.txt</a:t>
            </a:r>
          </a:p>
          <a:p>
            <a:r>
              <a:rPr lang="pt-BR" sz="2400" b="1" dirty="0"/>
              <a:t>terraform  destroy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35832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88D23-F214-E30D-323F-A00B1A4D2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FC4AB0-74E4-6708-999D-26C7B077FB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7424385"/>
              </p:ext>
            </p:extLst>
          </p:nvPr>
        </p:nvGraphicFramePr>
        <p:xfrm>
          <a:off x="838199" y="1691640"/>
          <a:ext cx="10843518" cy="36576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4596830">
                  <a:extLst>
                    <a:ext uri="{9D8B030D-6E8A-4147-A177-3AD203B41FA5}">
                      <a16:colId xmlns:a16="http://schemas.microsoft.com/office/drawing/2014/main" val="3912494564"/>
                    </a:ext>
                  </a:extLst>
                </a:gridCol>
                <a:gridCol w="6246688">
                  <a:extLst>
                    <a:ext uri="{9D8B030D-6E8A-4147-A177-3AD203B41FA5}">
                      <a16:colId xmlns:a16="http://schemas.microsoft.com/office/drawing/2014/main" val="14464656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Code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9408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terraform block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Defines required provider (local)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178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required_providers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Specifies source of provider (hashicorp/local)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392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provider "local"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Initializes local provider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76833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"local_file"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Defines a file to be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536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Name of the file to create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535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Text written inside the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041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Creates hello.txt in current folder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7474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4235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31DEF-94E0-575C-3583-2E93219F8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D57F8-41FB-1760-41DD-679BBFF8B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9A36B5-00C8-A8CF-DE8F-533017121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2102477"/>
              </p:ext>
            </p:extLst>
          </p:nvPr>
        </p:nvGraphicFramePr>
        <p:xfrm>
          <a:off x="838200" y="1442492"/>
          <a:ext cx="11182565" cy="22860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840088">
                  <a:extLst>
                    <a:ext uri="{9D8B030D-6E8A-4147-A177-3AD203B41FA5}">
                      <a16:colId xmlns:a16="http://schemas.microsoft.com/office/drawing/2014/main" val="1329827920"/>
                    </a:ext>
                  </a:extLst>
                </a:gridCol>
                <a:gridCol w="9342477">
                  <a:extLst>
                    <a:ext uri="{9D8B030D-6E8A-4147-A177-3AD203B41FA5}">
                      <a16:colId xmlns:a16="http://schemas.microsoft.com/office/drawing/2014/main" val="41835230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889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 file that stores the current state of infrastructure managed by Terraform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9355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File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terraform.tfstate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582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Keeps track of what Terraform has created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2803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“</a:t>
                      </a:r>
                      <a:r>
                        <a:rPr lang="en-IN" sz="2400" dirty="0" err="1"/>
                        <a:t>Terraform’s</a:t>
                      </a:r>
                      <a:r>
                        <a:rPr lang="en-IN" sz="2400" dirty="0"/>
                        <a:t> memory”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938196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2303B46-B88D-61C7-69DB-18471D9AE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259412"/>
              </p:ext>
            </p:extLst>
          </p:nvPr>
        </p:nvGraphicFramePr>
        <p:xfrm>
          <a:off x="838200" y="3863429"/>
          <a:ext cx="10515600" cy="2286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2870771">
                  <a:extLst>
                    <a:ext uri="{9D8B030D-6E8A-4147-A177-3AD203B41FA5}">
                      <a16:colId xmlns:a16="http://schemas.microsoft.com/office/drawing/2014/main" val="1787947538"/>
                    </a:ext>
                  </a:extLst>
                </a:gridCol>
                <a:gridCol w="7644829">
                  <a:extLst>
                    <a:ext uri="{9D8B030D-6E8A-4147-A177-3AD203B41FA5}">
                      <a16:colId xmlns:a16="http://schemas.microsoft.com/office/drawing/2014/main" val="262768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471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Track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Knows what resources already exist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23802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Compare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400"/>
                        <a:t>Compares desired vs current infrastructure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8689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Avoid duplication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Prevents creating same resource again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5502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Enable updates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Allows modifying existing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529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96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C04C9-D445-3B0F-938C-A957BF5D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Terraform Uses State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9F70A97-1E75-72C8-6EC8-CC7786F466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5203415"/>
              </p:ext>
            </p:extLst>
          </p:nvPr>
        </p:nvGraphicFramePr>
        <p:xfrm>
          <a:off x="725184" y="1588922"/>
          <a:ext cx="10515600" cy="27432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1319373">
                  <a:extLst>
                    <a:ext uri="{9D8B030D-6E8A-4147-A177-3AD203B41FA5}">
                      <a16:colId xmlns:a16="http://schemas.microsoft.com/office/drawing/2014/main" val="2662941157"/>
                    </a:ext>
                  </a:extLst>
                </a:gridCol>
                <a:gridCol w="9196227">
                  <a:extLst>
                    <a:ext uri="{9D8B030D-6E8A-4147-A177-3AD203B41FA5}">
                      <a16:colId xmlns:a16="http://schemas.microsoft.com/office/drawing/2014/main" val="3676788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What happens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2319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We write Terraform code (desired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8500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Terraform reads state file (current state)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0793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Compares both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0657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Generates execution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3020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Applies only required changes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599652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57FC72F-32C8-5D4A-E5B0-6C31204E1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170407"/>
              </p:ext>
            </p:extLst>
          </p:nvPr>
        </p:nvGraphicFramePr>
        <p:xfrm>
          <a:off x="725184" y="4547832"/>
          <a:ext cx="10515600" cy="18288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3949558">
                  <a:extLst>
                    <a:ext uri="{9D8B030D-6E8A-4147-A177-3AD203B41FA5}">
                      <a16:colId xmlns:a16="http://schemas.microsoft.com/office/drawing/2014/main" val="1980932593"/>
                    </a:ext>
                  </a:extLst>
                </a:gridCol>
                <a:gridCol w="6566042">
                  <a:extLst>
                    <a:ext uri="{9D8B030D-6E8A-4147-A177-3AD203B41FA5}">
                      <a16:colId xmlns:a16="http://schemas.microsoft.com/office/drawing/2014/main" val="20086196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Situation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0333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No state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Creates all 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8572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exists in state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Updates instead of recreating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4189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removed from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Terraform deletes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68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4708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03C25-246E-B7CC-1BA9-9C84B274F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Variable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89AB4-8B94-4864-9E7D-E3A724463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6CB23B9-C064-AC5C-D198-BB1916D68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161756"/>
              </p:ext>
            </p:extLst>
          </p:nvPr>
        </p:nvGraphicFramePr>
        <p:xfrm>
          <a:off x="725184" y="1349534"/>
          <a:ext cx="11162016" cy="265176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2613917">
                  <a:extLst>
                    <a:ext uri="{9D8B030D-6E8A-4147-A177-3AD203B41FA5}">
                      <a16:colId xmlns:a16="http://schemas.microsoft.com/office/drawing/2014/main" val="446636721"/>
                    </a:ext>
                  </a:extLst>
                </a:gridCol>
                <a:gridCol w="8548099">
                  <a:extLst>
                    <a:ext uri="{9D8B030D-6E8A-4147-A177-3AD203B41FA5}">
                      <a16:colId xmlns:a16="http://schemas.microsoft.com/office/drawing/2014/main" val="977340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392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What is a variable?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 variable is a placeholder to store a value that can be reused in the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666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Why use variables?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To avoid hardcoding values and make code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082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Simple idea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Instead of writing the value directly, store it in a variable and use 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86906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Real-life 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Like storing a number in a box and using it multiple times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703518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CF1C3-3C06-3A70-8227-497B76B90162}"/>
              </a:ext>
            </a:extLst>
          </p:cNvPr>
          <p:cNvSpPr txBox="1"/>
          <p:nvPr/>
        </p:nvSpPr>
        <p:spPr>
          <a:xfrm>
            <a:off x="725184" y="4154160"/>
            <a:ext cx="3174714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Without variables</a:t>
            </a:r>
          </a:p>
          <a:p>
            <a:endParaRPr lang="en-US" dirty="0"/>
          </a:p>
          <a:p>
            <a:r>
              <a:rPr lang="en-US" dirty="0"/>
              <a:t>filename = "file1.txt"</a:t>
            </a:r>
          </a:p>
          <a:p>
            <a:r>
              <a:rPr lang="en-US" dirty="0"/>
              <a:t>content  = "Hello World"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52AF9D-C6F3-0888-D287-728BE98122C2}"/>
              </a:ext>
            </a:extLst>
          </p:cNvPr>
          <p:cNvSpPr txBox="1"/>
          <p:nvPr/>
        </p:nvSpPr>
        <p:spPr>
          <a:xfrm>
            <a:off x="4012914" y="4154160"/>
            <a:ext cx="3559140" cy="25853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With variables</a:t>
            </a:r>
          </a:p>
          <a:p>
            <a:endParaRPr lang="en-US" dirty="0"/>
          </a:p>
          <a:p>
            <a:r>
              <a:rPr lang="en-US" dirty="0"/>
              <a:t>variable "filename" {</a:t>
            </a:r>
          </a:p>
          <a:p>
            <a:r>
              <a:rPr lang="en-US" dirty="0"/>
              <a:t>  default = "file1.txt"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resource "</a:t>
            </a:r>
            <a:r>
              <a:rPr lang="en-US" dirty="0" err="1"/>
              <a:t>local_file</a:t>
            </a:r>
            <a:r>
              <a:rPr lang="en-US" dirty="0"/>
              <a:t>" "example" {</a:t>
            </a:r>
          </a:p>
          <a:p>
            <a:r>
              <a:rPr lang="en-US" dirty="0"/>
              <a:t>  filename = </a:t>
            </a:r>
            <a:r>
              <a:rPr lang="en-US" dirty="0" err="1"/>
              <a:t>var.filename</a:t>
            </a:r>
            <a:endParaRPr lang="en-US" dirty="0"/>
          </a:p>
          <a:p>
            <a:r>
              <a:rPr lang="en-US" dirty="0"/>
              <a:t>}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F2850-6775-5C6D-289C-D44C728B28CD}"/>
              </a:ext>
            </a:extLst>
          </p:cNvPr>
          <p:cNvSpPr txBox="1"/>
          <p:nvPr/>
        </p:nvSpPr>
        <p:spPr>
          <a:xfrm>
            <a:off x="8342615" y="4627463"/>
            <a:ext cx="3011185" cy="9233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Note: We will also see an example where variables are put in a different file</a:t>
            </a:r>
          </a:p>
        </p:txBody>
      </p:sp>
    </p:spTree>
    <p:extLst>
      <p:ext uri="{BB962C8B-B14F-4D97-AF65-F5344CB8AC3E}">
        <p14:creationId xmlns:p14="http://schemas.microsoft.com/office/powerpoint/2010/main" val="3792050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2C77-F197-64A3-A432-41861CA1D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D05F6-F256-7B68-03CD-A27E924FE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2: Use Variables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BC6C0-AEE6-A8BA-DF12-494325C51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local = {</a:t>
            </a:r>
          </a:p>
          <a:p>
            <a:r>
              <a:rPr lang="en-IN" dirty="0"/>
              <a:t>      source = "</a:t>
            </a:r>
            <a:r>
              <a:rPr lang="en-IN" dirty="0" err="1"/>
              <a:t>hashicorp</a:t>
            </a:r>
            <a:r>
              <a:rPr lang="en-IN" dirty="0"/>
              <a:t>/local"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"local" {}</a:t>
            </a:r>
          </a:p>
          <a:p>
            <a:endParaRPr lang="en-IN" dirty="0"/>
          </a:p>
          <a:p>
            <a:r>
              <a:rPr lang="en-IN" dirty="0"/>
              <a:t>variable "filename" {</a:t>
            </a:r>
          </a:p>
          <a:p>
            <a:r>
              <a:rPr lang="en-IN" dirty="0"/>
              <a:t>  default = "myfile.txt"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variable "content" {</a:t>
            </a:r>
          </a:p>
          <a:p>
            <a:r>
              <a:rPr lang="en-IN" dirty="0"/>
              <a:t>  default = "This is created using variables"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"example" {</a:t>
            </a:r>
          </a:p>
          <a:p>
            <a:r>
              <a:rPr lang="en-IN" dirty="0"/>
              <a:t>  filename = </a:t>
            </a:r>
            <a:r>
              <a:rPr lang="en-IN" dirty="0" err="1"/>
              <a:t>var.filename</a:t>
            </a:r>
            <a:endParaRPr lang="en-IN" dirty="0"/>
          </a:p>
          <a:p>
            <a:r>
              <a:rPr lang="en-IN" dirty="0"/>
              <a:t>  content  = </a:t>
            </a:r>
            <a:r>
              <a:rPr lang="en-IN" dirty="0" err="1"/>
              <a:t>var.content</a:t>
            </a:r>
            <a:endParaRPr lang="en-IN" dirty="0"/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0ADAC6-AD5F-AD0B-1044-040E823F746F}"/>
              </a:ext>
            </a:extLst>
          </p:cNvPr>
          <p:cNvSpPr txBox="1"/>
          <p:nvPr/>
        </p:nvSpPr>
        <p:spPr>
          <a:xfrm>
            <a:off x="8414534" y="1941816"/>
            <a:ext cx="241442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plan</a:t>
            </a:r>
          </a:p>
          <a:p>
            <a:r>
              <a:rPr lang="pt-BR" sz="2000" dirty="0"/>
              <a:t>terraform apply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276280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1866-EF71-19A7-E1C5-B3EF87A47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B3C929-B2F2-AA45-92D0-927F5FECAA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6230542"/>
              </p:ext>
            </p:extLst>
          </p:nvPr>
        </p:nvGraphicFramePr>
        <p:xfrm>
          <a:off x="838199" y="1509298"/>
          <a:ext cx="10515600" cy="4114800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1031926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682672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Code Element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888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variable "filename"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Defines a variable for file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6693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variable "content"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Defines a variable for file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761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default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Default value of variable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262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var.filename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variable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4315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var.content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Access variable 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6177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"local_file"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Uses variables instead of hardcoding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65386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Benefit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Makes code reusable and flexible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752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File created using variable values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823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90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038F2-7B0E-F039-9799-04B82A3A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Lab 2.1: </a:t>
            </a:r>
            <a:r>
              <a:rPr lang="en-IN" dirty="0"/>
              <a:t>Variables in a Different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C469D7-8EFB-1E50-5A3C-8E1661E5A87D}"/>
              </a:ext>
            </a:extLst>
          </p:cNvPr>
          <p:cNvSpPr txBox="1"/>
          <p:nvPr/>
        </p:nvSpPr>
        <p:spPr>
          <a:xfrm>
            <a:off x="482884" y="1383836"/>
            <a:ext cx="3914455" cy="34778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variables.tf</a:t>
            </a:r>
          </a:p>
          <a:p>
            <a:endParaRPr lang="en-IN" sz="2000" dirty="0"/>
          </a:p>
          <a:p>
            <a:r>
              <a:rPr lang="en-US" sz="2000" dirty="0"/>
              <a:t>variable "filename" {</a:t>
            </a:r>
          </a:p>
          <a:p>
            <a:r>
              <a:rPr lang="en-US" sz="2000" dirty="0"/>
              <a:t>  description = "Name of the file"</a:t>
            </a:r>
          </a:p>
          <a:p>
            <a:r>
              <a:rPr lang="en-US" sz="2000" dirty="0"/>
              <a:t>  type        = string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variable "content" {</a:t>
            </a:r>
          </a:p>
          <a:p>
            <a:r>
              <a:rPr lang="en-US" sz="2000" dirty="0"/>
              <a:t>  description = "Content of the file"</a:t>
            </a:r>
          </a:p>
          <a:p>
            <a:r>
              <a:rPr lang="en-US" sz="2000" dirty="0"/>
              <a:t>  type        = string</a:t>
            </a:r>
          </a:p>
          <a:p>
            <a:r>
              <a:rPr lang="en-US" sz="2000" dirty="0"/>
              <a:t>}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09DC92-B681-DCBE-69B7-28233CD76D55}"/>
              </a:ext>
            </a:extLst>
          </p:cNvPr>
          <p:cNvSpPr txBox="1"/>
          <p:nvPr/>
        </p:nvSpPr>
        <p:spPr>
          <a:xfrm>
            <a:off x="4477820" y="1383835"/>
            <a:ext cx="2662720" cy="224676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 err="1"/>
              <a:t>terraform.tfvars</a:t>
            </a:r>
            <a:endParaRPr lang="en-IN" sz="2000" b="1" dirty="0"/>
          </a:p>
          <a:p>
            <a:endParaRPr lang="en-IN" sz="2000" dirty="0"/>
          </a:p>
          <a:p>
            <a:r>
              <a:rPr lang="en-US" sz="2000" dirty="0"/>
              <a:t>filename = "example.txt"</a:t>
            </a:r>
          </a:p>
          <a:p>
            <a:r>
              <a:rPr lang="en-US" sz="2000" dirty="0"/>
              <a:t>content  = "This file is created using variables from another file"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08E833-7E6F-FABB-8F69-FA06FAF65AA2}"/>
              </a:ext>
            </a:extLst>
          </p:cNvPr>
          <p:cNvSpPr txBox="1"/>
          <p:nvPr/>
        </p:nvSpPr>
        <p:spPr>
          <a:xfrm>
            <a:off x="7221021" y="1383835"/>
            <a:ext cx="4779195" cy="5016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b="1" dirty="0"/>
              <a:t>main.tf</a:t>
            </a:r>
          </a:p>
          <a:p>
            <a:endParaRPr lang="en-IN" sz="2000" dirty="0"/>
          </a:p>
          <a:p>
            <a:r>
              <a:rPr lang="en-US" sz="2000" dirty="0"/>
              <a:t>terraform {</a:t>
            </a:r>
          </a:p>
          <a:p>
            <a:r>
              <a:rPr lang="en-US" sz="2000" dirty="0"/>
              <a:t>  </a:t>
            </a:r>
            <a:r>
              <a:rPr lang="en-US" sz="2000" dirty="0" err="1"/>
              <a:t>required_providers</a:t>
            </a:r>
            <a:r>
              <a:rPr lang="en-US" sz="2000" dirty="0"/>
              <a:t> {</a:t>
            </a:r>
          </a:p>
          <a:p>
            <a:r>
              <a:rPr lang="en-US" sz="2000" dirty="0"/>
              <a:t>    local = {</a:t>
            </a:r>
          </a:p>
          <a:p>
            <a:r>
              <a:rPr lang="en-US" sz="2000" dirty="0"/>
              <a:t>      source = "</a:t>
            </a:r>
            <a:r>
              <a:rPr lang="en-US" sz="2000" dirty="0" err="1"/>
              <a:t>hashicorp</a:t>
            </a:r>
            <a:r>
              <a:rPr lang="en-US" sz="2000" dirty="0"/>
              <a:t>/local"</a:t>
            </a:r>
          </a:p>
          <a:p>
            <a:r>
              <a:rPr lang="en-US" sz="2000" dirty="0"/>
              <a:t>    }</a:t>
            </a:r>
          </a:p>
          <a:p>
            <a:r>
              <a:rPr lang="en-US" sz="2000" dirty="0"/>
              <a:t>  }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provider "local" {}</a:t>
            </a:r>
          </a:p>
          <a:p>
            <a:endParaRPr lang="en-US" sz="2000" dirty="0"/>
          </a:p>
          <a:p>
            <a:r>
              <a:rPr lang="en-US" sz="2000" dirty="0"/>
              <a:t>resource "</a:t>
            </a:r>
            <a:r>
              <a:rPr lang="en-US" sz="2000" dirty="0" err="1"/>
              <a:t>local_file</a:t>
            </a:r>
            <a:r>
              <a:rPr lang="en-US" sz="2000" dirty="0"/>
              <a:t>" "example" {</a:t>
            </a:r>
          </a:p>
          <a:p>
            <a:r>
              <a:rPr lang="en-US" sz="2000" dirty="0"/>
              <a:t>  filename = </a:t>
            </a:r>
            <a:r>
              <a:rPr lang="en-US" sz="2000" dirty="0" err="1"/>
              <a:t>var.filename</a:t>
            </a:r>
            <a:endParaRPr lang="en-US" sz="2000" dirty="0"/>
          </a:p>
          <a:p>
            <a:r>
              <a:rPr lang="en-US" sz="2000" dirty="0"/>
              <a:t>  content  = </a:t>
            </a:r>
            <a:r>
              <a:rPr lang="en-US" sz="2000" dirty="0" err="1"/>
              <a:t>var.content</a:t>
            </a:r>
            <a:endParaRPr lang="en-US" sz="2000" dirty="0"/>
          </a:p>
          <a:p>
            <a:r>
              <a:rPr lang="en-US" sz="2000" dirty="0"/>
              <a:t>}</a:t>
            </a:r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118BE4-B838-5C9F-ED9C-A1D1CA139421}"/>
              </a:ext>
            </a:extLst>
          </p:cNvPr>
          <p:cNvSpPr txBox="1"/>
          <p:nvPr/>
        </p:nvSpPr>
        <p:spPr>
          <a:xfrm>
            <a:off x="2793714" y="5880422"/>
            <a:ext cx="241442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apply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25241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49DFD-0D8E-CA90-404F-E614FE262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86411-DCE5-AB46-5074-1F020A1C1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200" dirty="0"/>
              <a:t>Lab 3: NGINX Docker Container (https://github.com/newdelthis/demo/blob/main/terraform_nginx_docker.tf)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9462E-002C-80B3-198E-9B9F2659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docker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kreuzwerker</a:t>
            </a:r>
            <a:r>
              <a:rPr lang="en-IN" dirty="0"/>
              <a:t>/docker"</a:t>
            </a:r>
          </a:p>
          <a:p>
            <a:r>
              <a:rPr lang="en-IN" dirty="0"/>
              <a:t>      version = "~&gt; 3.0"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"docker"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docker_image</a:t>
            </a:r>
            <a:r>
              <a:rPr lang="en-IN" dirty="0"/>
              <a:t>" "nginx" {</a:t>
            </a:r>
          </a:p>
          <a:p>
            <a:r>
              <a:rPr lang="en-IN" dirty="0"/>
              <a:t>  name = "</a:t>
            </a:r>
            <a:r>
              <a:rPr lang="en-IN" dirty="0" err="1"/>
              <a:t>nginx:latest</a:t>
            </a:r>
            <a:r>
              <a:rPr lang="en-IN" dirty="0"/>
              <a:t>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docker_container</a:t>
            </a:r>
            <a:r>
              <a:rPr lang="en-IN" dirty="0"/>
              <a:t>" "</a:t>
            </a:r>
            <a:r>
              <a:rPr lang="en-IN" dirty="0" err="1"/>
              <a:t>nginx_container</a:t>
            </a:r>
            <a:r>
              <a:rPr lang="en-IN" dirty="0"/>
              <a:t>" {</a:t>
            </a:r>
          </a:p>
          <a:p>
            <a:r>
              <a:rPr lang="en-IN" dirty="0"/>
              <a:t>  name  = "my-nginx"</a:t>
            </a:r>
          </a:p>
          <a:p>
            <a:r>
              <a:rPr lang="en-IN" dirty="0"/>
              <a:t>  image = </a:t>
            </a:r>
            <a:r>
              <a:rPr lang="en-IN" dirty="0" err="1"/>
              <a:t>docker_image.nginx.image_id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  ports {</a:t>
            </a:r>
          </a:p>
          <a:p>
            <a:r>
              <a:rPr lang="en-IN" dirty="0"/>
              <a:t>    internal = 80</a:t>
            </a:r>
          </a:p>
          <a:p>
            <a:r>
              <a:rPr lang="en-IN" dirty="0"/>
              <a:t>    external = 8080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B062B-B1AC-1427-37F9-8F4CE3EB7E36}"/>
              </a:ext>
            </a:extLst>
          </p:cNvPr>
          <p:cNvSpPr txBox="1"/>
          <p:nvPr/>
        </p:nvSpPr>
        <p:spPr>
          <a:xfrm>
            <a:off x="8414533" y="1941816"/>
            <a:ext cx="2784297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plan</a:t>
            </a:r>
          </a:p>
          <a:p>
            <a:r>
              <a:rPr lang="pt-BR" sz="2000" dirty="0"/>
              <a:t>terraform apply</a:t>
            </a:r>
          </a:p>
          <a:p>
            <a:endParaRPr lang="pt-BR" sz="2000" dirty="0"/>
          </a:p>
          <a:p>
            <a:r>
              <a:rPr lang="pt-BR" sz="2000" dirty="0"/>
              <a:t>Browser: localhost:8000</a:t>
            </a:r>
          </a:p>
          <a:p>
            <a:endParaRPr lang="pt-BR" sz="2000" dirty="0"/>
          </a:p>
          <a:p>
            <a:r>
              <a:rPr lang="pt-BR" sz="2000" dirty="0"/>
              <a:t>terraform destroy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4961795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32CB1-D6CF-806E-4460-6F406FB2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Explanation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40ACC6-0629-F5C8-27B8-9690D264A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5343652"/>
              </p:ext>
            </p:extLst>
          </p:nvPr>
        </p:nvGraphicFramePr>
        <p:xfrm>
          <a:off x="668558" y="1381056"/>
          <a:ext cx="11074804" cy="5476944"/>
        </p:xfrm>
        <a:graphic>
          <a:graphicData uri="http://schemas.openxmlformats.org/drawingml/2006/table">
            <a:tbl>
              <a:tblPr firstRow="1">
                <a:tableStyleId>{7E9639D4-E3E2-4D34-9284-5A2195B3D0D7}</a:tableStyleId>
              </a:tblPr>
              <a:tblGrid>
                <a:gridCol w="5537402">
                  <a:extLst>
                    <a:ext uri="{9D8B030D-6E8A-4147-A177-3AD203B41FA5}">
                      <a16:colId xmlns:a16="http://schemas.microsoft.com/office/drawing/2014/main" val="625462587"/>
                    </a:ext>
                  </a:extLst>
                </a:gridCol>
                <a:gridCol w="5537402">
                  <a:extLst>
                    <a:ext uri="{9D8B030D-6E8A-4147-A177-3AD203B41FA5}">
                      <a16:colId xmlns:a16="http://schemas.microsoft.com/office/drawing/2014/main" val="3815750200"/>
                    </a:ext>
                  </a:extLst>
                </a:gridCol>
              </a:tblGrid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Code Element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Explanation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7778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terraform block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Defines Docker provider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5521032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provider "docker"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Connects Terraform to Docker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52434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"docker_image"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Pulls nginx image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595772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 = "nginx:latest"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Specifies image to download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6067348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resource "docker_container"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Runs container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801081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image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Uses pulled image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1352215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Name of container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9767547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ports block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Maps container port to host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8415579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internal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 inside container (80)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5439080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external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Port on host (8080)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3220573"/>
                  </a:ext>
                </a:extLst>
              </a:tr>
              <a:tr h="362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Output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Nginx runs on localhost:8080</a:t>
                      </a:r>
                    </a:p>
                  </a:txBody>
                  <a:tcPr marL="90653" marR="90653" marT="45326" marB="4532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8636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073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DE2D-0AF8-F6BE-A7CA-73F5A8EC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4: Display Outputs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3CB1D-6696-F65D-1A95-4D8A3A6E9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local = {</a:t>
            </a:r>
          </a:p>
          <a:p>
            <a:r>
              <a:rPr lang="en-IN" dirty="0"/>
              <a:t>      source = "</a:t>
            </a:r>
            <a:r>
              <a:rPr lang="en-IN" dirty="0" err="1"/>
              <a:t>hashicorp</a:t>
            </a:r>
            <a:r>
              <a:rPr lang="en-IN" dirty="0"/>
              <a:t>/local"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"local"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"example" {</a:t>
            </a:r>
          </a:p>
          <a:p>
            <a:r>
              <a:rPr lang="en-IN" dirty="0"/>
              <a:t>  filename = "output.txt"</a:t>
            </a:r>
          </a:p>
          <a:p>
            <a:r>
              <a:rPr lang="en-IN" dirty="0"/>
              <a:t>  content  = "This is Terraform output example"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output "</a:t>
            </a:r>
            <a:r>
              <a:rPr lang="en-IN" dirty="0" err="1"/>
              <a:t>file_name</a:t>
            </a:r>
            <a:r>
              <a:rPr lang="en-IN" dirty="0"/>
              <a:t>" {</a:t>
            </a:r>
          </a:p>
          <a:p>
            <a:r>
              <a:rPr lang="en-IN" dirty="0"/>
              <a:t>  value = </a:t>
            </a:r>
            <a:r>
              <a:rPr lang="en-IN" dirty="0" err="1"/>
              <a:t>local_file.example.filename</a:t>
            </a:r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output "</a:t>
            </a:r>
            <a:r>
              <a:rPr lang="en-IN" dirty="0" err="1"/>
              <a:t>file_content</a:t>
            </a:r>
            <a:r>
              <a:rPr lang="en-IN" dirty="0"/>
              <a:t>" {</a:t>
            </a:r>
          </a:p>
          <a:p>
            <a:r>
              <a:rPr lang="en-IN" dirty="0"/>
              <a:t>  value = </a:t>
            </a:r>
            <a:r>
              <a:rPr lang="en-IN" dirty="0" err="1"/>
              <a:t>local_file.example.content</a:t>
            </a:r>
            <a:endParaRPr lang="en-IN" dirty="0"/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073221-C525-E355-ACB8-025CEFE92A99}"/>
              </a:ext>
            </a:extLst>
          </p:cNvPr>
          <p:cNvSpPr txBox="1"/>
          <p:nvPr/>
        </p:nvSpPr>
        <p:spPr>
          <a:xfrm>
            <a:off x="8393130" y="2489950"/>
            <a:ext cx="241442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apply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601634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52AF-1E1F-2FAF-6B09-52B2796F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DC32-BE5C-E143-ED80-105D5893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5: Multiple Resources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978A3-3DEE-9E31-FA61-BDD47D726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local = {</a:t>
            </a:r>
          </a:p>
          <a:p>
            <a:r>
              <a:rPr lang="en-IN" dirty="0"/>
              <a:t>      source = "</a:t>
            </a:r>
            <a:r>
              <a:rPr lang="en-IN" dirty="0" err="1"/>
              <a:t>hashicorp</a:t>
            </a:r>
            <a:r>
              <a:rPr lang="en-IN" dirty="0"/>
              <a:t>/local"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"local"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"file1" {</a:t>
            </a:r>
          </a:p>
          <a:p>
            <a:r>
              <a:rPr lang="en-IN" dirty="0"/>
              <a:t>  filename = "file1.txt"</a:t>
            </a:r>
          </a:p>
          <a:p>
            <a:r>
              <a:rPr lang="en-IN" dirty="0"/>
              <a:t>  content  = "First file"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"file2" {</a:t>
            </a:r>
          </a:p>
          <a:p>
            <a:r>
              <a:rPr lang="en-IN" dirty="0"/>
              <a:t>  filename = "file2.txt"</a:t>
            </a:r>
          </a:p>
          <a:p>
            <a:r>
              <a:rPr lang="en-IN" dirty="0"/>
              <a:t>  content  = "Second file"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A160D3-9F07-B61A-85EF-ED94861B56CA}"/>
              </a:ext>
            </a:extLst>
          </p:cNvPr>
          <p:cNvSpPr txBox="1"/>
          <p:nvPr/>
        </p:nvSpPr>
        <p:spPr>
          <a:xfrm>
            <a:off x="8393130" y="2489950"/>
            <a:ext cx="241442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apply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82839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EC69-D0EC-8BFD-CDCC-55CAC80B7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71B7E-CFA2-4E85-1F5F-54C363679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6: Resource Dependency Using Reference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764D5-F07C-9BDA-063E-08F0E7ED8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local = {</a:t>
            </a:r>
          </a:p>
          <a:p>
            <a:r>
              <a:rPr lang="en-IN" dirty="0"/>
              <a:t>      source = "</a:t>
            </a:r>
            <a:r>
              <a:rPr lang="en-IN" dirty="0" err="1"/>
              <a:t>hashicorp</a:t>
            </a:r>
            <a:r>
              <a:rPr lang="en-IN" dirty="0"/>
              <a:t>/local"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"local"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"file1" {</a:t>
            </a:r>
          </a:p>
          <a:p>
            <a:r>
              <a:rPr lang="en-IN" dirty="0"/>
              <a:t>  filename = "source.txt"</a:t>
            </a:r>
          </a:p>
          <a:p>
            <a:r>
              <a:rPr lang="en-IN" dirty="0"/>
              <a:t>  content  = "This is original file"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local_file</a:t>
            </a:r>
            <a:r>
              <a:rPr lang="en-IN" dirty="0"/>
              <a:t>" "file2" {</a:t>
            </a:r>
          </a:p>
          <a:p>
            <a:r>
              <a:rPr lang="en-IN" dirty="0"/>
              <a:t>  filename = "copy.txt"</a:t>
            </a:r>
          </a:p>
          <a:p>
            <a:r>
              <a:rPr lang="en-IN" dirty="0"/>
              <a:t>  content  = local_file.file1.content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0EB46-31E2-0BA6-D019-EFB1B5AD5B43}"/>
              </a:ext>
            </a:extLst>
          </p:cNvPr>
          <p:cNvSpPr txBox="1"/>
          <p:nvPr/>
        </p:nvSpPr>
        <p:spPr>
          <a:xfrm>
            <a:off x="8393130" y="2489950"/>
            <a:ext cx="2414428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apply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90584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E7596-3DBB-377C-D5CC-6E8D252B3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7: Run Alpine Linux Container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84DFE-94CF-63D8-873F-644E2E907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docker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kreuzwerker</a:t>
            </a:r>
            <a:r>
              <a:rPr lang="en-IN" dirty="0"/>
              <a:t>/docker"</a:t>
            </a:r>
          </a:p>
          <a:p>
            <a:r>
              <a:rPr lang="en-IN" dirty="0"/>
              <a:t>      version = "~&gt; 3.0"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"docker"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docker_image</a:t>
            </a:r>
            <a:r>
              <a:rPr lang="en-IN" dirty="0"/>
              <a:t>" "alpine" {</a:t>
            </a:r>
          </a:p>
          <a:p>
            <a:r>
              <a:rPr lang="en-IN" dirty="0"/>
              <a:t>  name = "</a:t>
            </a:r>
            <a:r>
              <a:rPr lang="en-IN" dirty="0" err="1"/>
              <a:t>alpine:latest</a:t>
            </a:r>
            <a:r>
              <a:rPr lang="en-IN" dirty="0"/>
              <a:t>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docker_container</a:t>
            </a:r>
            <a:r>
              <a:rPr lang="en-IN" dirty="0"/>
              <a:t>" "</a:t>
            </a:r>
            <a:r>
              <a:rPr lang="en-IN" dirty="0" err="1"/>
              <a:t>alpine_demo</a:t>
            </a:r>
            <a:r>
              <a:rPr lang="en-IN" dirty="0"/>
              <a:t>" {</a:t>
            </a:r>
          </a:p>
          <a:p>
            <a:r>
              <a:rPr lang="en-IN" dirty="0"/>
              <a:t>  name  = "my-alpine"</a:t>
            </a:r>
          </a:p>
          <a:p>
            <a:r>
              <a:rPr lang="en-IN" dirty="0"/>
              <a:t>  image = </a:t>
            </a:r>
            <a:r>
              <a:rPr lang="en-IN" dirty="0" err="1"/>
              <a:t>docker_image.alpine.image_id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  command = ["sleep", "300"]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C1BC09-622E-1CD8-A5CC-44B216041C24}"/>
              </a:ext>
            </a:extLst>
          </p:cNvPr>
          <p:cNvSpPr txBox="1"/>
          <p:nvPr/>
        </p:nvSpPr>
        <p:spPr>
          <a:xfrm>
            <a:off x="8393130" y="2489950"/>
            <a:ext cx="2960670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plan</a:t>
            </a:r>
          </a:p>
          <a:p>
            <a:r>
              <a:rPr lang="pt-BR" sz="2000" dirty="0"/>
              <a:t>terraform apply</a:t>
            </a:r>
          </a:p>
          <a:p>
            <a:endParaRPr lang="pt-BR" sz="2000" dirty="0"/>
          </a:p>
          <a:p>
            <a:r>
              <a:rPr lang="pt-BR" sz="2000" dirty="0"/>
              <a:t>docker ps</a:t>
            </a:r>
          </a:p>
          <a:p>
            <a:r>
              <a:rPr lang="pt-BR" sz="2000" dirty="0"/>
              <a:t>(Shows active container)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90611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C9C66-3F41-2EEC-9C83-D0FDE03C2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9F34B-1FFA-FD30-1CC8-B31A74FC2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Lab 8: Run Apache Server Container (main.tf)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3527F-05CC-40CE-8BEF-01C5DA26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docker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kreuzwerker</a:t>
            </a:r>
            <a:r>
              <a:rPr lang="en-IN" dirty="0"/>
              <a:t>/docker"</a:t>
            </a:r>
          </a:p>
          <a:p>
            <a:r>
              <a:rPr lang="en-IN" dirty="0"/>
              <a:t>      version = "~&gt; 3.0"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"docker" {}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docker_image</a:t>
            </a:r>
            <a:r>
              <a:rPr lang="en-IN" dirty="0"/>
              <a:t>" "</a:t>
            </a:r>
            <a:r>
              <a:rPr lang="en-IN" dirty="0" err="1"/>
              <a:t>apache</a:t>
            </a:r>
            <a:r>
              <a:rPr lang="en-IN" dirty="0"/>
              <a:t>" {</a:t>
            </a:r>
          </a:p>
          <a:p>
            <a:r>
              <a:rPr lang="en-IN" dirty="0"/>
              <a:t>  name = "</a:t>
            </a:r>
            <a:r>
              <a:rPr lang="en-IN" dirty="0" err="1"/>
              <a:t>httpd:latest</a:t>
            </a:r>
            <a:r>
              <a:rPr lang="en-IN" dirty="0"/>
              <a:t>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docker_container</a:t>
            </a:r>
            <a:r>
              <a:rPr lang="en-IN" dirty="0"/>
              <a:t>" "</a:t>
            </a:r>
            <a:r>
              <a:rPr lang="en-IN" dirty="0" err="1"/>
              <a:t>apache_demo</a:t>
            </a:r>
            <a:r>
              <a:rPr lang="en-IN" dirty="0"/>
              <a:t>" {</a:t>
            </a:r>
          </a:p>
          <a:p>
            <a:r>
              <a:rPr lang="en-IN" dirty="0"/>
              <a:t>  name  = "my-</a:t>
            </a:r>
            <a:r>
              <a:rPr lang="en-IN" dirty="0" err="1"/>
              <a:t>apache</a:t>
            </a:r>
            <a:r>
              <a:rPr lang="en-IN" dirty="0"/>
              <a:t>"</a:t>
            </a:r>
          </a:p>
          <a:p>
            <a:r>
              <a:rPr lang="en-IN" dirty="0"/>
              <a:t>  image = </a:t>
            </a:r>
            <a:r>
              <a:rPr lang="en-IN" dirty="0" err="1"/>
              <a:t>docker_image.apache.image_id</a:t>
            </a:r>
            <a:endParaRPr lang="en-IN" dirty="0"/>
          </a:p>
          <a:p>
            <a:endParaRPr lang="en-IN" dirty="0"/>
          </a:p>
          <a:p>
            <a:r>
              <a:rPr lang="en-IN" dirty="0"/>
              <a:t>  ports {</a:t>
            </a:r>
          </a:p>
          <a:p>
            <a:r>
              <a:rPr lang="en-IN" dirty="0"/>
              <a:t>    internal = 80</a:t>
            </a:r>
          </a:p>
          <a:p>
            <a:r>
              <a:rPr lang="en-IN" dirty="0"/>
              <a:t>    external = 8081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8984D5-D029-505F-5263-E133AB595679}"/>
              </a:ext>
            </a:extLst>
          </p:cNvPr>
          <p:cNvSpPr txBox="1"/>
          <p:nvPr/>
        </p:nvSpPr>
        <p:spPr>
          <a:xfrm>
            <a:off x="8393130" y="2489950"/>
            <a:ext cx="2960670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plan</a:t>
            </a:r>
          </a:p>
          <a:p>
            <a:r>
              <a:rPr lang="pt-BR" sz="2000" dirty="0"/>
              <a:t>terraform apply</a:t>
            </a:r>
          </a:p>
          <a:p>
            <a:endParaRPr lang="pt-BR" sz="2000" dirty="0"/>
          </a:p>
          <a:p>
            <a:r>
              <a:rPr lang="pt-BR" sz="2000" dirty="0"/>
              <a:t>http://localhost:8081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229061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9C244-8453-46F6-05B6-16487F2A4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Terraform and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A86F-6559-4A6C-C935-5A8102320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Create an IAM user in AWS with CLI permissions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Download the two files on the local machine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Install AWS CLI: </a:t>
            </a:r>
            <a:r>
              <a:rPr lang="en-IN" b="1" dirty="0"/>
              <a:t>https://docs.aws.amazon.com/cli/latest/userguide/getting-started-install.html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Configure AWS CLI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b="1" dirty="0" err="1"/>
              <a:t>aws</a:t>
            </a:r>
            <a:r>
              <a:rPr lang="en-IN" b="1" dirty="0"/>
              <a:t>   --version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IN" b="1" dirty="0" err="1"/>
              <a:t>aws</a:t>
            </a:r>
            <a:r>
              <a:rPr lang="en-IN" b="1" dirty="0"/>
              <a:t>   configure</a:t>
            </a:r>
          </a:p>
        </p:txBody>
      </p:sp>
    </p:spTree>
    <p:extLst>
      <p:ext uri="{BB962C8B-B14F-4D97-AF65-F5344CB8AC3E}">
        <p14:creationId xmlns:p14="http://schemas.microsoft.com/office/powerpoint/2010/main" val="6904661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D680-2AAE-BD3F-FAC5-8A590F9F5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Lab 9: Create an IAM User (https://github.com/newdelthis/demo/blob/main/terraform_aws_user.tf)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E03A-E06F-A175-2E64-E41FBE0AD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</a:t>
            </a:r>
            <a:r>
              <a:rPr lang="en-IN" dirty="0" err="1"/>
              <a:t>aws</a:t>
            </a:r>
            <a:r>
              <a:rPr lang="en-IN" dirty="0"/>
              <a:t>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"</a:t>
            </a:r>
          </a:p>
          <a:p>
            <a:r>
              <a:rPr lang="en-IN" dirty="0"/>
              <a:t>      version = "~&gt; 5.0"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</a:t>
            </a:r>
            <a:r>
              <a:rPr lang="en-IN" dirty="0" err="1"/>
              <a:t>aws</a:t>
            </a:r>
            <a:r>
              <a:rPr lang="en-IN" dirty="0"/>
              <a:t>" {</a:t>
            </a:r>
          </a:p>
          <a:p>
            <a:r>
              <a:rPr lang="en-IN" dirty="0"/>
              <a:t>  region = "ap-south-1"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aws_iam_user</a:t>
            </a:r>
            <a:r>
              <a:rPr lang="en-IN" dirty="0"/>
              <a:t>" "</a:t>
            </a:r>
            <a:r>
              <a:rPr lang="en-IN" dirty="0" err="1"/>
              <a:t>cdac_user</a:t>
            </a:r>
            <a:r>
              <a:rPr lang="en-IN" dirty="0"/>
              <a:t>" {</a:t>
            </a:r>
          </a:p>
          <a:p>
            <a:r>
              <a:rPr lang="en-IN" dirty="0"/>
              <a:t>  name = "</a:t>
            </a:r>
            <a:r>
              <a:rPr lang="en-IN" dirty="0" err="1"/>
              <a:t>cdac</a:t>
            </a:r>
            <a:r>
              <a:rPr lang="en-IN" dirty="0"/>
              <a:t>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aws_iam_access_key</a:t>
            </a:r>
            <a:r>
              <a:rPr lang="en-IN" dirty="0"/>
              <a:t>" "</a:t>
            </a:r>
            <a:r>
              <a:rPr lang="en-IN" dirty="0" err="1"/>
              <a:t>cdac_key</a:t>
            </a:r>
            <a:r>
              <a:rPr lang="en-IN" dirty="0"/>
              <a:t>" {</a:t>
            </a:r>
          </a:p>
          <a:p>
            <a:r>
              <a:rPr lang="en-IN" dirty="0"/>
              <a:t>  user  = aws_iam_user.cdac_user.name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03931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FCD3-3D4F-D325-4B05-7E5F7603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Lab 10: Create a bucket (https://github.com/newdelthis/demo/blob/main/terraform_s3_bucket.tf)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138B4-CF83-37F4-3BB4-7699F575C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</a:t>
            </a:r>
            <a:r>
              <a:rPr lang="en-IN" dirty="0" err="1"/>
              <a:t>aws</a:t>
            </a:r>
            <a:r>
              <a:rPr lang="en-IN" dirty="0"/>
              <a:t>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"</a:t>
            </a:r>
          </a:p>
          <a:p>
            <a:r>
              <a:rPr lang="en-IN" dirty="0"/>
              <a:t>      version = "~&gt; 5.0"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</a:t>
            </a:r>
            <a:r>
              <a:rPr lang="en-IN" dirty="0" err="1"/>
              <a:t>aws</a:t>
            </a:r>
            <a:r>
              <a:rPr lang="en-IN" dirty="0"/>
              <a:t>" {</a:t>
            </a:r>
          </a:p>
          <a:p>
            <a:r>
              <a:rPr lang="en-IN" dirty="0"/>
              <a:t>  region = "ap-south-1"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"aws_s3_bucket" "</a:t>
            </a:r>
            <a:r>
              <a:rPr lang="en-IN" dirty="0" err="1"/>
              <a:t>date_bucket</a:t>
            </a:r>
            <a:r>
              <a:rPr lang="en-IN" dirty="0"/>
              <a:t>" {</a:t>
            </a:r>
          </a:p>
          <a:p>
            <a:r>
              <a:rPr lang="en-IN" dirty="0"/>
              <a:t>  bucket = "27-04-2026-atul"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# Added block to upload the file</a:t>
            </a:r>
          </a:p>
          <a:p>
            <a:r>
              <a:rPr lang="en-IN" dirty="0"/>
              <a:t>resource "aws_s3_object" "</a:t>
            </a:r>
            <a:r>
              <a:rPr lang="en-IN" dirty="0" err="1"/>
              <a:t>file_upload</a:t>
            </a:r>
            <a:r>
              <a:rPr lang="en-IN" dirty="0"/>
              <a:t>" {</a:t>
            </a:r>
          </a:p>
          <a:p>
            <a:r>
              <a:rPr lang="en-IN" dirty="0"/>
              <a:t>  bucket = aws_s3_bucket.date_bucket.id</a:t>
            </a:r>
          </a:p>
          <a:p>
            <a:r>
              <a:rPr lang="en-IN" dirty="0"/>
              <a:t>  key    = "hello.txt"</a:t>
            </a:r>
          </a:p>
          <a:p>
            <a:r>
              <a:rPr lang="en-IN" dirty="0"/>
              <a:t>  source = "hello.txt"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265960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83B7-0872-41BB-9C5C-018E17C8E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Lab 11: Create AWS EC2 Instance (https://github.com/newdelthis/demo/blob/main/terraform_ec2_simple.tf)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D24D-F421-9481-0639-E2A1934DF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provider "</a:t>
            </a:r>
            <a:r>
              <a:rPr lang="en-IN" dirty="0" err="1"/>
              <a:t>aws</a:t>
            </a:r>
            <a:r>
              <a:rPr lang="en-IN" dirty="0"/>
              <a:t>" {</a:t>
            </a:r>
          </a:p>
          <a:p>
            <a:r>
              <a:rPr lang="en-IN" dirty="0"/>
              <a:t>  region = "us-east-1"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aws_instance</a:t>
            </a:r>
            <a:r>
              <a:rPr lang="en-IN" dirty="0"/>
              <a:t>" "myec2" {</a:t>
            </a:r>
          </a:p>
          <a:p>
            <a:r>
              <a:rPr lang="en-IN" dirty="0"/>
              <a:t>  </a:t>
            </a:r>
            <a:r>
              <a:rPr lang="en-IN" dirty="0" err="1"/>
              <a:t>ami</a:t>
            </a:r>
            <a:r>
              <a:rPr lang="en-IN" dirty="0"/>
              <a:t>           = "ami-0c02fb55956c7d316" # Amazon Linux 2 (example)</a:t>
            </a:r>
          </a:p>
          <a:p>
            <a:r>
              <a:rPr lang="en-IN" dirty="0"/>
              <a:t>  </a:t>
            </a:r>
            <a:r>
              <a:rPr lang="en-IN" dirty="0" err="1"/>
              <a:t>instance_type</a:t>
            </a:r>
            <a:r>
              <a:rPr lang="en-IN" dirty="0"/>
              <a:t> = "t2.micro"</a:t>
            </a:r>
          </a:p>
          <a:p>
            <a:r>
              <a:rPr lang="en-IN" dirty="0"/>
              <a:t>  </a:t>
            </a:r>
            <a:r>
              <a:rPr lang="en-IN" dirty="0" err="1"/>
              <a:t>key_name</a:t>
            </a:r>
            <a:r>
              <a:rPr lang="en-IN" dirty="0"/>
              <a:t>      = "your-existing-key-name"</a:t>
            </a:r>
          </a:p>
          <a:p>
            <a:endParaRPr lang="en-IN" dirty="0"/>
          </a:p>
          <a:p>
            <a:r>
              <a:rPr lang="en-IN" dirty="0"/>
              <a:t>  tags = {</a:t>
            </a:r>
          </a:p>
          <a:p>
            <a:r>
              <a:rPr lang="en-IN" dirty="0"/>
              <a:t>    Name = "Terraform-EC2"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787759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672DA-6061-D1E6-D30E-805F856D0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38F0-A2D7-0350-F4A9-175489ACA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Lab 12: EC2 With NGINX (https://github.com/newdelthis/demo/blob/main/terraform_ec2_nginx.tf)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57655-931B-7519-4033-70BB83998E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IN" dirty="0"/>
              <a:t>terraform {</a:t>
            </a:r>
          </a:p>
          <a:p>
            <a:r>
              <a:rPr lang="en-IN" dirty="0"/>
              <a:t>  </a:t>
            </a:r>
            <a:r>
              <a:rPr lang="en-IN" dirty="0" err="1"/>
              <a:t>required_providers</a:t>
            </a:r>
            <a:r>
              <a:rPr lang="en-IN" dirty="0"/>
              <a:t> {</a:t>
            </a:r>
          </a:p>
          <a:p>
            <a:r>
              <a:rPr lang="en-IN" dirty="0"/>
              <a:t>    </a:t>
            </a:r>
            <a:r>
              <a:rPr lang="en-IN" dirty="0" err="1"/>
              <a:t>aws</a:t>
            </a:r>
            <a:r>
              <a:rPr lang="en-IN" dirty="0"/>
              <a:t> = {</a:t>
            </a:r>
          </a:p>
          <a:p>
            <a:r>
              <a:rPr lang="en-IN" dirty="0"/>
              <a:t>      source  = "</a:t>
            </a:r>
            <a:r>
              <a:rPr lang="en-IN" dirty="0" err="1"/>
              <a:t>hashicorp</a:t>
            </a:r>
            <a:r>
              <a:rPr lang="en-IN" dirty="0"/>
              <a:t>/</a:t>
            </a:r>
            <a:r>
              <a:rPr lang="en-IN" dirty="0" err="1"/>
              <a:t>aws</a:t>
            </a:r>
            <a:r>
              <a:rPr lang="en-IN" dirty="0"/>
              <a:t>"</a:t>
            </a:r>
          </a:p>
          <a:p>
            <a:r>
              <a:rPr lang="en-IN" dirty="0"/>
              <a:t>      version = "~&gt; 5.0"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provider "</a:t>
            </a:r>
            <a:r>
              <a:rPr lang="en-IN" dirty="0" err="1"/>
              <a:t>aws</a:t>
            </a:r>
            <a:r>
              <a:rPr lang="en-IN" dirty="0"/>
              <a:t>" {</a:t>
            </a:r>
          </a:p>
          <a:p>
            <a:r>
              <a:rPr lang="en-IN" dirty="0"/>
              <a:t>  region = "us-east-1"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aws_security_group</a:t>
            </a:r>
            <a:r>
              <a:rPr lang="en-IN" dirty="0"/>
              <a:t>" "</a:t>
            </a:r>
            <a:r>
              <a:rPr lang="en-IN" dirty="0" err="1"/>
              <a:t>web_sg</a:t>
            </a:r>
            <a:r>
              <a:rPr lang="en-IN" dirty="0"/>
              <a:t>" {</a:t>
            </a:r>
          </a:p>
          <a:p>
            <a:r>
              <a:rPr lang="en-IN" dirty="0"/>
              <a:t>  name        = "terraform-web-sg"</a:t>
            </a:r>
          </a:p>
          <a:p>
            <a:r>
              <a:rPr lang="en-IN" dirty="0"/>
              <a:t>  description = "Allow HTTP and SSH"</a:t>
            </a:r>
          </a:p>
          <a:p>
            <a:endParaRPr lang="en-IN" dirty="0"/>
          </a:p>
          <a:p>
            <a:r>
              <a:rPr lang="en-IN" dirty="0"/>
              <a:t>  ingress {</a:t>
            </a:r>
          </a:p>
          <a:p>
            <a:r>
              <a:rPr lang="en-IN" dirty="0"/>
              <a:t>    description = "HTTP"</a:t>
            </a:r>
          </a:p>
          <a:p>
            <a:r>
              <a:rPr lang="en-IN" dirty="0"/>
              <a:t>    </a:t>
            </a:r>
            <a:r>
              <a:rPr lang="en-IN" dirty="0" err="1"/>
              <a:t>from_port</a:t>
            </a:r>
            <a:r>
              <a:rPr lang="en-IN" dirty="0"/>
              <a:t>   = 80</a:t>
            </a:r>
          </a:p>
          <a:p>
            <a:r>
              <a:rPr lang="en-IN" dirty="0"/>
              <a:t>    </a:t>
            </a:r>
            <a:r>
              <a:rPr lang="en-IN" dirty="0" err="1"/>
              <a:t>to_port</a:t>
            </a:r>
            <a:r>
              <a:rPr lang="en-IN" dirty="0"/>
              <a:t>     = 80</a:t>
            </a:r>
          </a:p>
          <a:p>
            <a:r>
              <a:rPr lang="en-IN" dirty="0"/>
              <a:t>    protocol    = "</a:t>
            </a:r>
            <a:r>
              <a:rPr lang="en-IN" dirty="0" err="1"/>
              <a:t>tcp</a:t>
            </a:r>
            <a:r>
              <a:rPr lang="en-IN" dirty="0"/>
              <a:t>"</a:t>
            </a:r>
          </a:p>
          <a:p>
            <a:r>
              <a:rPr lang="en-IN" dirty="0"/>
              <a:t>    </a:t>
            </a:r>
            <a:r>
              <a:rPr lang="en-IN" dirty="0" err="1"/>
              <a:t>cidr_blocks</a:t>
            </a:r>
            <a:r>
              <a:rPr lang="en-IN" dirty="0"/>
              <a:t> = ["0.0.0.0/0"]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ingress {</a:t>
            </a:r>
          </a:p>
          <a:p>
            <a:r>
              <a:rPr lang="en-IN" dirty="0"/>
              <a:t>    description = "SSH"</a:t>
            </a:r>
          </a:p>
          <a:p>
            <a:r>
              <a:rPr lang="en-IN" dirty="0"/>
              <a:t>    </a:t>
            </a:r>
            <a:r>
              <a:rPr lang="en-IN" dirty="0" err="1"/>
              <a:t>from_port</a:t>
            </a:r>
            <a:r>
              <a:rPr lang="en-IN" dirty="0"/>
              <a:t>   = 22</a:t>
            </a:r>
          </a:p>
          <a:p>
            <a:r>
              <a:rPr lang="en-IN" dirty="0"/>
              <a:t>    </a:t>
            </a:r>
            <a:r>
              <a:rPr lang="en-IN" dirty="0" err="1"/>
              <a:t>to_port</a:t>
            </a:r>
            <a:r>
              <a:rPr lang="en-IN" dirty="0"/>
              <a:t>     = 22</a:t>
            </a:r>
          </a:p>
          <a:p>
            <a:r>
              <a:rPr lang="en-IN" dirty="0"/>
              <a:t>    protocol    = "</a:t>
            </a:r>
            <a:r>
              <a:rPr lang="en-IN" dirty="0" err="1"/>
              <a:t>tcp</a:t>
            </a:r>
            <a:r>
              <a:rPr lang="en-IN" dirty="0"/>
              <a:t>"</a:t>
            </a:r>
          </a:p>
          <a:p>
            <a:r>
              <a:rPr lang="en-IN" dirty="0"/>
              <a:t>    </a:t>
            </a:r>
            <a:r>
              <a:rPr lang="en-IN" dirty="0" err="1"/>
              <a:t>cidr_blocks</a:t>
            </a:r>
            <a:r>
              <a:rPr lang="en-IN" dirty="0"/>
              <a:t> = ["0.0.0.0/0"]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egress {</a:t>
            </a:r>
          </a:p>
          <a:p>
            <a:r>
              <a:rPr lang="en-IN" dirty="0"/>
              <a:t>    </a:t>
            </a:r>
            <a:r>
              <a:rPr lang="en-IN" dirty="0" err="1"/>
              <a:t>from_port</a:t>
            </a:r>
            <a:r>
              <a:rPr lang="en-IN" dirty="0"/>
              <a:t>   = 0</a:t>
            </a:r>
          </a:p>
          <a:p>
            <a:r>
              <a:rPr lang="en-IN" dirty="0"/>
              <a:t>    </a:t>
            </a:r>
            <a:r>
              <a:rPr lang="en-IN" dirty="0" err="1"/>
              <a:t>to_port</a:t>
            </a:r>
            <a:r>
              <a:rPr lang="en-IN" dirty="0"/>
              <a:t>     = 0</a:t>
            </a:r>
          </a:p>
          <a:p>
            <a:r>
              <a:rPr lang="en-IN" dirty="0"/>
              <a:t>    protocol    = "-1"</a:t>
            </a:r>
          </a:p>
          <a:p>
            <a:r>
              <a:rPr lang="en-IN" dirty="0"/>
              <a:t>    </a:t>
            </a:r>
            <a:r>
              <a:rPr lang="en-IN" dirty="0" err="1"/>
              <a:t>cidr_blocks</a:t>
            </a:r>
            <a:r>
              <a:rPr lang="en-IN" dirty="0"/>
              <a:t> = ["0.0.0.0/0"]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resource "</a:t>
            </a:r>
            <a:r>
              <a:rPr lang="en-IN" dirty="0" err="1"/>
              <a:t>aws_instance</a:t>
            </a:r>
            <a:r>
              <a:rPr lang="en-IN" dirty="0"/>
              <a:t>" "web" {</a:t>
            </a:r>
          </a:p>
          <a:p>
            <a:r>
              <a:rPr lang="en-IN" dirty="0"/>
              <a:t>  </a:t>
            </a:r>
            <a:r>
              <a:rPr lang="en-IN" dirty="0" err="1"/>
              <a:t>ami</a:t>
            </a:r>
            <a:r>
              <a:rPr lang="en-IN" dirty="0"/>
              <a:t>           = "</a:t>
            </a:r>
            <a:r>
              <a:rPr lang="en-IN" dirty="0" err="1"/>
              <a:t>ami</a:t>
            </a:r>
            <a:r>
              <a:rPr lang="en-IN" dirty="0"/>
              <a:t>-REPLACE_WITH_VALID_AMI"</a:t>
            </a:r>
          </a:p>
          <a:p>
            <a:r>
              <a:rPr lang="en-IN" dirty="0"/>
              <a:t>  </a:t>
            </a:r>
            <a:r>
              <a:rPr lang="en-IN" dirty="0" err="1"/>
              <a:t>instance_type</a:t>
            </a:r>
            <a:r>
              <a:rPr lang="en-IN" dirty="0"/>
              <a:t> = "t2.micro"</a:t>
            </a:r>
          </a:p>
          <a:p>
            <a:r>
              <a:rPr lang="en-IN" dirty="0"/>
              <a:t>  </a:t>
            </a:r>
            <a:r>
              <a:rPr lang="en-IN" dirty="0" err="1"/>
              <a:t>security_groups</a:t>
            </a:r>
            <a:r>
              <a:rPr lang="en-IN" dirty="0"/>
              <a:t> = [aws_security_group.web_sg.name]</a:t>
            </a:r>
          </a:p>
          <a:p>
            <a:endParaRPr lang="en-IN" dirty="0"/>
          </a:p>
          <a:p>
            <a:r>
              <a:rPr lang="en-IN" dirty="0"/>
              <a:t>  </a:t>
            </a:r>
            <a:r>
              <a:rPr lang="en-IN" dirty="0" err="1"/>
              <a:t>user_data</a:t>
            </a:r>
            <a:r>
              <a:rPr lang="en-IN" dirty="0"/>
              <a:t> = &lt;&lt;-EOF</a:t>
            </a:r>
          </a:p>
          <a:p>
            <a:r>
              <a:rPr lang="en-IN" dirty="0"/>
              <a:t>              #!/bin/bash</a:t>
            </a:r>
          </a:p>
          <a:p>
            <a:r>
              <a:rPr lang="en-IN" dirty="0"/>
              <a:t>              </a:t>
            </a:r>
            <a:r>
              <a:rPr lang="en-IN" dirty="0" err="1"/>
              <a:t>dnf</a:t>
            </a:r>
            <a:r>
              <a:rPr lang="en-IN" dirty="0"/>
              <a:t> update -y</a:t>
            </a:r>
          </a:p>
          <a:p>
            <a:r>
              <a:rPr lang="en-IN" dirty="0"/>
              <a:t>              </a:t>
            </a:r>
            <a:r>
              <a:rPr lang="en-IN" dirty="0" err="1"/>
              <a:t>dnf</a:t>
            </a:r>
            <a:r>
              <a:rPr lang="en-IN" dirty="0"/>
              <a:t> install -y nginx</a:t>
            </a:r>
          </a:p>
          <a:p>
            <a:r>
              <a:rPr lang="en-IN" dirty="0"/>
              <a:t>              </a:t>
            </a:r>
            <a:r>
              <a:rPr lang="en-IN" dirty="0" err="1"/>
              <a:t>systemctl</a:t>
            </a:r>
            <a:r>
              <a:rPr lang="en-IN" dirty="0"/>
              <a:t> enable nginx</a:t>
            </a:r>
          </a:p>
          <a:p>
            <a:r>
              <a:rPr lang="en-IN" dirty="0"/>
              <a:t>              </a:t>
            </a:r>
            <a:r>
              <a:rPr lang="en-IN" dirty="0" err="1"/>
              <a:t>systemctl</a:t>
            </a:r>
            <a:r>
              <a:rPr lang="en-IN" dirty="0"/>
              <a:t> start nginx</a:t>
            </a:r>
          </a:p>
          <a:p>
            <a:r>
              <a:rPr lang="en-IN" dirty="0"/>
              <a:t>              echo "&lt;h1&gt;Hello from Terraform EC2&lt;/h1&gt;" &gt; /</a:t>
            </a:r>
            <a:r>
              <a:rPr lang="en-IN" dirty="0" err="1"/>
              <a:t>usr</a:t>
            </a:r>
            <a:r>
              <a:rPr lang="en-IN" dirty="0"/>
              <a:t>/share/nginx/html/index.html</a:t>
            </a:r>
          </a:p>
          <a:p>
            <a:r>
              <a:rPr lang="en-IN" dirty="0"/>
              <a:t>              EOF</a:t>
            </a:r>
          </a:p>
          <a:p>
            <a:endParaRPr lang="en-IN" dirty="0"/>
          </a:p>
          <a:p>
            <a:r>
              <a:rPr lang="en-IN" dirty="0"/>
              <a:t>  tags = {</a:t>
            </a:r>
          </a:p>
          <a:p>
            <a:r>
              <a:rPr lang="en-IN" dirty="0"/>
              <a:t>    Name = "Terraform-Nginx-Server"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output "</a:t>
            </a:r>
            <a:r>
              <a:rPr lang="en-IN" dirty="0" err="1"/>
              <a:t>public_ip</a:t>
            </a:r>
            <a:r>
              <a:rPr lang="en-IN" dirty="0"/>
              <a:t>" {</a:t>
            </a:r>
          </a:p>
          <a:p>
            <a:r>
              <a:rPr lang="en-IN" dirty="0"/>
              <a:t>  value = </a:t>
            </a:r>
            <a:r>
              <a:rPr lang="en-IN" dirty="0" err="1"/>
              <a:t>aws_instance.web.public_ip</a:t>
            </a:r>
            <a:endParaRPr lang="en-IN" dirty="0"/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output "</a:t>
            </a:r>
            <a:r>
              <a:rPr lang="en-IN" dirty="0" err="1"/>
              <a:t>website_url</a:t>
            </a:r>
            <a:r>
              <a:rPr lang="en-IN" dirty="0"/>
              <a:t>" {</a:t>
            </a:r>
          </a:p>
          <a:p>
            <a:r>
              <a:rPr lang="en-IN" dirty="0"/>
              <a:t>  value = "http://${</a:t>
            </a:r>
            <a:r>
              <a:rPr lang="en-IN" dirty="0" err="1"/>
              <a:t>aws_instance.web.public_ip</a:t>
            </a:r>
            <a:r>
              <a:rPr lang="en-IN" dirty="0"/>
              <a:t>}"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244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2BDDB-C172-6773-CD1F-A3526911E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E5E84-CE0B-C39D-F6AA-81ACC342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5626"/>
          </a:xfrm>
        </p:spPr>
        <p:txBody>
          <a:bodyPr>
            <a:normAutofit fontScale="90000"/>
          </a:bodyPr>
          <a:lstStyle/>
          <a:p>
            <a:r>
              <a:rPr lang="en-IN" dirty="0"/>
              <a:t>Lab 13: Same Example Without Hardcoding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79062-B6EA-439B-371F-EA0BA1FAA6F9}"/>
              </a:ext>
            </a:extLst>
          </p:cNvPr>
          <p:cNvSpPr txBox="1"/>
          <p:nvPr/>
        </p:nvSpPr>
        <p:spPr>
          <a:xfrm>
            <a:off x="154112" y="513709"/>
            <a:ext cx="4109663" cy="40934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variables.tf</a:t>
            </a:r>
          </a:p>
          <a:p>
            <a:endParaRPr lang="en-IN" sz="2000" dirty="0"/>
          </a:p>
          <a:p>
            <a:r>
              <a:rPr lang="en-IN" sz="2000" dirty="0"/>
              <a:t>variable "region" {</a:t>
            </a:r>
          </a:p>
          <a:p>
            <a:r>
              <a:rPr lang="en-IN" sz="2000" dirty="0"/>
              <a:t>  default = "us-east-1"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variable "</a:t>
            </a:r>
            <a:r>
              <a:rPr lang="en-IN" sz="2000" dirty="0" err="1"/>
              <a:t>ami_id</a:t>
            </a:r>
            <a:r>
              <a:rPr lang="en-IN" sz="2000" dirty="0"/>
              <a:t>" {</a:t>
            </a:r>
          </a:p>
          <a:p>
            <a:r>
              <a:rPr lang="en-IN" sz="2000" dirty="0"/>
              <a:t>  default = "ami-0c02fb55956c7d316"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variable "</a:t>
            </a:r>
            <a:r>
              <a:rPr lang="en-IN" sz="2000" dirty="0" err="1"/>
              <a:t>instance_type</a:t>
            </a:r>
            <a:r>
              <a:rPr lang="en-IN" sz="2000" dirty="0"/>
              <a:t>" {</a:t>
            </a:r>
          </a:p>
          <a:p>
            <a:r>
              <a:rPr lang="en-IN" sz="2000" dirty="0"/>
              <a:t>  default = "t2.micro"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1F503C-EA6F-0927-FCA5-5B3558335A7A}"/>
              </a:ext>
            </a:extLst>
          </p:cNvPr>
          <p:cNvSpPr txBox="1"/>
          <p:nvPr/>
        </p:nvSpPr>
        <p:spPr>
          <a:xfrm>
            <a:off x="4364804" y="513709"/>
            <a:ext cx="3905893" cy="71711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main.tf</a:t>
            </a:r>
          </a:p>
          <a:p>
            <a:endParaRPr lang="en-IN" sz="2000" dirty="0"/>
          </a:p>
          <a:p>
            <a:r>
              <a:rPr lang="en-IN" sz="2000" dirty="0"/>
              <a:t>terraform {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required_providers</a:t>
            </a:r>
            <a:r>
              <a:rPr lang="en-IN" sz="2000" dirty="0"/>
              <a:t> {</a:t>
            </a:r>
          </a:p>
          <a:p>
            <a:r>
              <a:rPr lang="en-IN" sz="2000" dirty="0"/>
              <a:t>    </a:t>
            </a:r>
            <a:r>
              <a:rPr lang="en-IN" sz="2000" dirty="0" err="1"/>
              <a:t>aws</a:t>
            </a:r>
            <a:r>
              <a:rPr lang="en-IN" sz="2000" dirty="0"/>
              <a:t> = {</a:t>
            </a:r>
          </a:p>
          <a:p>
            <a:r>
              <a:rPr lang="en-IN" sz="2000" dirty="0"/>
              <a:t>      source  = "</a:t>
            </a:r>
            <a:r>
              <a:rPr lang="en-IN" sz="2000" dirty="0" err="1"/>
              <a:t>hashicorp</a:t>
            </a:r>
            <a:r>
              <a:rPr lang="en-IN" sz="2000" dirty="0"/>
              <a:t>/</a:t>
            </a:r>
            <a:r>
              <a:rPr lang="en-IN" sz="2000" dirty="0" err="1"/>
              <a:t>aws</a:t>
            </a:r>
            <a:r>
              <a:rPr lang="en-IN" sz="2000" dirty="0"/>
              <a:t>"</a:t>
            </a:r>
          </a:p>
          <a:p>
            <a:r>
              <a:rPr lang="en-IN" sz="2000" dirty="0"/>
              <a:t>      version = "~&gt; 5.0"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  }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provider "</a:t>
            </a:r>
            <a:r>
              <a:rPr lang="en-IN" sz="2000" dirty="0" err="1"/>
              <a:t>aws</a:t>
            </a:r>
            <a:r>
              <a:rPr lang="en-IN" sz="2000" dirty="0"/>
              <a:t>" {</a:t>
            </a:r>
          </a:p>
          <a:p>
            <a:r>
              <a:rPr lang="en-IN" sz="2000" dirty="0"/>
              <a:t>  region = </a:t>
            </a:r>
            <a:r>
              <a:rPr lang="en-IN" sz="2000" dirty="0" err="1"/>
              <a:t>var.region</a:t>
            </a:r>
            <a:endParaRPr lang="en-IN" sz="2000" dirty="0"/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resource "</a:t>
            </a:r>
            <a:r>
              <a:rPr lang="en-IN" sz="2000" dirty="0" err="1"/>
              <a:t>aws_instance</a:t>
            </a:r>
            <a:r>
              <a:rPr lang="en-IN" sz="2000" dirty="0"/>
              <a:t>" "myec2" {</a:t>
            </a:r>
          </a:p>
          <a:p>
            <a:r>
              <a:rPr lang="en-IN" sz="2000" dirty="0"/>
              <a:t>  </a:t>
            </a:r>
            <a:r>
              <a:rPr lang="en-IN" sz="2000" dirty="0" err="1"/>
              <a:t>ami</a:t>
            </a:r>
            <a:r>
              <a:rPr lang="en-IN" sz="2000" dirty="0"/>
              <a:t>           = </a:t>
            </a:r>
            <a:r>
              <a:rPr lang="en-IN" sz="2000" dirty="0" err="1"/>
              <a:t>var.ami_id</a:t>
            </a:r>
            <a:endParaRPr lang="en-IN" sz="2000" dirty="0"/>
          </a:p>
          <a:p>
            <a:r>
              <a:rPr lang="en-IN" sz="2000" dirty="0"/>
              <a:t>  </a:t>
            </a:r>
            <a:r>
              <a:rPr lang="en-IN" sz="2000" dirty="0" err="1"/>
              <a:t>instance_type</a:t>
            </a:r>
            <a:r>
              <a:rPr lang="en-IN" sz="2000" dirty="0"/>
              <a:t> = </a:t>
            </a:r>
            <a:r>
              <a:rPr lang="en-IN" sz="2000" dirty="0" err="1"/>
              <a:t>var.instance_type</a:t>
            </a:r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  tags = {</a:t>
            </a:r>
          </a:p>
          <a:p>
            <a:r>
              <a:rPr lang="en-IN" sz="2000" dirty="0"/>
              <a:t>    Name = "Terraform-Variable-EC2"</a:t>
            </a:r>
          </a:p>
          <a:p>
            <a:r>
              <a:rPr lang="en-IN" sz="2000" dirty="0"/>
              <a:t>  }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C0D59-96C6-71D5-55A6-94E8D17C64BC}"/>
              </a:ext>
            </a:extLst>
          </p:cNvPr>
          <p:cNvSpPr txBox="1"/>
          <p:nvPr/>
        </p:nvSpPr>
        <p:spPr>
          <a:xfrm>
            <a:off x="8371726" y="513709"/>
            <a:ext cx="3645613" cy="3170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2000" dirty="0"/>
              <a:t>outputs.tf</a:t>
            </a:r>
          </a:p>
          <a:p>
            <a:endParaRPr lang="en-IN" sz="2000" dirty="0"/>
          </a:p>
          <a:p>
            <a:r>
              <a:rPr lang="en-IN" sz="2000" dirty="0"/>
              <a:t>output "</a:t>
            </a:r>
            <a:r>
              <a:rPr lang="en-IN" sz="2000" dirty="0" err="1"/>
              <a:t>instance_id</a:t>
            </a:r>
            <a:r>
              <a:rPr lang="en-IN" sz="2000" dirty="0"/>
              <a:t>" {</a:t>
            </a:r>
          </a:p>
          <a:p>
            <a:r>
              <a:rPr lang="en-IN" sz="2000" dirty="0"/>
              <a:t>  value = aws_instance.myec2.id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output "</a:t>
            </a:r>
            <a:r>
              <a:rPr lang="en-IN" sz="2000" dirty="0" err="1"/>
              <a:t>public_ip</a:t>
            </a:r>
            <a:r>
              <a:rPr lang="en-IN" sz="2000" dirty="0"/>
              <a:t>" {</a:t>
            </a:r>
          </a:p>
          <a:p>
            <a:r>
              <a:rPr lang="en-IN" sz="2000" dirty="0"/>
              <a:t>  value = aws_instance.myec2.public_ip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8E154-5304-B120-B33C-826431E4BF6C}"/>
              </a:ext>
            </a:extLst>
          </p:cNvPr>
          <p:cNvSpPr txBox="1"/>
          <p:nvPr/>
        </p:nvSpPr>
        <p:spPr>
          <a:xfrm>
            <a:off x="8714197" y="4359846"/>
            <a:ext cx="2960670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sz="2000" dirty="0"/>
              <a:t>terraform init</a:t>
            </a:r>
          </a:p>
          <a:p>
            <a:r>
              <a:rPr lang="pt-BR" sz="2000" dirty="0"/>
              <a:t>terraform plan</a:t>
            </a:r>
          </a:p>
          <a:p>
            <a:r>
              <a:rPr lang="pt-BR" sz="2000" dirty="0"/>
              <a:t>terraform apply</a:t>
            </a:r>
          </a:p>
          <a:p>
            <a:endParaRPr lang="pt-BR" sz="2000" dirty="0"/>
          </a:p>
          <a:p>
            <a:r>
              <a:rPr lang="pt-BR" sz="2000" b="1" dirty="0"/>
              <a:t>terraform destroy</a:t>
            </a:r>
          </a:p>
        </p:txBody>
      </p:sp>
    </p:spTree>
    <p:extLst>
      <p:ext uri="{BB962C8B-B14F-4D97-AF65-F5344CB8AC3E}">
        <p14:creationId xmlns:p14="http://schemas.microsoft.com/office/powerpoint/2010/main" val="3328024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1405</TotalTime>
  <Words>2694</Words>
  <Application>Microsoft Office PowerPoint</Application>
  <PresentationFormat>Widescreen</PresentationFormat>
  <Paragraphs>643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Calibri Light</vt:lpstr>
      <vt:lpstr>Office Theme</vt:lpstr>
      <vt:lpstr>Terraform</vt:lpstr>
      <vt:lpstr>Terraform Basics</vt:lpstr>
      <vt:lpstr>Workflow</vt:lpstr>
      <vt:lpstr>Files</vt:lpstr>
      <vt:lpstr>Important Commands</vt:lpstr>
      <vt:lpstr>Lab 1: Create a Local File</vt:lpstr>
      <vt:lpstr>Explanation</vt:lpstr>
      <vt:lpstr>State</vt:lpstr>
      <vt:lpstr>How Terraform Uses State</vt:lpstr>
      <vt:lpstr>Variable Concept</vt:lpstr>
      <vt:lpstr>Lab 2: Use Variables (main.tf)</vt:lpstr>
      <vt:lpstr>Explanation</vt:lpstr>
      <vt:lpstr>Lab 2.1: Variables in a Different File</vt:lpstr>
      <vt:lpstr>Lab 3: NGINX Docker Container (https://github.com/newdelthis/demo/blob/main/terraform_nginx_docker.tf)</vt:lpstr>
      <vt:lpstr>Explanation</vt:lpstr>
      <vt:lpstr>Lab 4: Display Outputs (main.tf)</vt:lpstr>
      <vt:lpstr>Lab 5: Multiple Resources (main.tf)</vt:lpstr>
      <vt:lpstr>Lab 6: Resource Dependency Using Reference (main.tf)</vt:lpstr>
      <vt:lpstr>Lab 7: Run Alpine Linux Container (main.tf)</vt:lpstr>
      <vt:lpstr>Lab 8: Run Apache Server Container (main.tf)</vt:lpstr>
      <vt:lpstr>Terraform and AWS</vt:lpstr>
      <vt:lpstr>Lab 9: Create an IAM User (https://github.com/newdelthis/demo/blob/main/terraform_aws_user.tf)</vt:lpstr>
      <vt:lpstr>Lab 10: Create a bucket (https://github.com/newdelthis/demo/blob/main/terraform_s3_bucket.tf)</vt:lpstr>
      <vt:lpstr>Lab 11: Create AWS EC2 Instance (https://github.com/newdelthis/demo/blob/main/terraform_ec2_simple.tf)</vt:lpstr>
      <vt:lpstr>Lab 12: EC2 With NGINX (https://github.com/newdelthis/demo/blob/main/terraform_ec2_nginx.tf)</vt:lpstr>
      <vt:lpstr>Lab 13: Same Example Without Hardcoding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13</cp:revision>
  <dcterms:created xsi:type="dcterms:W3CDTF">2026-03-26T05:05:19Z</dcterms:created>
  <dcterms:modified xsi:type="dcterms:W3CDTF">2026-04-30T05:26:31Z</dcterms:modified>
</cp:coreProperties>
</file>