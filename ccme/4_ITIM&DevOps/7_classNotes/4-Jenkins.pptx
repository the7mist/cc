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74" r:id="rId26"/>
    <p:sldId id="375" r:id="rId27"/>
    <p:sldId id="376" r:id="rId28"/>
    <p:sldId id="399" r:id="rId29"/>
    <p:sldId id="400" r:id="rId30"/>
    <p:sldId id="401" r:id="rId31"/>
    <p:sldId id="40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5998-2B1F-FDA1-3297-BCBD302E5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751CE-5A6C-81F0-04A6-37A2B57F7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5F93-61D6-6391-0757-23D565E6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09E9-F054-63E4-87AF-F805440F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B261-D630-373F-96BA-B6F9283C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85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407F-6A6F-9972-8EBF-7CE4CB70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EE976-4B36-E78E-81A7-7731223B6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EC966-FA6F-4A31-C55A-E1CA4B50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D86E8-DDDD-8BA5-1B01-1CDE11A1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60D2F-C2EF-6FD2-26E8-4CB1FD04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6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8526-66C6-F5CC-9CB4-648CD48E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B67A7-A4E6-23F5-9D3D-12329003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AD091-A897-E94B-DBED-5072FAC6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9055E-A25F-2DCE-E821-5E62F0E7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84C6F-D296-8189-6CB1-B33EAE49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7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D5FC-859B-4F6B-E3C4-4A4BB813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DA7CD-E31B-F9F4-94CD-B2C4521D0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00F6-2A39-3BBB-FDDD-CBC0B5CF0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283A7-6FAE-7AC4-4A59-7BB4CD49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BA5BE-BAF8-CDBD-54A1-B32DAA28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A4593-3C48-D1DD-AD21-A4E34F0E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22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77DB-CDA3-7781-2B0C-BFCFDCB7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F9A7-4140-9C0D-C237-2E5E8C41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A3E0C-0673-D870-4C51-200DECCE7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1923F-AFD7-78A9-6014-ACE1C43EA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AAC56-AE4D-5E8F-74B5-DDFE6CDEB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9F0F0-1A1E-AEB8-6DDC-2D88F18D4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038AC-6691-6052-38A6-DF277F69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AC241-4132-30CC-9D5D-FDB1CB96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4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4913-9D1E-3DB0-6F62-6DA8A65B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80A17-CC6F-0101-8E41-184A2853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05A9D-1B36-7F36-C21C-E7982E74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8AC98-E847-144C-C95A-E80231307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555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AE758-8F57-F190-8A12-67D570D9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2BEC6-E5EB-568C-1CD7-CDEC473A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6DD4-1DEF-56FA-0C43-F4561168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92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FF66-CEDB-8633-E0F2-8BAC7028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A5F1-6CE7-BFAE-74DD-B4A0E233A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9DCBE-E2EC-C34E-072B-3B1EE6D2A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DF25C-6040-C824-6D4C-3D17278E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11889-9AA5-FE74-F359-3121301A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2B21F-A106-6692-F812-D9AFB7AD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9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D5FD-04F8-93BB-05E4-068CDAE20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6288C-B9BC-E811-7B2B-56A05CBEB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4B42F-5A90-664E-89DD-7CF9141BE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033BC-C82A-F6D7-F066-2C706915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4C16C-7046-52C9-6B9B-49ABEAFE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444FA-21EF-C35B-44F9-0BD24228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22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0571-FAF5-7751-7051-B6457747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0A001-7927-CA27-D920-863A5C5DA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700E-AFE8-B6BD-1273-B9F0C436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A9D2-23C4-636A-9809-ABE8975F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9D918-CFEA-05E9-9D7C-822B27EF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0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1B28C-4943-5396-4D4E-12241BB37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B930C-D9A7-84EC-5725-84F1B0A03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5F43-AA8D-1A93-A31C-3848EF7F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5AECE-1DC9-0DE0-70D8-EE7B8967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3DA2-D5A6-18A4-04E8-6A02AB3D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53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4CC89-6F5B-714E-5F5D-A8B034F7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405BD-209B-758F-D72A-BED0D8273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986A-E0C8-9650-3387-1B1A57BBD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9AAAE-33C4-4C61-963E-8CFF6788BD9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2A74F-BD84-455C-B758-046671132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66A34-DFA1-4335-E4D8-E416B3F1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B7904-D3A8-459A-9EF1-696B212B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0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nkins.io/doc/book/installing/linux/#debianubunt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%3cyour-username%3e/docker_jenkins_demo.gi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84AF-E0DD-9F87-E884-076A08CC7A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Jenkins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E6A7C-478F-4824-6D4B-4E3402D18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268943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BEB0-620B-7A49-119B-6066037C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Jenkins?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25DCE7-DAC1-7609-EFE3-8F99791F7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096445"/>
              </p:ext>
            </p:extLst>
          </p:nvPr>
        </p:nvGraphicFramePr>
        <p:xfrm>
          <a:off x="714910" y="160020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088891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5349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2325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Manual builds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Slow and error-prone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3011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Deployment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Works on my machine 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5762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Delays in release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0557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Difficult debugging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4569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C80811-3A19-F7DD-72C8-141371AA1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157802"/>
              </p:ext>
            </p:extLst>
          </p:nvPr>
        </p:nvGraphicFramePr>
        <p:xfrm>
          <a:off x="714910" y="4206875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737016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04566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53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Jenkins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Open Source Automation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292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Version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152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Consistent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78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CI/CD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Faster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334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1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5A7E-DB9F-7892-BEAA-0EEBEA2D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2B39FD-4F26-CB0C-C5EF-F86971FDC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568411"/>
              </p:ext>
            </p:extLst>
          </p:nvPr>
        </p:nvGraphicFramePr>
        <p:xfrm>
          <a:off x="714910" y="1690688"/>
          <a:ext cx="10515600" cy="3627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98852">
                  <a:extLst>
                    <a:ext uri="{9D8B030D-6E8A-4147-A177-3AD203B41FA5}">
                      <a16:colId xmlns:a16="http://schemas.microsoft.com/office/drawing/2014/main" val="868598504"/>
                    </a:ext>
                  </a:extLst>
                </a:gridCol>
                <a:gridCol w="7716748">
                  <a:extLst>
                    <a:ext uri="{9D8B030D-6E8A-4147-A177-3AD203B41FA5}">
                      <a16:colId xmlns:a16="http://schemas.microsoft.com/office/drawing/2014/main" val="555467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7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Developer writes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02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Push to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283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Jenkins detects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78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Build starts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691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image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02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Application deployed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971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56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564A-39E6-B674-1908-20076928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907"/>
            <a:ext cx="10515600" cy="554913"/>
          </a:xfrm>
        </p:spPr>
        <p:txBody>
          <a:bodyPr>
            <a:normAutofit fontScale="90000"/>
          </a:bodyPr>
          <a:lstStyle/>
          <a:p>
            <a:r>
              <a:rPr lang="en-IN" dirty="0"/>
              <a:t>Installation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3A3D9C-409E-5C98-00C3-90317F089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835111"/>
              </p:ext>
            </p:extLst>
          </p:nvPr>
        </p:nvGraphicFramePr>
        <p:xfrm>
          <a:off x="368157" y="667820"/>
          <a:ext cx="11455685" cy="5469043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87441">
                  <a:extLst>
                    <a:ext uri="{9D8B030D-6E8A-4147-A177-3AD203B41FA5}">
                      <a16:colId xmlns:a16="http://schemas.microsoft.com/office/drawing/2014/main" val="1473784531"/>
                    </a:ext>
                  </a:extLst>
                </a:gridCol>
                <a:gridCol w="4733061">
                  <a:extLst>
                    <a:ext uri="{9D8B030D-6E8A-4147-A177-3AD203B41FA5}">
                      <a16:colId xmlns:a16="http://schemas.microsoft.com/office/drawing/2014/main" val="309286148"/>
                    </a:ext>
                  </a:extLst>
                </a:gridCol>
                <a:gridCol w="6335183">
                  <a:extLst>
                    <a:ext uri="{9D8B030D-6E8A-4147-A177-3AD203B41FA5}">
                      <a16:colId xmlns:a16="http://schemas.microsoft.com/office/drawing/2014/main" val="314079097"/>
                    </a:ext>
                  </a:extLst>
                </a:gridCol>
              </a:tblGrid>
              <a:tr h="29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Explanation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615781"/>
                  </a:ext>
                </a:extLst>
              </a:tr>
              <a:tr h="737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Follow guide: </a:t>
                      </a:r>
                      <a:r>
                        <a:rPr lang="en-US" sz="2400" dirty="0">
                          <a:hlinkClick r:id="rId2"/>
                        </a:rPr>
                        <a:t>https://www.jenkins.io/doc/book/installing/linux/#debianubuntu</a:t>
                      </a:r>
                      <a:endParaRPr lang="en-US" sz="24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Official installation steps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870279"/>
                  </a:ext>
                </a:extLst>
              </a:tr>
              <a:tr h="51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Open browser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2400" dirty="0"/>
                        <a:t>Go to http://localhost:8080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411338"/>
                  </a:ext>
                </a:extLst>
              </a:tr>
              <a:tr h="737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Get password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cat /var/lib/jenkins/secrets/initialAdminPassword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544121"/>
                  </a:ext>
                </a:extLst>
              </a:tr>
              <a:tr h="29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Unlock Jenkins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Paste password in browser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994606"/>
                  </a:ext>
                </a:extLst>
              </a:tr>
              <a:tr h="29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Install plugins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Select </a:t>
                      </a:r>
                      <a:r>
                        <a:rPr lang="en-IN" sz="2400" b="1"/>
                        <a:t>Install suggested plugins</a:t>
                      </a:r>
                      <a:endParaRPr lang="en-IN" sz="24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7083"/>
                  </a:ext>
                </a:extLst>
              </a:tr>
              <a:tr h="51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user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Enter username/password (can use admin/admin for demo)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563939"/>
                  </a:ext>
                </a:extLst>
              </a:tr>
              <a:tr h="51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7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Instance config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Keep default settings (no change needed)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476126"/>
                  </a:ext>
                </a:extLst>
              </a:tr>
              <a:tr h="29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8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Ready to use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Jenkins dashboard opens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028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43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69FE-398B-14DA-AB1B-4E193218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017"/>
            <a:ext cx="10515600" cy="513707"/>
          </a:xfrm>
        </p:spPr>
        <p:txBody>
          <a:bodyPr>
            <a:normAutofit fontScale="90000"/>
          </a:bodyPr>
          <a:lstStyle/>
          <a:p>
            <a:r>
              <a:rPr lang="en-IN" dirty="0"/>
              <a:t>Jenkins Job Types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5E1FA8B-6247-D3BA-0412-FF10F8A50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909990"/>
              </p:ext>
            </p:extLst>
          </p:nvPr>
        </p:nvGraphicFramePr>
        <p:xfrm>
          <a:off x="698524" y="732675"/>
          <a:ext cx="10993467" cy="584270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25390">
                  <a:extLst>
                    <a:ext uri="{9D8B030D-6E8A-4147-A177-3AD203B41FA5}">
                      <a16:colId xmlns:a16="http://schemas.microsoft.com/office/drawing/2014/main" val="1293103244"/>
                    </a:ext>
                  </a:extLst>
                </a:gridCol>
                <a:gridCol w="4403588">
                  <a:extLst>
                    <a:ext uri="{9D8B030D-6E8A-4147-A177-3AD203B41FA5}">
                      <a16:colId xmlns:a16="http://schemas.microsoft.com/office/drawing/2014/main" val="1615830609"/>
                    </a:ext>
                  </a:extLst>
                </a:gridCol>
                <a:gridCol w="3664489">
                  <a:extLst>
                    <a:ext uri="{9D8B030D-6E8A-4147-A177-3AD203B41FA5}">
                      <a16:colId xmlns:a16="http://schemas.microsoft.com/office/drawing/2014/main" val="115404470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Feature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Freestyle Job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Pipeline Job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50329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Definition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Basic job created using UI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Job defined using code (Jenkinsfile)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171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Configuration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GUI-based (clicks)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Code-based (Groovy)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455049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Complexity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Simple tasks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Complex workflows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57721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Flexibility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Highly flexible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98304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Reusability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Low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 (code reuse)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97046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Version Control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 supported easily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Stored in Git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507386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Visualization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Basic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Advanced (stages view)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66173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Error Handling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Better control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48751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Parallel Execution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 easy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Supported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421124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Maintenance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Difficult for large projects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Easy (code-driven)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47282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Case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Small/simple builds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CI/CD pipelines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25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33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A2EF-0500-0FA0-2EDF-D0860DF8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Hello Jenkins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C97E06A-D00C-788B-E341-3C39C98CC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945389"/>
              </p:ext>
            </p:extLst>
          </p:nvPr>
        </p:nvGraphicFramePr>
        <p:xfrm>
          <a:off x="790249" y="1298878"/>
          <a:ext cx="10611501" cy="5559122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13708">
                  <a:extLst>
                    <a:ext uri="{9D8B030D-6E8A-4147-A177-3AD203B41FA5}">
                      <a16:colId xmlns:a16="http://schemas.microsoft.com/office/drawing/2014/main" val="4031113116"/>
                    </a:ext>
                  </a:extLst>
                </a:gridCol>
                <a:gridCol w="5928189">
                  <a:extLst>
                    <a:ext uri="{9D8B030D-6E8A-4147-A177-3AD203B41FA5}">
                      <a16:colId xmlns:a16="http://schemas.microsoft.com/office/drawing/2014/main" val="3532077193"/>
                    </a:ext>
                  </a:extLst>
                </a:gridCol>
                <a:gridCol w="4169604">
                  <a:extLst>
                    <a:ext uri="{9D8B030D-6E8A-4147-A177-3AD203B41FA5}">
                      <a16:colId xmlns:a16="http://schemas.microsoft.com/office/drawing/2014/main" val="3485820294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2798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New Item</a:t>
                      </a:r>
                      <a:endParaRPr lang="en-IN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a new job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3134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Enter name: hello_jenkins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Name of the job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44016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Select </a:t>
                      </a:r>
                      <a:r>
                        <a:rPr lang="en-IN" sz="2400" b="1"/>
                        <a:t>Freestyle project</a:t>
                      </a:r>
                      <a:endParaRPr lang="en-IN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Choose job type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8117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OK</a:t>
                      </a:r>
                      <a:endParaRPr lang="en-IN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job configuration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93185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 to </a:t>
                      </a:r>
                      <a:r>
                        <a:rPr lang="en-IN" sz="2400" b="1"/>
                        <a:t>Build Steps</a:t>
                      </a:r>
                      <a:endParaRPr lang="en-IN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Section to add commands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96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Click </a:t>
                      </a:r>
                      <a:r>
                        <a:rPr lang="en-US" sz="2400" b="1"/>
                        <a:t>Add Build Step → Execute shell</a:t>
                      </a:r>
                      <a:endParaRPr lang="en-US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Add shell 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24895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Enter 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echo "Hello Jenkins!"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36464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Save</a:t>
                      </a:r>
                      <a:endParaRPr lang="en-IN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Save job configuration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31417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Click </a:t>
                      </a:r>
                      <a:r>
                        <a:rPr lang="en-US" sz="2400" b="1"/>
                        <a:t>Build Now</a:t>
                      </a:r>
                      <a:r>
                        <a:rPr lang="en-US" sz="2400"/>
                        <a:t> (left menu)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the job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95905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 to </a:t>
                      </a:r>
                      <a:r>
                        <a:rPr lang="en-US" sz="2400" b="1"/>
                        <a:t>Build History → #1</a:t>
                      </a:r>
                      <a:endParaRPr lang="en-US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latest build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47588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Console Output</a:t>
                      </a:r>
                      <a:endParaRPr lang="en-IN" sz="24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View result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342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49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7708-EE74-4424-A8DE-391A83EF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and File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2A3DE2-131B-EAAE-796D-16CD0813D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325794"/>
              </p:ext>
            </p:extLst>
          </p:nvPr>
        </p:nvGraphicFramePr>
        <p:xfrm>
          <a:off x="725184" y="1690688"/>
          <a:ext cx="10997631" cy="423405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30753">
                  <a:extLst>
                    <a:ext uri="{9D8B030D-6E8A-4147-A177-3AD203B41FA5}">
                      <a16:colId xmlns:a16="http://schemas.microsoft.com/office/drawing/2014/main" val="1963690645"/>
                    </a:ext>
                  </a:extLst>
                </a:gridCol>
                <a:gridCol w="2286002">
                  <a:extLst>
                    <a:ext uri="{9D8B030D-6E8A-4147-A177-3AD203B41FA5}">
                      <a16:colId xmlns:a16="http://schemas.microsoft.com/office/drawing/2014/main" val="3693395083"/>
                    </a:ext>
                  </a:extLst>
                </a:gridCol>
                <a:gridCol w="8180876">
                  <a:extLst>
                    <a:ext uri="{9D8B030D-6E8A-4147-A177-3AD203B41FA5}">
                      <a16:colId xmlns:a16="http://schemas.microsoft.com/office/drawing/2014/main" val="3926392378"/>
                    </a:ext>
                  </a:extLst>
                </a:gridCol>
              </a:tblGrid>
              <a:tr h="57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809146"/>
                  </a:ext>
                </a:extLst>
              </a:tr>
              <a:tr h="148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Open existing job and click </a:t>
                      </a:r>
                      <a:r>
                        <a:rPr lang="en-IN" sz="2400" b="1" dirty="0"/>
                        <a:t>Configure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hello_jenkins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073983"/>
                  </a:ext>
                </a:extLst>
              </a:tr>
              <a:tr h="102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Modify </a:t>
                      </a:r>
                      <a:r>
                        <a:rPr lang="en-IN" sz="2400" b="1" dirty="0"/>
                        <a:t>Execute shell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NAME="C-DAC“</a:t>
                      </a:r>
                    </a:p>
                    <a:p>
                      <a:pPr>
                        <a:buNone/>
                      </a:pPr>
                      <a:r>
                        <a:rPr lang="en-US" sz="2400" dirty="0"/>
                        <a:t>echo "Hello, $NAME. Current date and time is $(date)."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642922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Save and 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Build Now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081691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Check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Console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059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11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373B-B015-7669-50F6-90FF16C2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Output to a File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F2A9EC-5BD3-DB01-8BA5-4B28FD7CE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740373"/>
              </p:ext>
            </p:extLst>
          </p:nvPr>
        </p:nvGraphicFramePr>
        <p:xfrm>
          <a:off x="838200" y="1614607"/>
          <a:ext cx="10515600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44020">
                  <a:extLst>
                    <a:ext uri="{9D8B030D-6E8A-4147-A177-3AD203B41FA5}">
                      <a16:colId xmlns:a16="http://schemas.microsoft.com/office/drawing/2014/main" val="1384507356"/>
                    </a:ext>
                  </a:extLst>
                </a:gridCol>
                <a:gridCol w="1859623">
                  <a:extLst>
                    <a:ext uri="{9D8B030D-6E8A-4147-A177-3AD203B41FA5}">
                      <a16:colId xmlns:a16="http://schemas.microsoft.com/office/drawing/2014/main" val="4220766601"/>
                    </a:ext>
                  </a:extLst>
                </a:gridCol>
                <a:gridCol w="5283057">
                  <a:extLst>
                    <a:ext uri="{9D8B030D-6E8A-4147-A177-3AD203B41FA5}">
                      <a16:colId xmlns:a16="http://schemas.microsoft.com/office/drawing/2014/main" val="7691131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09106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220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Modify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NAME="C-DAC“</a:t>
                      </a:r>
                    </a:p>
                    <a:p>
                      <a:pPr>
                        <a:buNone/>
                      </a:pPr>
                      <a:r>
                        <a:rPr lang="en-US" sz="2400" dirty="0"/>
                        <a:t>echo  "Hello, $NAME. Current date and time is $(date)."   &gt;   /</a:t>
                      </a:r>
                      <a:r>
                        <a:rPr lang="en-US" sz="2400" dirty="0" err="1"/>
                        <a:t>tmp</a:t>
                      </a:r>
                      <a:r>
                        <a:rPr lang="en-US" sz="2400" dirty="0"/>
                        <a:t>/info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Redirect output to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720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Save and 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Click </a:t>
                      </a:r>
                      <a:r>
                        <a:rPr lang="en-IN" sz="2400" b="1" dirty="0"/>
                        <a:t>Build Now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job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66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Check console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Console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May not show message (written to 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69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View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On the terminal: cat  /</a:t>
                      </a:r>
                      <a:r>
                        <a:rPr lang="en-IN" sz="2400" dirty="0" err="1"/>
                        <a:t>tmp</a:t>
                      </a:r>
                      <a:r>
                        <a:rPr lang="en-IN" sz="2400" dirty="0"/>
                        <a:t>/info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89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230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E8D3-7988-DD20-B903-1F3114D5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Job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2DDCD8-5B5B-A008-B749-19954DA83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977218"/>
              </p:ext>
            </p:extLst>
          </p:nvPr>
        </p:nvGraphicFramePr>
        <p:xfrm>
          <a:off x="275689" y="1418994"/>
          <a:ext cx="11640621" cy="522838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8917">
                  <a:extLst>
                    <a:ext uri="{9D8B030D-6E8A-4147-A177-3AD203B41FA5}">
                      <a16:colId xmlns:a16="http://schemas.microsoft.com/office/drawing/2014/main" val="1391891885"/>
                    </a:ext>
                  </a:extLst>
                </a:gridCol>
                <a:gridCol w="6431622">
                  <a:extLst>
                    <a:ext uri="{9D8B030D-6E8A-4147-A177-3AD203B41FA5}">
                      <a16:colId xmlns:a16="http://schemas.microsoft.com/office/drawing/2014/main" val="958988950"/>
                    </a:ext>
                  </a:extLst>
                </a:gridCol>
                <a:gridCol w="4500082">
                  <a:extLst>
                    <a:ext uri="{9D8B030D-6E8A-4147-A177-3AD203B41FA5}">
                      <a16:colId xmlns:a16="http://schemas.microsoft.com/office/drawing/2014/main" val="3149194228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#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Action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Explanation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350549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Open </a:t>
                      </a:r>
                      <a:r>
                        <a:rPr lang="en-IN" sz="2000" b="1"/>
                        <a:t>Dashboard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 to Jenkins home page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518489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Click </a:t>
                      </a:r>
                      <a:r>
                        <a:rPr lang="en-IN" sz="2000" b="1"/>
                        <a:t>+ New Item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a new job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144728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Enter name: hello_jenkins_pipeline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Name of the pipeline job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1724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Select </a:t>
                      </a:r>
                      <a:r>
                        <a:rPr lang="en-IN" sz="2000" b="1"/>
                        <a:t>Pipeline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Choose pipeline job type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1698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Click </a:t>
                      </a:r>
                      <a:r>
                        <a:rPr lang="en-IN" sz="2000" b="1"/>
                        <a:t>OK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Open job configuration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58157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 </a:t>
                      </a:r>
                      <a:r>
                        <a:rPr lang="en-US" sz="2000" b="1"/>
                        <a:t>Pipeline</a:t>
                      </a:r>
                      <a:r>
                        <a:rPr lang="en-US" sz="2000"/>
                        <a:t> section, set </a:t>
                      </a:r>
                      <a:r>
                        <a:rPr lang="en-US" sz="2000" b="1"/>
                        <a:t>Definition</a:t>
                      </a:r>
                      <a:r>
                        <a:rPr lang="en-US" sz="2000"/>
                        <a:t> = Pipeline script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Write pipeline directly in Jenkins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893218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Click </a:t>
                      </a:r>
                      <a:r>
                        <a:rPr lang="en-IN" sz="2000" b="1"/>
                        <a:t>Try sample Pipeline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Load sample pipeline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51465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Select </a:t>
                      </a:r>
                      <a:r>
                        <a:rPr lang="en-IN" sz="2000" b="1"/>
                        <a:t>Hello World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Insert sample code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700408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Click </a:t>
                      </a:r>
                      <a:r>
                        <a:rPr lang="en-IN" sz="2000" b="1"/>
                        <a:t>Save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Save pipeline job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990578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Click </a:t>
                      </a:r>
                      <a:r>
                        <a:rPr lang="en-IN" sz="2000" b="1"/>
                        <a:t>Build Now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 pipeline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514528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Open </a:t>
                      </a:r>
                      <a:r>
                        <a:rPr lang="en-IN" sz="2000" b="1"/>
                        <a:t>Build History → #1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View latest build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82758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Click </a:t>
                      </a:r>
                      <a:r>
                        <a:rPr lang="en-IN" sz="2000" b="1"/>
                        <a:t>Console Output</a:t>
                      </a:r>
                      <a:endParaRPr lang="en-IN" sz="20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See pipeline output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350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284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FF34-0698-E301-481F-E53331D0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Modify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4FD9E-B6D2-CBDD-A9A9-011563E4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echo 'Assemble a new laptop ...'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</a:t>
            </a:r>
            <a:r>
              <a:rPr lang="en-IN" dirty="0" err="1"/>
              <a:t>mkdir</a:t>
            </a:r>
            <a:r>
              <a:rPr lang="en-IN" dirty="0"/>
              <a:t> -p assemble'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'touch assemble/computer.txt'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'echo "Motherboard" &gt;&gt; assemble/computer.txt'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'cat assemble/computer.txt'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'echo "Display" &gt;&gt; assemble/computer.txt'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'cat assemble/computer.txt’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'echo “CPU" &gt;&gt; assemble/computer.txt'</a:t>
            </a:r>
          </a:p>
          <a:p>
            <a:pPr marL="0" indent="0">
              <a:buNone/>
            </a:pPr>
            <a:r>
              <a:rPr lang="en-IN" dirty="0" err="1"/>
              <a:t>sh</a:t>
            </a:r>
            <a:r>
              <a:rPr lang="en-IN" dirty="0"/>
              <a:t> 'cat assemble/computer.txt’</a:t>
            </a:r>
          </a:p>
          <a:p>
            <a:endParaRPr lang="en-IN" dirty="0"/>
          </a:p>
          <a:p>
            <a:r>
              <a:rPr lang="en-IN" dirty="0"/>
              <a:t>Open the output of a job</a:t>
            </a:r>
          </a:p>
          <a:p>
            <a:r>
              <a:rPr lang="en-IN" dirty="0"/>
              <a:t>Workspaces-&gt;http://localhost:8080/job/test-pipeline/5/execution/node/3/ws/-&gt;assemble-&gt;computers.txt</a:t>
            </a:r>
          </a:p>
          <a:p>
            <a:r>
              <a:rPr lang="en-IN" dirty="0"/>
              <a:t>Now run the job multiple times and observe the contents of computers.txt file at the end … We will see accumulation of the contents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438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503C-FA12-74AE-FE7F-CFB95701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Plugins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396FB3-F7A7-B754-C04F-B9D75E35F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820142"/>
              </p:ext>
            </p:extLst>
          </p:nvPr>
        </p:nvGraphicFramePr>
        <p:xfrm>
          <a:off x="838200" y="1461008"/>
          <a:ext cx="10515600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6892">
                  <a:extLst>
                    <a:ext uri="{9D8B030D-6E8A-4147-A177-3AD203B41FA5}">
                      <a16:colId xmlns:a16="http://schemas.microsoft.com/office/drawing/2014/main" val="1362537798"/>
                    </a:ext>
                  </a:extLst>
                </a:gridCol>
                <a:gridCol w="4222679">
                  <a:extLst>
                    <a:ext uri="{9D8B030D-6E8A-4147-A177-3AD203B41FA5}">
                      <a16:colId xmlns:a16="http://schemas.microsoft.com/office/drawing/2014/main" val="4130990869"/>
                    </a:ext>
                  </a:extLst>
                </a:gridCol>
                <a:gridCol w="5816029">
                  <a:extLst>
                    <a:ext uri="{9D8B030D-6E8A-4147-A177-3AD203B41FA5}">
                      <a16:colId xmlns:a16="http://schemas.microsoft.com/office/drawing/2014/main" val="796275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309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Click </a:t>
                      </a:r>
                      <a:r>
                        <a:rPr lang="en-US" sz="2400" b="1"/>
                        <a:t>Manage Jenkins</a:t>
                      </a:r>
                      <a:r>
                        <a:rPr lang="en-US" sz="2400"/>
                        <a:t> (top right)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Opens Jenkins administration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11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Plugins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 to plugin management 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651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 to </a:t>
                      </a:r>
                      <a:r>
                        <a:rPr lang="en-US" sz="2400" b="1"/>
                        <a:t>Available Plugins</a:t>
                      </a:r>
                      <a:r>
                        <a:rPr lang="en-US" sz="2400"/>
                        <a:t> tab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Shows list of installable plugins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98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Search </a:t>
                      </a:r>
                      <a:r>
                        <a:rPr lang="en-IN" sz="2400" b="1"/>
                        <a:t>GitHub Integration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GitHub plugin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95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Select plugin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Tick checkbox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88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Click </a:t>
                      </a:r>
                      <a:r>
                        <a:rPr lang="en-IN" sz="2400" b="1"/>
                        <a:t>Install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Install plugin (Do NOT restart Jenkins)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3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Repeat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Install </a:t>
                      </a:r>
                      <a:r>
                        <a:rPr lang="en-US" sz="2400" b="1" dirty="0"/>
                        <a:t>Docker </a:t>
                      </a:r>
                      <a:r>
                        <a:rPr lang="en-US" sz="2400" b="0" dirty="0"/>
                        <a:t>plugin</a:t>
                      </a:r>
                      <a:r>
                        <a:rPr lang="en-US" sz="2400" dirty="0"/>
                        <a:t> the same 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01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Wait for completion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Plugins will be installed in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81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890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662B-96CC-9741-5314-4DDFBD12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and GitHub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EC182FF-255F-BE39-E451-958852A062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427126"/>
              </p:ext>
            </p:extLst>
          </p:nvPr>
        </p:nvGraphicFramePr>
        <p:xfrm>
          <a:off x="838200" y="1593546"/>
          <a:ext cx="10515600" cy="4846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87166">
                  <a:extLst>
                    <a:ext uri="{9D8B030D-6E8A-4147-A177-3AD203B41FA5}">
                      <a16:colId xmlns:a16="http://schemas.microsoft.com/office/drawing/2014/main" val="697256003"/>
                    </a:ext>
                  </a:extLst>
                </a:gridCol>
                <a:gridCol w="5948737">
                  <a:extLst>
                    <a:ext uri="{9D8B030D-6E8A-4147-A177-3AD203B41FA5}">
                      <a16:colId xmlns:a16="http://schemas.microsoft.com/office/drawing/2014/main" val="3814997911"/>
                    </a:ext>
                  </a:extLst>
                </a:gridCol>
                <a:gridCol w="4079697">
                  <a:extLst>
                    <a:ext uri="{9D8B030D-6E8A-4147-A177-3AD203B41FA5}">
                      <a16:colId xmlns:a16="http://schemas.microsoft.com/office/drawing/2014/main" val="2719217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75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Create repository on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a new empty repo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14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Go to home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90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  clone   &lt;Repository URL&gt;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Download repo to local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78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 &lt;repo-directory&gt;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Enter repository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152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nano   say_hello.sh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new shell script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340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Add script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#!/bin/bash</a:t>
                      </a:r>
                    </a:p>
                    <a:p>
                      <a:pPr>
                        <a:buNone/>
                      </a:pPr>
                      <a:r>
                        <a:rPr lang="en-IN" sz="2400" dirty="0"/>
                        <a:t>echo  “Hello from Git”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940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Save and 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Ctrl+O, Enter, Ctrl+X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19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chmod</a:t>
                      </a:r>
                      <a:r>
                        <a:rPr lang="en-US" sz="2400" b="1" dirty="0"/>
                        <a:t>   </a:t>
                      </a:r>
                      <a:r>
                        <a:rPr lang="en-US" sz="2400" b="1" dirty="0" err="1"/>
                        <a:t>u+x</a:t>
                      </a:r>
                      <a:r>
                        <a:rPr lang="en-US" sz="2400" b="1" dirty="0"/>
                        <a:t>    say_hello.sh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Make script executable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7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95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140E-3219-FECB-E334-7092AD15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and GitHub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AE52B4-C629-C587-5F84-F765DC643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712752"/>
              </p:ext>
            </p:extLst>
          </p:nvPr>
        </p:nvGraphicFramePr>
        <p:xfrm>
          <a:off x="838199" y="1533441"/>
          <a:ext cx="10720227" cy="4023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07814">
                  <a:extLst>
                    <a:ext uri="{9D8B030D-6E8A-4147-A177-3AD203B41FA5}">
                      <a16:colId xmlns:a16="http://schemas.microsoft.com/office/drawing/2014/main" val="1121920826"/>
                    </a:ext>
                  </a:extLst>
                </a:gridCol>
                <a:gridCol w="9912413">
                  <a:extLst>
                    <a:ext uri="{9D8B030D-6E8A-4147-A177-3AD203B41FA5}">
                      <a16:colId xmlns:a16="http://schemas.microsoft.com/office/drawing/2014/main" val="96558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05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config   --global    user.name    "</a:t>
                      </a:r>
                      <a:r>
                        <a:rPr lang="en-IN" sz="2800" b="1" dirty="0">
                          <a:highlight>
                            <a:srgbClr val="FFFF00"/>
                          </a:highlight>
                        </a:rPr>
                        <a:t>Atul Kahate</a:t>
                      </a:r>
                      <a:r>
                        <a:rPr lang="en-IN" sz="2800" b="1" dirty="0"/>
                        <a:t>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884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config   --global    </a:t>
                      </a:r>
                      <a:r>
                        <a:rPr lang="en-IN" sz="2800" b="1" dirty="0" err="1"/>
                        <a:t>user.email</a:t>
                      </a:r>
                      <a:r>
                        <a:rPr lang="en-IN" sz="2800" b="1" dirty="0"/>
                        <a:t>     "</a:t>
                      </a:r>
                      <a:r>
                        <a:rPr lang="en-IN" sz="2800" b="1" dirty="0">
                          <a:highlight>
                            <a:srgbClr val="FFFF00"/>
                          </a:highlight>
                        </a:rPr>
                        <a:t>newdelthis@gmail.com</a:t>
                      </a:r>
                      <a:r>
                        <a:rPr lang="en-IN" sz="2800" b="1" dirty="0"/>
                        <a:t>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45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add    say_hello.sh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30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 commit   -m    "First commit of say hello"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97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45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push   origin   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9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Verify in the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251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143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5605-C662-9942-F377-B7CFD612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and GitHub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5061AF1-AF63-F225-7E2E-52937FF26D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87656"/>
              </p:ext>
            </p:extLst>
          </p:nvPr>
        </p:nvGraphicFramePr>
        <p:xfrm>
          <a:off x="838200" y="1463675"/>
          <a:ext cx="10515600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79634">
                  <a:extLst>
                    <a:ext uri="{9D8B030D-6E8A-4147-A177-3AD203B41FA5}">
                      <a16:colId xmlns:a16="http://schemas.microsoft.com/office/drawing/2014/main" val="51466268"/>
                    </a:ext>
                  </a:extLst>
                </a:gridCol>
                <a:gridCol w="9935966">
                  <a:extLst>
                    <a:ext uri="{9D8B030D-6E8A-4147-A177-3AD203B41FA5}">
                      <a16:colId xmlns:a16="http://schemas.microsoft.com/office/drawing/2014/main" val="2569060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Action (in Jenkins)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791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Dashboard → New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5798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Name: my-github-project → Freestyle project → 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71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Source Code Management → 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742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Paste Your GitHub Repository URL (Must end with .git)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38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Branch specifier → </a:t>
                      </a:r>
                      <a:r>
                        <a:rPr lang="en-IN" sz="2400" b="1" dirty="0"/>
                        <a:t>*/main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565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Save → Build Now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927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Configure → Build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33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Add Build Step → Execute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651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Enter:     </a:t>
                      </a:r>
                      <a:r>
                        <a:rPr lang="en-IN" sz="2400" b="1" dirty="0"/>
                        <a:t>./say_hello.sh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746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Save → Build Now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51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0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F79A-A96E-BF17-C2CB-CD11D0A4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Poll SCM </a:t>
            </a:r>
            <a:br>
              <a:rPr lang="en-IN" dirty="0"/>
            </a:br>
            <a:r>
              <a:rPr lang="en-IN" dirty="0"/>
              <a:t>(</a:t>
            </a:r>
            <a:r>
              <a:rPr lang="en-US" dirty="0"/>
              <a:t>minute hour day-of-month month day-of-week)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4BC866-A0A4-8883-3B8E-B98764E10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238116"/>
              </p:ext>
            </p:extLst>
          </p:nvPr>
        </p:nvGraphicFramePr>
        <p:xfrm>
          <a:off x="838200" y="1561672"/>
          <a:ext cx="10515600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137899">
                  <a:extLst>
                    <a:ext uri="{9D8B030D-6E8A-4147-A177-3AD203B41FA5}">
                      <a16:colId xmlns:a16="http://schemas.microsoft.com/office/drawing/2014/main" val="3370100573"/>
                    </a:ext>
                  </a:extLst>
                </a:gridCol>
                <a:gridCol w="7377701">
                  <a:extLst>
                    <a:ext uri="{9D8B030D-6E8A-4147-A177-3AD203B41FA5}">
                      <a16:colId xmlns:a16="http://schemas.microsoft.com/office/drawing/2014/main" val="643899793"/>
                    </a:ext>
                  </a:extLst>
                </a:gridCol>
              </a:tblGrid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521442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* * * * 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Every minute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949677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* * * 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Every hour (at minute 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540306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0 * * 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Every day at midnight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393434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0 1 * 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First day of every 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066781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0 * *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Every Sunday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18013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8 * *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Every Monday at 8:00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324352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*/5 * * * 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Every 5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138983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*/2 * * 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Every 2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32673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30 9 * * 1-5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Weekdays at 9:30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920899"/>
                  </a:ext>
                </a:extLst>
              </a:tr>
              <a:tr h="40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 18 * * 1-5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Weekdays at 6:00 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055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792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487D-B2CB-F11C-6E36-C311A649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and Docker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C9D7B4-036C-7F89-8221-4F7CAA406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462100"/>
              </p:ext>
            </p:extLst>
          </p:nvPr>
        </p:nvGraphicFramePr>
        <p:xfrm>
          <a:off x="838200" y="1559640"/>
          <a:ext cx="10515600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91292">
                  <a:extLst>
                    <a:ext uri="{9D8B030D-6E8A-4147-A177-3AD203B41FA5}">
                      <a16:colId xmlns:a16="http://schemas.microsoft.com/office/drawing/2014/main" val="3362399544"/>
                    </a:ext>
                  </a:extLst>
                </a:gridCol>
                <a:gridCol w="9124308">
                  <a:extLst>
                    <a:ext uri="{9D8B030D-6E8A-4147-A177-3AD203B41FA5}">
                      <a16:colId xmlns:a16="http://schemas.microsoft.com/office/drawing/2014/main" val="1615801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682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Docker commands require user in docker 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86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Add Jenkins user: </a:t>
                      </a:r>
                      <a:r>
                        <a:rPr lang="en-IN" sz="2400" b="1" dirty="0" err="1"/>
                        <a:t>sudo</a:t>
                      </a:r>
                      <a:r>
                        <a:rPr lang="en-IN" sz="2400" b="1" dirty="0"/>
                        <a:t>    </a:t>
                      </a:r>
                      <a:r>
                        <a:rPr lang="en-IN" sz="2400" b="1" dirty="0" err="1"/>
                        <a:t>usermod</a:t>
                      </a:r>
                      <a:r>
                        <a:rPr lang="en-IN" sz="2400" b="1" dirty="0"/>
                        <a:t>    -</a:t>
                      </a:r>
                      <a:r>
                        <a:rPr lang="en-IN" sz="2400" b="1" dirty="0" err="1"/>
                        <a:t>aG</a:t>
                      </a:r>
                      <a:r>
                        <a:rPr lang="en-IN" sz="2400" b="1" dirty="0"/>
                        <a:t>    docker    </a:t>
                      </a:r>
                      <a:r>
                        <a:rPr lang="en-IN" sz="2400" b="1" dirty="0" err="1"/>
                        <a:t>jenkins</a:t>
                      </a:r>
                      <a:endParaRPr lang="en-IN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3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Restart Jenkins: </a:t>
                      </a:r>
                      <a:r>
                        <a:rPr lang="en-IN" sz="2400" b="1" dirty="0" err="1"/>
                        <a:t>sudo</a:t>
                      </a:r>
                      <a:r>
                        <a:rPr lang="en-IN" sz="2400" b="1" dirty="0"/>
                        <a:t>    </a:t>
                      </a:r>
                      <a:r>
                        <a:rPr lang="en-IN" sz="2400" b="1" dirty="0" err="1"/>
                        <a:t>systemctl</a:t>
                      </a:r>
                      <a:r>
                        <a:rPr lang="en-IN" sz="2400" b="1" dirty="0"/>
                        <a:t>    restart    </a:t>
                      </a:r>
                      <a:r>
                        <a:rPr lang="en-IN" sz="2400" b="1" dirty="0" err="1"/>
                        <a:t>jenkins</a:t>
                      </a:r>
                      <a:endParaRPr lang="en-IN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647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Dashboard → Manage Jenkins → Plugins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98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Available Plugins → Search </a:t>
                      </a:r>
                      <a:r>
                        <a:rPr lang="en-IN" sz="2400" b="1" dirty="0"/>
                        <a:t>docker pipeline</a:t>
                      </a:r>
                      <a:r>
                        <a:rPr lang="en-IN" sz="2400" dirty="0"/>
                        <a:t> → Install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860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Also install </a:t>
                      </a:r>
                      <a:r>
                        <a:rPr lang="en-US" sz="2400" b="1" dirty="0"/>
                        <a:t>GitHub Integration</a:t>
                      </a:r>
                      <a:r>
                        <a:rPr lang="en-US" sz="2400" dirty="0"/>
                        <a:t> plugin (if not already installed)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8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05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A4FC-3D6F-7B6E-8C83-07F15A5F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and Docker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C6991A-56EF-F374-3F7A-F59C585180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058529"/>
              </p:ext>
            </p:extLst>
          </p:nvPr>
        </p:nvGraphicFramePr>
        <p:xfrm>
          <a:off x="331672" y="1322191"/>
          <a:ext cx="11421963" cy="539812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204430">
                  <a:extLst>
                    <a:ext uri="{9D8B030D-6E8A-4147-A177-3AD203B41FA5}">
                      <a16:colId xmlns:a16="http://schemas.microsoft.com/office/drawing/2014/main" val="4204653505"/>
                    </a:ext>
                  </a:extLst>
                </a:gridCol>
                <a:gridCol w="10217533">
                  <a:extLst>
                    <a:ext uri="{9D8B030D-6E8A-4147-A177-3AD203B41FA5}">
                      <a16:colId xmlns:a16="http://schemas.microsoft.com/office/drawing/2014/main" val="2491682307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505871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Fork repo: https://github.com/newdelthis/docker_jenkins_first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951717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~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818220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  clone   &lt;repo URL&gt;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132957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</a:t>
                      </a:r>
                      <a:r>
                        <a:rPr lang="en-IN" sz="2400" b="1" dirty="0" err="1"/>
                        <a:t>docker_Jenkins_first</a:t>
                      </a:r>
                      <a:endParaRPr lang="en-IN" sz="2400" b="1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97161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View file: </a:t>
                      </a:r>
                      <a:r>
                        <a:rPr lang="en-IN" sz="2400" b="1" dirty="0"/>
                        <a:t>nano  </a:t>
                      </a:r>
                      <a:r>
                        <a:rPr lang="en-IN" sz="2400" b="1" dirty="0" err="1"/>
                        <a:t>Jenkinsfile</a:t>
                      </a:r>
                      <a:endParaRPr lang="en-IN" sz="2400" b="1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78664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View file: </a:t>
                      </a:r>
                      <a:r>
                        <a:rPr lang="en-US" sz="2400" b="1" dirty="0"/>
                        <a:t>nano  hello.py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79681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View file: </a:t>
                      </a:r>
                      <a:r>
                        <a:rPr lang="en-IN" sz="2400" b="1" dirty="0"/>
                        <a:t>nano  </a:t>
                      </a:r>
                      <a:r>
                        <a:rPr lang="en-IN" sz="2400" b="1" dirty="0" err="1"/>
                        <a:t>Dockerfile</a:t>
                      </a:r>
                      <a:endParaRPr lang="en-IN" sz="2400" b="1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58025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8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  add   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45669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9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git   commit   -m   "Jenkins with Docker"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852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  push   origin   main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33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553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70B1-AF89-6709-87F1-3887FBF8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Jenkinsfile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35630-12D2-3F24-B53C-A9D40D0AC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pipeline {</a:t>
            </a:r>
          </a:p>
          <a:p>
            <a:r>
              <a:rPr lang="en-IN" dirty="0"/>
              <a:t>    agent any</a:t>
            </a:r>
          </a:p>
          <a:p>
            <a:endParaRPr lang="en-IN" dirty="0"/>
          </a:p>
          <a:p>
            <a:r>
              <a:rPr lang="en-IN" dirty="0"/>
              <a:t>    environment {</a:t>
            </a:r>
          </a:p>
          <a:p>
            <a:r>
              <a:rPr lang="en-IN" dirty="0"/>
              <a:t>        DOCKER_IMAGE = '</a:t>
            </a:r>
            <a:r>
              <a:rPr lang="en-IN" dirty="0" err="1"/>
              <a:t>hello-world-python:latest</a:t>
            </a:r>
            <a:r>
              <a:rPr lang="en-IN" dirty="0"/>
              <a:t>' // Docker image name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stages {</a:t>
            </a:r>
          </a:p>
          <a:p>
            <a:r>
              <a:rPr lang="en-IN" dirty="0"/>
              <a:t>        stage('Checkout') {</a:t>
            </a:r>
          </a:p>
          <a:p>
            <a:r>
              <a:rPr lang="en-IN" dirty="0"/>
              <a:t>            steps {</a:t>
            </a:r>
          </a:p>
          <a:p>
            <a:r>
              <a:rPr lang="en-IN" dirty="0"/>
              <a:t>                git branch: 'main', url: 'https://github.com/</a:t>
            </a:r>
            <a:r>
              <a:rPr lang="en-IN" dirty="0" err="1"/>
              <a:t>newdelthis</a:t>
            </a:r>
            <a:r>
              <a:rPr lang="en-IN" dirty="0"/>
              <a:t>/</a:t>
            </a:r>
            <a:r>
              <a:rPr lang="en-IN" dirty="0" err="1"/>
              <a:t>jenkins_docker_python_hello_world.git</a:t>
            </a:r>
            <a:r>
              <a:rPr lang="en-IN" dirty="0"/>
              <a:t>'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stage('Docker Build') {</a:t>
            </a:r>
          </a:p>
          <a:p>
            <a:r>
              <a:rPr lang="en-IN" dirty="0"/>
              <a:t>            steps {</a:t>
            </a:r>
          </a:p>
          <a:p>
            <a:r>
              <a:rPr lang="en-IN" dirty="0"/>
              <a:t>                script {</a:t>
            </a:r>
          </a:p>
          <a:p>
            <a:r>
              <a:rPr lang="en-IN" dirty="0"/>
              <a:t>                    // Check if </a:t>
            </a:r>
            <a:r>
              <a:rPr lang="en-IN" dirty="0" err="1"/>
              <a:t>Dockerfile</a:t>
            </a:r>
            <a:r>
              <a:rPr lang="en-IN" dirty="0"/>
              <a:t> exists</a:t>
            </a:r>
          </a:p>
          <a:p>
            <a:r>
              <a:rPr lang="en-IN" dirty="0"/>
              <a:t>                    if (</a:t>
            </a:r>
            <a:r>
              <a:rPr lang="en-IN" dirty="0" err="1"/>
              <a:t>fileExists</a:t>
            </a:r>
            <a:r>
              <a:rPr lang="en-IN" dirty="0"/>
              <a:t>('</a:t>
            </a:r>
            <a:r>
              <a:rPr lang="en-IN" dirty="0" err="1"/>
              <a:t>Dockerfile</a:t>
            </a:r>
            <a:r>
              <a:rPr lang="en-IN" dirty="0"/>
              <a:t>')) {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sh</a:t>
            </a:r>
            <a:r>
              <a:rPr lang="en-IN" dirty="0"/>
              <a:t> "docker build -t ${</a:t>
            </a:r>
            <a:r>
              <a:rPr lang="en-IN" dirty="0" err="1"/>
              <a:t>env.DOCKER_IMAGE</a:t>
            </a:r>
            <a:r>
              <a:rPr lang="en-IN" dirty="0"/>
              <a:t>} ."</a:t>
            </a:r>
          </a:p>
          <a:p>
            <a:r>
              <a:rPr lang="en-IN" dirty="0"/>
              <a:t>                    } else {</a:t>
            </a:r>
          </a:p>
          <a:p>
            <a:r>
              <a:rPr lang="en-IN" dirty="0"/>
              <a:t>                        error "</a:t>
            </a:r>
            <a:r>
              <a:rPr lang="en-IN" dirty="0" err="1"/>
              <a:t>Dockerfile</a:t>
            </a:r>
            <a:r>
              <a:rPr lang="en-IN" dirty="0"/>
              <a:t> not found in the workspace. Please create one for your Python application."</a:t>
            </a:r>
          </a:p>
          <a:p>
            <a:r>
              <a:rPr lang="en-IN" dirty="0"/>
              <a:t>                    }</a:t>
            </a:r>
          </a:p>
          <a:p>
            <a:r>
              <a:rPr lang="en-IN" dirty="0"/>
              <a:t>                }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stage('Docker Run (Optional)') {</a:t>
            </a:r>
          </a:p>
          <a:p>
            <a:r>
              <a:rPr lang="en-IN" dirty="0"/>
              <a:t>            steps {</a:t>
            </a:r>
          </a:p>
          <a:p>
            <a:r>
              <a:rPr lang="en-IN" dirty="0"/>
              <a:t>                </a:t>
            </a:r>
            <a:r>
              <a:rPr lang="en-IN" dirty="0" err="1"/>
              <a:t>sh</a:t>
            </a:r>
            <a:r>
              <a:rPr lang="en-IN" dirty="0"/>
              <a:t> "docker run --rm ${</a:t>
            </a:r>
            <a:r>
              <a:rPr lang="en-IN" dirty="0" err="1"/>
              <a:t>env.DOCKER_IMAGE</a:t>
            </a:r>
            <a:r>
              <a:rPr lang="en-IN" dirty="0"/>
              <a:t>}"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post {</a:t>
            </a:r>
          </a:p>
          <a:p>
            <a:r>
              <a:rPr lang="en-IN" dirty="0"/>
              <a:t>        success {</a:t>
            </a:r>
          </a:p>
          <a:p>
            <a:r>
              <a:rPr lang="en-IN" dirty="0"/>
              <a:t>            echo 'Python application Docker image built successfully.'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failure {</a:t>
            </a:r>
          </a:p>
          <a:p>
            <a:r>
              <a:rPr lang="en-IN" dirty="0"/>
              <a:t>            echo 'Docker build or run failed.'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255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2E99-13E8-3748-9E25-735D8E0F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E720-8C1C-EED9-0CFE-01FA06223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	python:3.9-slim-buster</a:t>
            </a:r>
          </a:p>
          <a:p>
            <a:r>
              <a:rPr lang="en-IN" dirty="0"/>
              <a:t>WORKDIR 		/app</a:t>
            </a:r>
          </a:p>
          <a:p>
            <a:r>
              <a:rPr lang="en-IN" dirty="0"/>
              <a:t>COPY 	hello.py 	/app</a:t>
            </a:r>
          </a:p>
          <a:p>
            <a:r>
              <a:rPr lang="en-IN" dirty="0"/>
              <a:t>CMD 	["python3",   "hello.py"]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1193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4F51-E768-01EA-195D-BA5A5C0D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Jenkins Job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9C2751-C016-75F3-FC1A-714601909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609755"/>
              </p:ext>
            </p:extLst>
          </p:nvPr>
        </p:nvGraphicFramePr>
        <p:xfrm>
          <a:off x="653265" y="1405015"/>
          <a:ext cx="11120919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058488">
                  <a:extLst>
                    <a:ext uri="{9D8B030D-6E8A-4147-A177-3AD203B41FA5}">
                      <a16:colId xmlns:a16="http://schemas.microsoft.com/office/drawing/2014/main" val="3679834094"/>
                    </a:ext>
                  </a:extLst>
                </a:gridCol>
                <a:gridCol w="10062431">
                  <a:extLst>
                    <a:ext uri="{9D8B030D-6E8A-4147-A177-3AD203B41FA5}">
                      <a16:colId xmlns:a16="http://schemas.microsoft.com/office/drawing/2014/main" val="309528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03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Dashboard → New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039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Name: jenkins_docker_hello_world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607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Select </a:t>
                      </a:r>
                      <a:r>
                        <a:rPr lang="en-IN" sz="2400" b="1"/>
                        <a:t>Pipeline</a:t>
                      </a:r>
                      <a:r>
                        <a:rPr lang="en-IN" sz="2400"/>
                        <a:t> → 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13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Pipeline → Definition: </a:t>
                      </a:r>
                      <a:r>
                        <a:rPr lang="en-US" sz="2400" b="1"/>
                        <a:t>Pipeline script from SCM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58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SCM: </a:t>
                      </a:r>
                      <a:r>
                        <a:rPr lang="en-IN" sz="2400" b="1"/>
                        <a:t>Git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6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Repository URL: https://github.com/</a:t>
                      </a: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newdelthis</a:t>
                      </a:r>
                      <a:r>
                        <a:rPr lang="en-US" sz="2400" dirty="0"/>
                        <a:t>/docker_jenkins_first.git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79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Branch Specifier:   */main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546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67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Click </a:t>
                      </a:r>
                      <a:r>
                        <a:rPr lang="en-IN" sz="2400" b="1" dirty="0"/>
                        <a:t>Build Now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860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248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24D0-F209-630B-C1D3-C5BF7503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Build-Push Docker Image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AD9AEC5-8FA2-7F62-1A3E-7475DDDC8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503960"/>
              </p:ext>
            </p:extLst>
          </p:nvPr>
        </p:nvGraphicFramePr>
        <p:xfrm>
          <a:off x="569695" y="1370815"/>
          <a:ext cx="11052609" cy="5306995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076477">
                  <a:extLst>
                    <a:ext uri="{9D8B030D-6E8A-4147-A177-3AD203B41FA5}">
                      <a16:colId xmlns:a16="http://schemas.microsoft.com/office/drawing/2014/main" val="1148149121"/>
                    </a:ext>
                  </a:extLst>
                </a:gridCol>
                <a:gridCol w="9976132">
                  <a:extLst>
                    <a:ext uri="{9D8B030D-6E8A-4147-A177-3AD203B41FA5}">
                      <a16:colId xmlns:a16="http://schemas.microsoft.com/office/drawing/2014/main" val="4284099916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Action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202644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Open: https://github.com/newdelthis/docker_jenkins_demo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361787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Click </a:t>
                      </a:r>
                      <a:r>
                        <a:rPr lang="en-US" sz="2400" b="1" dirty="0"/>
                        <a:t>Fork</a:t>
                      </a:r>
                      <a:r>
                        <a:rPr lang="en-US" sz="2400" dirty="0"/>
                        <a:t> (top-right) → copy to your account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67435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~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36121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clone </a:t>
                      </a:r>
                      <a:r>
                        <a:rPr lang="en-IN" sz="2400" dirty="0">
                          <a:hlinkClick r:id="rId2"/>
                        </a:rPr>
                        <a:t>https://github.com/&lt;your-username&gt;/docker_jenkins_demo.git</a:t>
                      </a:r>
                      <a:endParaRPr lang="en-IN" sz="24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7633168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</a:t>
                      </a:r>
                      <a:r>
                        <a:rPr lang="en-IN" sz="2400" b="1" dirty="0" err="1"/>
                        <a:t>docker_jenkins_demo</a:t>
                      </a:r>
                      <a:endParaRPr lang="en-IN" sz="2400" b="1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61608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nano  </a:t>
                      </a:r>
                      <a:r>
                        <a:rPr lang="en-IN" sz="2400" b="1" dirty="0" err="1"/>
                        <a:t>Jenkinsfile</a:t>
                      </a:r>
                      <a:endParaRPr lang="en-IN" sz="2400" b="1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44758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Update values: GIT_REPOSITORY_URL, DOCKER_IMAGE_NAME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764867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  add   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578688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git   commit   -m    "updated </a:t>
                      </a:r>
                      <a:r>
                        <a:rPr lang="en-US" sz="2400" b="1" dirty="0" err="1"/>
                        <a:t>Jenkinsfile</a:t>
                      </a:r>
                      <a:r>
                        <a:rPr lang="en-US" sz="2400" b="1" dirty="0"/>
                        <a:t>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93177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git    push    origin    main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841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444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DB93-33E2-E461-F245-12EC377E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Credentials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3136F-B4A4-8FC6-C806-EECAF5C48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157311"/>
              </p:ext>
            </p:extLst>
          </p:nvPr>
        </p:nvGraphicFramePr>
        <p:xfrm>
          <a:off x="612169" y="1471797"/>
          <a:ext cx="10515600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555678">
                  <a:extLst>
                    <a:ext uri="{9D8B030D-6E8A-4147-A177-3AD203B41FA5}">
                      <a16:colId xmlns:a16="http://schemas.microsoft.com/office/drawing/2014/main" val="1834165562"/>
                    </a:ext>
                  </a:extLst>
                </a:gridCol>
                <a:gridCol w="8959922">
                  <a:extLst>
                    <a:ext uri="{9D8B030D-6E8A-4147-A177-3AD203B41FA5}">
                      <a16:colId xmlns:a16="http://schemas.microsoft.com/office/drawing/2014/main" val="2028493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7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Jenkins UI → Dashboard → Manage Jenkins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16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 to </a:t>
                      </a:r>
                      <a:r>
                        <a:rPr lang="en-IN" sz="2400" b="1"/>
                        <a:t>Credentials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873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Under </a:t>
                      </a:r>
                      <a:r>
                        <a:rPr lang="en-US" sz="2400" b="1"/>
                        <a:t>Global</a:t>
                      </a:r>
                      <a:r>
                        <a:rPr lang="en-US" sz="2400"/>
                        <a:t> domain → Add Credentials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60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Scope: </a:t>
                      </a:r>
                      <a:r>
                        <a:rPr lang="en-IN" sz="2400" b="1"/>
                        <a:t>Global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609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Username: Your </a:t>
                      </a:r>
                      <a:r>
                        <a:rPr lang="en-IN" sz="2400" dirty="0" err="1"/>
                        <a:t>DockerHub</a:t>
                      </a:r>
                      <a:r>
                        <a:rPr lang="en-IN" sz="2400" dirty="0"/>
                        <a:t>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88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Password: Your </a:t>
                      </a:r>
                      <a:r>
                        <a:rPr lang="en-IN" sz="2400" dirty="0" err="1"/>
                        <a:t>DockerHub</a:t>
                      </a:r>
                      <a:r>
                        <a:rPr lang="en-IN" sz="2400" dirty="0"/>
                        <a:t>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498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ID: </a:t>
                      </a:r>
                      <a:r>
                        <a:rPr lang="en-IN" sz="2400" b="1" dirty="0"/>
                        <a:t>my-docker-hub-credentials-id</a:t>
                      </a:r>
                      <a:r>
                        <a:rPr lang="en-IN" sz="2400" dirty="0"/>
                        <a:t> (Must match with </a:t>
                      </a:r>
                      <a:r>
                        <a:rPr lang="en-IN" sz="2400" dirty="0" err="1"/>
                        <a:t>Jenkinsfile</a:t>
                      </a:r>
                      <a:r>
                        <a:rPr lang="en-IN" sz="2400" dirty="0"/>
                        <a:t>, e.g. </a:t>
                      </a:r>
                      <a:r>
                        <a:rPr lang="en-IN" sz="2400" dirty="0" err="1"/>
                        <a:t>credentialsId</a:t>
                      </a:r>
                      <a:r>
                        <a:rPr lang="en-IN" sz="2400" dirty="0"/>
                        <a:t>: 'my-docker-hub-credentials-id')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797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Click </a:t>
                      </a:r>
                      <a:r>
                        <a:rPr lang="en-IN" sz="2400" b="1" dirty="0"/>
                        <a:t>Create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58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388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D260-F9EF-C091-5EA9-A2AE17E3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Jenkins Job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6EAC32C-15E6-5913-A52E-DD9F39916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460166"/>
              </p:ext>
            </p:extLst>
          </p:nvPr>
        </p:nvGraphicFramePr>
        <p:xfrm>
          <a:off x="838200" y="1338747"/>
          <a:ext cx="11131193" cy="5608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36488">
                  <a:extLst>
                    <a:ext uri="{9D8B030D-6E8A-4147-A177-3AD203B41FA5}">
                      <a16:colId xmlns:a16="http://schemas.microsoft.com/office/drawing/2014/main" val="2893641834"/>
                    </a:ext>
                  </a:extLst>
                </a:gridCol>
                <a:gridCol w="10294705">
                  <a:extLst>
                    <a:ext uri="{9D8B030D-6E8A-4147-A177-3AD203B41FA5}">
                      <a16:colId xmlns:a16="http://schemas.microsoft.com/office/drawing/2014/main" val="1514375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5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Dashboard → New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561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Name: build-publish-docker-image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16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Select </a:t>
                      </a:r>
                      <a:r>
                        <a:rPr lang="en-IN" sz="2800" b="1"/>
                        <a:t>Pipeline</a:t>
                      </a:r>
                      <a:r>
                        <a:rPr lang="en-IN" sz="2800"/>
                        <a:t> → 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721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Pipeline → Definition: </a:t>
                      </a:r>
                      <a:r>
                        <a:rPr lang="en-US" sz="2800" b="1"/>
                        <a:t>Pipeline script from SCM</a:t>
                      </a:r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135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SCM: </a:t>
                      </a:r>
                      <a:r>
                        <a:rPr lang="en-IN" sz="2800" b="1"/>
                        <a:t>Git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782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Repository URL: https://github.com/&lt;your-username&gt;/docker_jenkins_demo.git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964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Branch Specifier: */main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11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67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Click </a:t>
                      </a:r>
                      <a:r>
                        <a:rPr lang="en-IN" sz="2800" b="1" dirty="0"/>
                        <a:t>Build Now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804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814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D44F-AB96-0738-58E5-777DE429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Docker Permission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84B42-0AC8-806F-2173-6DB09DC33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	</a:t>
            </a:r>
            <a:r>
              <a:rPr lang="en-IN" dirty="0" err="1"/>
              <a:t>groupadd</a:t>
            </a:r>
            <a:r>
              <a:rPr lang="en-IN" dirty="0"/>
              <a:t> 	docker</a:t>
            </a:r>
          </a:p>
          <a:p>
            <a:r>
              <a:rPr lang="en-IN" dirty="0" err="1"/>
              <a:t>sudo</a:t>
            </a:r>
            <a:r>
              <a:rPr lang="en-IN" dirty="0"/>
              <a:t> 	</a:t>
            </a:r>
            <a:r>
              <a:rPr lang="en-IN" dirty="0" err="1"/>
              <a:t>usermod</a:t>
            </a:r>
            <a:r>
              <a:rPr lang="en-IN" dirty="0"/>
              <a:t> 	-</a:t>
            </a:r>
            <a:r>
              <a:rPr lang="en-IN" dirty="0" err="1"/>
              <a:t>aG</a:t>
            </a:r>
            <a:r>
              <a:rPr lang="en-IN" dirty="0"/>
              <a:t> 	docker 	</a:t>
            </a:r>
            <a:r>
              <a:rPr lang="en-IN" dirty="0" err="1"/>
              <a:t>jenkins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	</a:t>
            </a:r>
            <a:r>
              <a:rPr lang="en-IN" dirty="0" err="1"/>
              <a:t>chmod</a:t>
            </a:r>
            <a:r>
              <a:rPr lang="en-IN" dirty="0"/>
              <a:t> 	777 	/var/run/</a:t>
            </a:r>
            <a:r>
              <a:rPr lang="en-IN" dirty="0" err="1"/>
              <a:t>docker.sock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	</a:t>
            </a:r>
            <a:r>
              <a:rPr lang="en-IN" dirty="0" err="1"/>
              <a:t>systemctl</a:t>
            </a:r>
            <a:r>
              <a:rPr lang="en-IN" dirty="0"/>
              <a:t> 	restart 	</a:t>
            </a:r>
            <a:r>
              <a:rPr lang="en-IN" dirty="0" err="1"/>
              <a:t>jenkins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009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63EC-C7FF-58CA-453C-FBC3475A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63FEA-3DE4-74EA-54F5-21214B12D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CI/CD pipeline using Jenkins, Docker, and GitHub to automate the web by using the NGINX image.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5583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BC6E-AA0C-C978-3C75-BBF42F2F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7140C-0405-34B3-8A3E-0F833DBDD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Create a new GitHub repository, clone on to the local machine, add index.html (</a:t>
            </a:r>
            <a:r>
              <a:rPr lang="en-IN" dirty="0">
                <a:solidFill>
                  <a:srgbClr val="C00000"/>
                </a:solidFill>
              </a:rPr>
              <a:t>Hello from C-DAC</a:t>
            </a:r>
            <a:r>
              <a:rPr lang="en-IN" dirty="0"/>
              <a:t>) and </a:t>
            </a:r>
            <a:r>
              <a:rPr lang="en-IN" dirty="0" err="1"/>
              <a:t>Dockerfile</a:t>
            </a:r>
            <a:r>
              <a:rPr lang="en-IN" dirty="0"/>
              <a:t> and push it back to GitHub</a:t>
            </a:r>
          </a:p>
          <a:p>
            <a:r>
              <a:rPr lang="en-IN" dirty="0" err="1"/>
              <a:t>Dockerfile</a:t>
            </a:r>
            <a:r>
              <a:rPr lang="en-IN" dirty="0"/>
              <a:t>:</a:t>
            </a:r>
          </a:p>
          <a:p>
            <a:r>
              <a:rPr lang="en-IN" dirty="0">
                <a:solidFill>
                  <a:srgbClr val="C00000"/>
                </a:solidFill>
              </a:rPr>
              <a:t>FROM </a:t>
            </a:r>
            <a:r>
              <a:rPr lang="en-IN" dirty="0" err="1">
                <a:solidFill>
                  <a:srgbClr val="C00000"/>
                </a:solidFill>
              </a:rPr>
              <a:t>nginx:latest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COPY index.html /</a:t>
            </a:r>
            <a:r>
              <a:rPr lang="en-IN" dirty="0" err="1">
                <a:solidFill>
                  <a:srgbClr val="C00000"/>
                </a:solidFill>
              </a:rPr>
              <a:t>usr</a:t>
            </a:r>
            <a:r>
              <a:rPr lang="en-IN" dirty="0">
                <a:solidFill>
                  <a:srgbClr val="C00000"/>
                </a:solidFill>
              </a:rPr>
              <a:t>/share/nginx/html/</a:t>
            </a:r>
          </a:p>
          <a:p>
            <a:r>
              <a:rPr lang="en-IN" dirty="0">
                <a:solidFill>
                  <a:srgbClr val="C00000"/>
                </a:solidFill>
              </a:rPr>
              <a:t>EXPOSE 80</a:t>
            </a:r>
          </a:p>
          <a:p>
            <a:r>
              <a:rPr lang="en-IN" dirty="0"/>
              <a:t>In Jenkins, ensure Docker and GitHub plugins are installed</a:t>
            </a:r>
          </a:p>
          <a:p>
            <a:r>
              <a:rPr lang="en-IN" dirty="0"/>
              <a:t>Create a new pipeline job</a:t>
            </a:r>
          </a:p>
          <a:p>
            <a:r>
              <a:rPr lang="en-IN" dirty="0"/>
              <a:t>Pipeline </a:t>
            </a:r>
            <a:r>
              <a:rPr lang="en-IN" dirty="0" err="1"/>
              <a:t>Jenkinsfile</a:t>
            </a:r>
            <a:r>
              <a:rPr lang="en-IN" dirty="0"/>
              <a:t> as an example on the next slide</a:t>
            </a:r>
          </a:p>
          <a:p>
            <a:r>
              <a:rPr lang="en-IN" dirty="0"/>
              <a:t>Go to Jenkins &gt; Manage Jenkins &gt; Manage Credentials.</a:t>
            </a:r>
          </a:p>
          <a:p>
            <a:pPr lvl="1"/>
            <a:r>
              <a:rPr lang="en-IN" dirty="0"/>
              <a:t>Add a Username/Password credential with your Docker Hub credentials (your-</a:t>
            </a:r>
            <a:r>
              <a:rPr lang="en-IN" dirty="0" err="1"/>
              <a:t>dockerhub</a:t>
            </a:r>
            <a:r>
              <a:rPr lang="en-IN" dirty="0"/>
              <a:t>-username and your-</a:t>
            </a:r>
            <a:r>
              <a:rPr lang="en-IN" dirty="0" err="1"/>
              <a:t>dockerhub</a:t>
            </a:r>
            <a:r>
              <a:rPr lang="en-IN" dirty="0"/>
              <a:t>-password)</a:t>
            </a:r>
          </a:p>
          <a:p>
            <a:pPr lvl="1"/>
            <a:r>
              <a:rPr lang="en-IN" dirty="0"/>
              <a:t>Use docker-hub-credentials as the ID of the credentials</a:t>
            </a:r>
          </a:p>
          <a:p>
            <a:r>
              <a:rPr lang="en-IN" dirty="0"/>
              <a:t>Trigger the pipeline</a:t>
            </a:r>
          </a:p>
          <a:p>
            <a:r>
              <a:rPr lang="en-IN" dirty="0"/>
              <a:t>Browser: localhost:80</a:t>
            </a:r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3673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424F-1620-4167-5B03-7B87A083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Jenkinsfile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E65C-C85F-C9A7-62B1-FC073977F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dirty="0"/>
              <a:t>pipeline {</a:t>
            </a:r>
          </a:p>
          <a:p>
            <a:r>
              <a:rPr lang="en-GB" dirty="0"/>
              <a:t>    agent any</a:t>
            </a:r>
          </a:p>
          <a:p>
            <a:endParaRPr lang="en-GB" dirty="0"/>
          </a:p>
          <a:p>
            <a:r>
              <a:rPr lang="en-GB" dirty="0"/>
              <a:t>    environment {</a:t>
            </a:r>
          </a:p>
          <a:p>
            <a:r>
              <a:rPr lang="en-GB" dirty="0"/>
              <a:t>        DOCKER_IMAGE = '</a:t>
            </a:r>
            <a:r>
              <a:rPr lang="en-GB" dirty="0" err="1"/>
              <a:t>mynginx</a:t>
            </a:r>
            <a:r>
              <a:rPr lang="en-GB" dirty="0"/>
              <a:t>/webapp'</a:t>
            </a:r>
          </a:p>
          <a:p>
            <a:r>
              <a:rPr lang="en-GB" dirty="0"/>
              <a:t>        DOCKER_HUB_USERNAME = 'your-</a:t>
            </a:r>
            <a:r>
              <a:rPr lang="en-GB" dirty="0" err="1"/>
              <a:t>dockerhub</a:t>
            </a:r>
            <a:r>
              <a:rPr lang="en-GB" dirty="0"/>
              <a:t>-username'</a:t>
            </a:r>
          </a:p>
          <a:p>
            <a:r>
              <a:rPr lang="en-GB" dirty="0"/>
              <a:t>        DOCKER_HUB_PASSWORD = credentials('docker-hub-password-id')  // Create Jenkins credentials for Docker Hub</a:t>
            </a:r>
          </a:p>
          <a:p>
            <a:r>
              <a:rPr lang="en-GB" dirty="0"/>
              <a:t>        GITHUB_REPO = 'https://github.com/your-username/your-</a:t>
            </a:r>
            <a:r>
              <a:rPr lang="en-GB" dirty="0" err="1"/>
              <a:t>repository.git</a:t>
            </a:r>
            <a:r>
              <a:rPr lang="en-GB" dirty="0"/>
              <a:t>'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stages {</a:t>
            </a:r>
          </a:p>
          <a:p>
            <a:r>
              <a:rPr lang="en-GB" dirty="0"/>
              <a:t>        stage('Clone Repository') {</a:t>
            </a:r>
          </a:p>
          <a:p>
            <a:r>
              <a:rPr lang="en-GB" dirty="0"/>
              <a:t>            steps {</a:t>
            </a:r>
          </a:p>
          <a:p>
            <a:r>
              <a:rPr lang="en-GB" dirty="0"/>
              <a:t>                git url: "$GITHUB_REPO", branch: 'main'</a:t>
            </a:r>
          </a:p>
          <a:p>
            <a:r>
              <a:rPr lang="en-GB" dirty="0"/>
              <a:t>            }</a:t>
            </a:r>
          </a:p>
          <a:p>
            <a:r>
              <a:rPr lang="en-GB" dirty="0"/>
              <a:t>        }</a:t>
            </a:r>
          </a:p>
          <a:p>
            <a:endParaRPr lang="en-GB" dirty="0"/>
          </a:p>
          <a:p>
            <a:r>
              <a:rPr lang="en-GB" dirty="0"/>
              <a:t>        stage('Build Docker Image') {</a:t>
            </a:r>
          </a:p>
          <a:p>
            <a:r>
              <a:rPr lang="en-GB" dirty="0"/>
              <a:t>            steps {</a:t>
            </a:r>
          </a:p>
          <a:p>
            <a:r>
              <a:rPr lang="en-GB" dirty="0"/>
              <a:t>                script {</a:t>
            </a:r>
          </a:p>
          <a:p>
            <a:r>
              <a:rPr lang="en-GB" dirty="0"/>
              <a:t>                    // Build the NGINX Docker image</a:t>
            </a:r>
          </a:p>
          <a:p>
            <a:r>
              <a:rPr lang="en-GB" dirty="0"/>
              <a:t>                    </a:t>
            </a:r>
            <a:r>
              <a:rPr lang="en-GB" dirty="0" err="1"/>
              <a:t>docker.build</a:t>
            </a:r>
            <a:r>
              <a:rPr lang="en-GB" dirty="0"/>
              <a:t>("$DOCKER_IMAGE", "-f </a:t>
            </a:r>
            <a:r>
              <a:rPr lang="en-GB" dirty="0" err="1"/>
              <a:t>Dockerfile</a:t>
            </a:r>
            <a:r>
              <a:rPr lang="en-GB" dirty="0"/>
              <a:t> .")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}</a:t>
            </a:r>
          </a:p>
          <a:p>
            <a:r>
              <a:rPr lang="en-GB" dirty="0"/>
              <a:t>        }</a:t>
            </a:r>
          </a:p>
          <a:p>
            <a:endParaRPr lang="en-GB" dirty="0"/>
          </a:p>
          <a:p>
            <a:r>
              <a:rPr lang="en-GB" dirty="0"/>
              <a:t>        stage('Push Docker Image to Docker Hub') {</a:t>
            </a:r>
          </a:p>
          <a:p>
            <a:r>
              <a:rPr lang="en-GB" dirty="0"/>
              <a:t>            steps {</a:t>
            </a:r>
          </a:p>
          <a:p>
            <a:r>
              <a:rPr lang="en-GB" dirty="0"/>
              <a:t>                script {</a:t>
            </a:r>
          </a:p>
          <a:p>
            <a:r>
              <a:rPr lang="en-GB" dirty="0"/>
              <a:t>                    // Log in to Docker Hub</a:t>
            </a:r>
          </a:p>
          <a:p>
            <a:r>
              <a:rPr lang="en-GB" dirty="0"/>
              <a:t>                    </a:t>
            </a:r>
            <a:r>
              <a:rPr lang="en-GB" dirty="0" err="1"/>
              <a:t>docker.withRegistry</a:t>
            </a:r>
            <a:r>
              <a:rPr lang="en-GB" dirty="0"/>
              <a:t>('https://index.docker.io/v1/', 'docker-hub-credentials') {</a:t>
            </a:r>
          </a:p>
          <a:p>
            <a:r>
              <a:rPr lang="en-GB" dirty="0"/>
              <a:t>                        </a:t>
            </a:r>
            <a:r>
              <a:rPr lang="en-GB" dirty="0" err="1"/>
              <a:t>docker.image</a:t>
            </a:r>
            <a:r>
              <a:rPr lang="en-GB" dirty="0"/>
              <a:t>("$DOCKER_IMAGE").push()</a:t>
            </a:r>
          </a:p>
          <a:p>
            <a:r>
              <a:rPr lang="en-GB" dirty="0"/>
              <a:t>                    }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}</a:t>
            </a:r>
          </a:p>
          <a:p>
            <a:r>
              <a:rPr lang="en-GB" dirty="0"/>
              <a:t>        }</a:t>
            </a:r>
          </a:p>
          <a:p>
            <a:endParaRPr lang="en-GB" dirty="0"/>
          </a:p>
          <a:p>
            <a:r>
              <a:rPr lang="en-GB" dirty="0"/>
              <a:t>        stage('Deploy to Docker') {</a:t>
            </a:r>
          </a:p>
          <a:p>
            <a:r>
              <a:rPr lang="en-GB" dirty="0"/>
              <a:t>            steps {</a:t>
            </a:r>
          </a:p>
          <a:p>
            <a:r>
              <a:rPr lang="en-GB" dirty="0"/>
              <a:t>                script {</a:t>
            </a:r>
          </a:p>
          <a:p>
            <a:r>
              <a:rPr lang="en-GB" dirty="0"/>
              <a:t>                    // Stop and remove the existing container (if any)</a:t>
            </a:r>
          </a:p>
          <a:p>
            <a:r>
              <a:rPr lang="en-GB" dirty="0"/>
              <a:t>                    </a:t>
            </a:r>
            <a:r>
              <a:rPr lang="en-GB" dirty="0" err="1"/>
              <a:t>sh</a:t>
            </a:r>
            <a:r>
              <a:rPr lang="en-GB" dirty="0"/>
              <a:t> 'docker rm -f webapp-container || true'</a:t>
            </a:r>
          </a:p>
          <a:p>
            <a:endParaRPr lang="en-GB" dirty="0"/>
          </a:p>
          <a:p>
            <a:r>
              <a:rPr lang="en-GB" dirty="0"/>
              <a:t>                    // Run the new Docker container</a:t>
            </a:r>
          </a:p>
          <a:p>
            <a:r>
              <a:rPr lang="en-GB" dirty="0"/>
              <a:t>                    </a:t>
            </a:r>
            <a:r>
              <a:rPr lang="en-GB" dirty="0" err="1"/>
              <a:t>sh</a:t>
            </a:r>
            <a:r>
              <a:rPr lang="en-GB" dirty="0"/>
              <a:t> 'docker run -d -p 80:80 --name webapp-container $DOCKER_IMAGE'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}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post {</a:t>
            </a:r>
          </a:p>
          <a:p>
            <a:r>
              <a:rPr lang="en-GB" dirty="0"/>
              <a:t>        success {</a:t>
            </a:r>
          </a:p>
          <a:p>
            <a:r>
              <a:rPr lang="en-GB" dirty="0"/>
              <a:t>            echo 'Pipeline successfully executed.'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    failure {</a:t>
            </a:r>
          </a:p>
          <a:p>
            <a:r>
              <a:rPr lang="en-GB" dirty="0"/>
              <a:t>            echo 'Pipeline failed.'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922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246B-F847-9FF7-8150-2214855B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B1DB-73DB-2061-EBB4-C513BF347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CI/CD pipeline using Jenkins, Docker, and GitHub to automate the web by using the </a:t>
            </a:r>
            <a:r>
              <a:rPr lang="en-IN" dirty="0"/>
              <a:t>NGINX image.</a:t>
            </a:r>
          </a:p>
        </p:txBody>
      </p:sp>
    </p:spTree>
    <p:extLst>
      <p:ext uri="{BB962C8B-B14F-4D97-AF65-F5344CB8AC3E}">
        <p14:creationId xmlns:p14="http://schemas.microsoft.com/office/powerpoint/2010/main" val="1017628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E1E2-9664-B0B1-B453-3591C23D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B6896-DB20-5E28-A870-FF4CA2133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nginx:alpine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# Copy our static web content into the NGINX default HTML directory</a:t>
            </a:r>
          </a:p>
          <a:p>
            <a:pPr marL="0" indent="0">
              <a:buNone/>
            </a:pPr>
            <a:r>
              <a:rPr lang="en-IN" dirty="0"/>
              <a:t># Create an 'html' directory in our GitHub repo and place our index.html there</a:t>
            </a:r>
          </a:p>
          <a:p>
            <a:pPr marL="0" indent="0">
              <a:buNone/>
            </a:pPr>
            <a:r>
              <a:rPr lang="en-IN" dirty="0"/>
              <a:t>COPY ./html 	/</a:t>
            </a:r>
            <a:r>
              <a:rPr lang="en-IN" dirty="0" err="1"/>
              <a:t>usr</a:t>
            </a:r>
            <a:r>
              <a:rPr lang="en-IN" dirty="0"/>
              <a:t>/share/nginx/html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Expose port 80, which NGINX listens on by default</a:t>
            </a:r>
          </a:p>
          <a:p>
            <a:pPr marL="0" indent="0">
              <a:buNone/>
            </a:pPr>
            <a:r>
              <a:rPr lang="en-IN" dirty="0"/>
              <a:t>EXPOSE 80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913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482F-9538-FA01-FA64-51A028EC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/html/index.html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67DB4-61A1-8386-EFDC-A305810AB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Welcome to C-DAC – Replacing nginx Home Page</a:t>
            </a:r>
          </a:p>
        </p:txBody>
      </p:sp>
    </p:spTree>
    <p:extLst>
      <p:ext uri="{BB962C8B-B14F-4D97-AF65-F5344CB8AC3E}">
        <p14:creationId xmlns:p14="http://schemas.microsoft.com/office/powerpoint/2010/main" val="1498393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5C61-C065-1161-FA4B-EAC9F7E3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Jenkinsfile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52D9-7620-D83B-2477-4D6EB11E8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pipeline {</a:t>
            </a:r>
          </a:p>
          <a:p>
            <a:r>
              <a:rPr lang="en-IN" dirty="0"/>
              <a:t>    agent any</a:t>
            </a:r>
          </a:p>
          <a:p>
            <a:r>
              <a:rPr lang="en-IN" dirty="0"/>
              <a:t>    environment {</a:t>
            </a:r>
          </a:p>
          <a:p>
            <a:r>
              <a:rPr lang="en-IN" dirty="0"/>
              <a:t>        DOCKER_REGISTRY = "docker.io"</a:t>
            </a:r>
          </a:p>
          <a:p>
            <a:r>
              <a:rPr lang="en-IN" dirty="0"/>
              <a:t>        DOCKER_USERNAME = "YOUR_DOCKERHUB_USERNAME"</a:t>
            </a:r>
          </a:p>
          <a:p>
            <a:r>
              <a:rPr lang="en-IN" dirty="0"/>
              <a:t>        IMAGE_NAME = "${DOCKER_USERNAME}/your-nginx-app"</a:t>
            </a:r>
          </a:p>
          <a:p>
            <a:r>
              <a:rPr lang="en-IN" dirty="0"/>
              <a:t>        DOCKER_CREDENTIALS_ID = "YOUR_JENKINS_DOCKERHUB_CREDENTIALS_ID"</a:t>
            </a:r>
          </a:p>
          <a:p>
            <a:r>
              <a:rPr lang="en-IN" dirty="0"/>
              <a:t>    }</a:t>
            </a:r>
          </a:p>
          <a:p>
            <a:r>
              <a:rPr lang="en-IN" dirty="0"/>
              <a:t>    stages {</a:t>
            </a:r>
          </a:p>
          <a:p>
            <a:r>
              <a:rPr lang="en-IN" dirty="0"/>
              <a:t>        // Stage 1: Checkout </a:t>
            </a:r>
            <a:r>
              <a:rPr lang="en-IN" dirty="0" err="1"/>
              <a:t>github</a:t>
            </a:r>
            <a:r>
              <a:rPr lang="en-IN" dirty="0"/>
              <a:t> repo</a:t>
            </a:r>
          </a:p>
          <a:p>
            <a:r>
              <a:rPr lang="en-IN" dirty="0"/>
              <a:t>        stage('Checkout') {</a:t>
            </a:r>
          </a:p>
          <a:p>
            <a:r>
              <a:rPr lang="en-IN" dirty="0"/>
              <a:t>            steps {</a:t>
            </a:r>
          </a:p>
          <a:p>
            <a:r>
              <a:rPr lang="en-IN" dirty="0"/>
              <a:t>                script {</a:t>
            </a:r>
          </a:p>
          <a:p>
            <a:r>
              <a:rPr lang="en-IN" dirty="0"/>
              <a:t>                    git branch: 'main', url: 'YOUR_GITHUB_REPO_URL'</a:t>
            </a:r>
          </a:p>
          <a:p>
            <a:r>
              <a:rPr lang="en-IN" dirty="0"/>
              <a:t>                }</a:t>
            </a:r>
          </a:p>
          <a:p>
            <a:r>
              <a:rPr lang="en-IN" dirty="0"/>
              <a:t>                echo 'Repository cloned.'</a:t>
            </a:r>
          </a:p>
          <a:p>
            <a:r>
              <a:rPr lang="en-IN" dirty="0"/>
              <a:t>            }</a:t>
            </a:r>
          </a:p>
          <a:p>
            <a:r>
              <a:rPr lang="en-IN" dirty="0"/>
              <a:t>        }</a:t>
            </a:r>
          </a:p>
          <a:p>
            <a:r>
              <a:rPr lang="en-IN" dirty="0"/>
              <a:t>        // Stage 2: Build Docker Image</a:t>
            </a:r>
          </a:p>
          <a:p>
            <a:r>
              <a:rPr lang="en-IN" dirty="0"/>
              <a:t>        stage('Build Docker Image') {</a:t>
            </a:r>
          </a:p>
          <a:p>
            <a:r>
              <a:rPr lang="en-IN" dirty="0"/>
              <a:t>            steps {</a:t>
            </a:r>
          </a:p>
          <a:p>
            <a:r>
              <a:rPr lang="en-IN" dirty="0"/>
              <a:t>                echo 'Building Docker image...'</a:t>
            </a:r>
          </a:p>
          <a:p>
            <a:r>
              <a:rPr lang="en-IN" dirty="0"/>
              <a:t>                script {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sh</a:t>
            </a:r>
            <a:r>
              <a:rPr lang="en-IN" dirty="0"/>
              <a:t> "docker build -t ${IMAGE_NAME}:1.0 ."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sh</a:t>
            </a:r>
            <a:r>
              <a:rPr lang="en-IN" dirty="0"/>
              <a:t> "docker tag ${IMAGE_NAME}:1.0 ${IMAGE_NAME}:1.0"</a:t>
            </a:r>
          </a:p>
          <a:p>
            <a:r>
              <a:rPr lang="en-IN" dirty="0"/>
              <a:t>                    echo "Docker image built successfully."</a:t>
            </a:r>
          </a:p>
          <a:p>
            <a:r>
              <a:rPr lang="en-IN" dirty="0"/>
              <a:t>                }</a:t>
            </a:r>
          </a:p>
          <a:p>
            <a:r>
              <a:rPr lang="en-IN" dirty="0"/>
              <a:t>            }</a:t>
            </a:r>
          </a:p>
          <a:p>
            <a:r>
              <a:rPr lang="en-IN" dirty="0"/>
              <a:t>        }</a:t>
            </a:r>
          </a:p>
          <a:p>
            <a:r>
              <a:rPr lang="en-IN" dirty="0"/>
              <a:t>        // Stage 3: Push Docker Image to Registry (Optional but Recommended)</a:t>
            </a:r>
          </a:p>
          <a:p>
            <a:r>
              <a:rPr lang="en-IN" dirty="0"/>
              <a:t>        stage('Push Docker Image') {</a:t>
            </a:r>
          </a:p>
          <a:p>
            <a:r>
              <a:rPr lang="en-IN" dirty="0"/>
              <a:t>            steps {</a:t>
            </a:r>
          </a:p>
          <a:p>
            <a:r>
              <a:rPr lang="en-IN" dirty="0"/>
              <a:t>                echo 'Pushing Docker image to Docker Hub...'</a:t>
            </a:r>
          </a:p>
          <a:p>
            <a:r>
              <a:rPr lang="en-IN" dirty="0"/>
              <a:t>                script {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withDockerRegistry</a:t>
            </a:r>
            <a:r>
              <a:rPr lang="en-IN" dirty="0"/>
              <a:t>(</a:t>
            </a:r>
            <a:r>
              <a:rPr lang="en-IN" dirty="0" err="1"/>
              <a:t>credentialsId</a:t>
            </a:r>
            <a:r>
              <a:rPr lang="en-IN" dirty="0"/>
              <a:t>: DOCKER_CREDENTIALS_ID, url: "https://${DOCKER_REGISTRY}") {</a:t>
            </a:r>
          </a:p>
          <a:p>
            <a:r>
              <a:rPr lang="en-IN" dirty="0"/>
              <a:t>                        </a:t>
            </a:r>
            <a:r>
              <a:rPr lang="en-IN" dirty="0" err="1"/>
              <a:t>sh</a:t>
            </a:r>
            <a:r>
              <a:rPr lang="en-IN" dirty="0"/>
              <a:t> "docker push ${IMAGE_NAME}:1.0"</a:t>
            </a:r>
          </a:p>
          <a:p>
            <a:r>
              <a:rPr lang="en-IN" dirty="0"/>
              <a:t>                    }</a:t>
            </a:r>
          </a:p>
          <a:p>
            <a:r>
              <a:rPr lang="en-IN" dirty="0"/>
              <a:t>                    echo "Docker image pushed to Docker Hub."</a:t>
            </a:r>
          </a:p>
          <a:p>
            <a:r>
              <a:rPr lang="en-IN" dirty="0"/>
              <a:t>                }</a:t>
            </a:r>
          </a:p>
          <a:p>
            <a:r>
              <a:rPr lang="en-IN" dirty="0"/>
              <a:t>            }</a:t>
            </a:r>
          </a:p>
          <a:p>
            <a:r>
              <a:rPr lang="en-IN" dirty="0"/>
              <a:t>        }</a:t>
            </a:r>
          </a:p>
          <a:p>
            <a:r>
              <a:rPr lang="en-IN" dirty="0"/>
              <a:t>        // Stage 4: Deploy Docker Container</a:t>
            </a:r>
          </a:p>
          <a:p>
            <a:r>
              <a:rPr lang="en-IN" dirty="0"/>
              <a:t>        stage('Deploy Application') {</a:t>
            </a:r>
          </a:p>
          <a:p>
            <a:r>
              <a:rPr lang="en-IN" dirty="0"/>
              <a:t>            steps {</a:t>
            </a:r>
          </a:p>
          <a:p>
            <a:r>
              <a:rPr lang="en-IN" dirty="0"/>
              <a:t>                echo 'Deploying application...'</a:t>
            </a:r>
          </a:p>
          <a:p>
            <a:r>
              <a:rPr lang="en-IN" dirty="0"/>
              <a:t>                script {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sh</a:t>
            </a:r>
            <a:r>
              <a:rPr lang="en-IN" dirty="0"/>
              <a:t> 'docker stop nginx-app-container || true' // '|| true' prevents error if container doesn't exist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sh</a:t>
            </a:r>
            <a:r>
              <a:rPr lang="en-IN" dirty="0"/>
              <a:t> 'docker rm nginx-app-container || true'</a:t>
            </a:r>
          </a:p>
          <a:p>
            <a:r>
              <a:rPr lang="en-IN" dirty="0"/>
              <a:t>                    // Pull the latest image (ensure it's available locally or from registry)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sh</a:t>
            </a:r>
            <a:r>
              <a:rPr lang="en-IN" dirty="0"/>
              <a:t> "docker pull ${IMAGE_NAME}:1.0"</a:t>
            </a:r>
          </a:p>
          <a:p>
            <a:r>
              <a:rPr lang="en-IN" dirty="0"/>
              <a:t>                    </a:t>
            </a:r>
            <a:r>
              <a:rPr lang="en-IN" dirty="0" err="1"/>
              <a:t>sh</a:t>
            </a:r>
            <a:r>
              <a:rPr lang="en-IN" dirty="0"/>
              <a:t> "docker run -d -p 8080:80 --name nginx-app-container ${IMAGE_NAME}:1.0"</a:t>
            </a:r>
          </a:p>
          <a:p>
            <a:r>
              <a:rPr lang="en-IN" dirty="0"/>
              <a:t>                    echo "Application deployed. Access it at http://localhost:8080"</a:t>
            </a:r>
          </a:p>
          <a:p>
            <a:r>
              <a:rPr lang="en-IN" dirty="0"/>
              <a:t>                }</a:t>
            </a:r>
          </a:p>
          <a:p>
            <a:r>
              <a:rPr lang="en-IN" dirty="0"/>
              <a:t>            }</a:t>
            </a:r>
          </a:p>
          <a:p>
            <a:r>
              <a:rPr lang="en-IN" dirty="0"/>
              <a:t>        }</a:t>
            </a:r>
          </a:p>
          <a:p>
            <a:r>
              <a:rPr lang="en-IN"/>
              <a:t>   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99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2794</TotalTime>
  <Words>2797</Words>
  <Application>Microsoft Office PowerPoint</Application>
  <PresentationFormat>Widescreen</PresentationFormat>
  <Paragraphs>675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Jenkins</vt:lpstr>
      <vt:lpstr>Why Jenkins?</vt:lpstr>
      <vt:lpstr>End-to-End Flow</vt:lpstr>
      <vt:lpstr>Installation</vt:lpstr>
      <vt:lpstr>Jenkins Job Types</vt:lpstr>
      <vt:lpstr>Hello Jenkins</vt:lpstr>
      <vt:lpstr>Variables and File Output</vt:lpstr>
      <vt:lpstr>Write Output to a File</vt:lpstr>
      <vt:lpstr>Pipeline Job</vt:lpstr>
      <vt:lpstr>Modify Pipeline</vt:lpstr>
      <vt:lpstr>Plugins</vt:lpstr>
      <vt:lpstr>Jenkins and GitHub</vt:lpstr>
      <vt:lpstr>Jenkins and GitHub</vt:lpstr>
      <vt:lpstr>Jenkins and GitHub</vt:lpstr>
      <vt:lpstr>Poll SCM  (minute hour day-of-month month day-of-week)</vt:lpstr>
      <vt:lpstr>Jenkins and Docker</vt:lpstr>
      <vt:lpstr>Jenkins and Docker</vt:lpstr>
      <vt:lpstr>Jenkinsfile</vt:lpstr>
      <vt:lpstr>Dockerfile</vt:lpstr>
      <vt:lpstr>Run Jenkins Job</vt:lpstr>
      <vt:lpstr>Build-Push Docker Image</vt:lpstr>
      <vt:lpstr>Credentials</vt:lpstr>
      <vt:lpstr>Run Jenkins Job</vt:lpstr>
      <vt:lpstr>For Docker Permission Errors</vt:lpstr>
      <vt:lpstr>Problem</vt:lpstr>
      <vt:lpstr>Solution</vt:lpstr>
      <vt:lpstr>Jenkinsfile</vt:lpstr>
      <vt:lpstr>Lab Question</vt:lpstr>
      <vt:lpstr>Dockerfile</vt:lpstr>
      <vt:lpstr>/html/index.html</vt:lpstr>
      <vt:lpstr>Jenkinsfile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16</cp:revision>
  <dcterms:created xsi:type="dcterms:W3CDTF">2026-03-26T12:28:15Z</dcterms:created>
  <dcterms:modified xsi:type="dcterms:W3CDTF">2026-04-27T11:08:07Z</dcterms:modified>
</cp:coreProperties>
</file>