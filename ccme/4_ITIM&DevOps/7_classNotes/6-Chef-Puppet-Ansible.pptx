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1" r:id="rId6"/>
    <p:sldId id="280" r:id="rId7"/>
    <p:sldId id="1266" r:id="rId8"/>
    <p:sldId id="282" r:id="rId9"/>
    <p:sldId id="628" r:id="rId10"/>
    <p:sldId id="629" r:id="rId11"/>
    <p:sldId id="630" r:id="rId12"/>
    <p:sldId id="632" r:id="rId13"/>
    <p:sldId id="633" r:id="rId14"/>
    <p:sldId id="634" r:id="rId15"/>
    <p:sldId id="1264" r:id="rId16"/>
    <p:sldId id="1100" r:id="rId17"/>
    <p:sldId id="637" r:id="rId18"/>
    <p:sldId id="1094" r:id="rId19"/>
    <p:sldId id="1095" r:id="rId20"/>
    <p:sldId id="1265" r:id="rId21"/>
    <p:sldId id="1096" r:id="rId22"/>
    <p:sldId id="1074" r:id="rId23"/>
    <p:sldId id="1075" r:id="rId24"/>
    <p:sldId id="1076" r:id="rId25"/>
    <p:sldId id="1077" r:id="rId26"/>
    <p:sldId id="1099" r:id="rId27"/>
    <p:sldId id="1078" r:id="rId28"/>
    <p:sldId id="1079" r:id="rId29"/>
    <p:sldId id="1080" r:id="rId30"/>
    <p:sldId id="1081" r:id="rId31"/>
    <p:sldId id="1082" r:id="rId32"/>
    <p:sldId id="1083" r:id="rId33"/>
    <p:sldId id="1084" r:id="rId34"/>
    <p:sldId id="1085" r:id="rId35"/>
    <p:sldId id="257" r:id="rId36"/>
    <p:sldId id="258" r:id="rId37"/>
    <p:sldId id="260" r:id="rId38"/>
    <p:sldId id="263" r:id="rId39"/>
    <p:sldId id="261" r:id="rId40"/>
    <p:sldId id="266" r:id="rId41"/>
    <p:sldId id="264" r:id="rId42"/>
    <p:sldId id="276" r:id="rId43"/>
    <p:sldId id="265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  <p:sldId id="27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F937-6FE7-2B67-25FA-5B751F23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E3235-AF88-0489-14AB-95A53B41E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6BA42-9B78-3FEA-0962-F6526635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070AF-E38F-0551-FB08-D59AAE92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2B6AB-405F-F987-4DA6-5833F4D7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42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EE3B-5C6D-2A37-F95A-34069E14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7EBBF-B062-1EFB-4C21-53BCF59C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A667-F1D6-76EB-6D07-BF6D604F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2EA6-AD6F-9B2B-04CD-E5E1E172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DDFD1-5F36-307A-2481-D5872395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94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36E8-1591-2BF3-8F32-46C48D94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2F50F-32AA-9C96-0B67-34BB6029A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1E255-12C4-5B83-A69E-C091B4BC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BDA5D-3459-029C-6DE3-C8B4A355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661D-5691-4BD1-8041-304C839D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6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A9EA-95FD-AE7D-C85A-D2AD2544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B25A-2373-66D5-0BDE-8B015BF65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89F2A-87A8-743A-DCCD-949B4C77D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DF0EF-040B-9857-4B75-0071BBBE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B3092-3456-71C6-9F35-503F2FDC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8562E-F7C8-3C9C-2BDA-D250BC9B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9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BACF0-3170-5A8F-C35D-1DC15F0D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4922D-BB23-0879-9F7C-A6EA490F6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367D0-DF5C-3DF4-10F2-06077C5E6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3B713-DDB8-87C0-DA73-098D03CD7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95770-CB6A-5638-7453-A1CC78CCC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DE3DB-1F67-A65A-DEC6-B2315E10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F8DA8-FD70-3C0A-7168-2D925283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831DA-83BB-C56B-1652-D9652DFD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31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251D-7D45-29DB-C193-A84F5F44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09DF6-6833-3B21-BBF0-FF20D464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BF66B-2A1A-3B9A-8D98-9C02AA90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8E04-F278-AEC3-FABA-0F41AC5B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25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1110B-D3E0-6FAD-861D-4A386175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8F193-7631-90FA-5990-176AACD8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E2812-A99A-CAC8-12D9-26B4A011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28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E7E6-4E46-24E8-1794-C9DAEBE27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42345-494E-4E95-071D-9FD69A9A0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4C1E3-7B04-5EF2-BAD9-3F76AEAC5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798DB-457A-9CCB-8082-F680B4A7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A4B0D-C0D7-A865-0168-C775245B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43780-F29C-9C5F-9B69-7F42AB05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8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A7E2-A4B4-B7B8-EC6C-041F98EF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A5E9A-AF17-B1CF-6518-02175BD5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9F514-34C8-1E3F-CB9E-C95592713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BC93B-651D-FD14-E0A2-3A9B9B22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64828-032E-5E1C-CE75-4D137EC8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A374C-A8DE-9FA9-7514-90AFC3AC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2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DC5E-11A0-1698-1F95-4987B5F6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61F4F-D948-217B-A73E-90386A29D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E9B5E-111E-E392-8163-DA74991D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1846-DC48-53EC-DA34-919F6A23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410C-DB7F-94D1-7E7E-ACB7EE7D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05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6AAEC-D354-3FD1-4146-425DB24F6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3D979-90A7-BAB9-9201-ACDBB18D7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44CA-F9CB-4BDB-36E6-2CD94B63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CF146-466E-3BAF-6244-B296C31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9D8D2-C119-62E3-9532-AA679EC9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7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278D3-2D60-F0ED-5120-81F5D04E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7C913-B72F-F44F-8783-41E758A7B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5138A-710F-7B8B-ACE1-94EA1E451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D75C1-5B6C-4926-A6EB-D807E888C20A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75CB6-3C75-82A1-2FA0-8B9642185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FDFD4-5DB1-55E5-491B-D6FE29193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EA758-9E62-4280-8F6A-0702F50D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61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97985/desktop-computer-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97985/desktop-computer-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atul@192.168.0.187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1619-6E70-D567-45BA-1D1CE0720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Chef-Puppet-Ansible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07C53-27D2-26BE-D645-AD4289C81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620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1A9A-BB4E-E479-AE7C-C9D30D9E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25"/>
            <a:ext cx="10515600" cy="698641"/>
          </a:xfrm>
        </p:spPr>
        <p:txBody>
          <a:bodyPr/>
          <a:lstStyle/>
          <a:p>
            <a:r>
              <a:rPr lang="en-IN" dirty="0"/>
              <a:t>Configuration Management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8233A3-59FB-1DFE-5D8E-F47A787FC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17270"/>
              </p:ext>
            </p:extLst>
          </p:nvPr>
        </p:nvGraphicFramePr>
        <p:xfrm>
          <a:off x="381642" y="859853"/>
          <a:ext cx="11628848" cy="589778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228811">
                  <a:extLst>
                    <a:ext uri="{9D8B030D-6E8A-4147-A177-3AD203B41FA5}">
                      <a16:colId xmlns:a16="http://schemas.microsoft.com/office/drawing/2014/main" val="638892215"/>
                    </a:ext>
                  </a:extLst>
                </a:gridCol>
                <a:gridCol w="9400037">
                  <a:extLst>
                    <a:ext uri="{9D8B030D-6E8A-4147-A177-3AD203B41FA5}">
                      <a16:colId xmlns:a16="http://schemas.microsoft.com/office/drawing/2014/main" val="3512212735"/>
                    </a:ext>
                  </a:extLst>
                </a:gridCol>
              </a:tblGrid>
              <a:tr h="26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Aspect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537381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Purpose</a:t>
                      </a:r>
                      <a:endParaRPr lang="en-IN" sz="2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Automate configuration, deployment, and management of servers and infrastructure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412560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 Tools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Chef, Puppet, Ansible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430178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Core Function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 infrastructure as code and apply it consistently across multiple machines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83834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Typical Tasks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 software, manage users, configure services, enforce system settings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956831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 Use Case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Install Apache on 10 machines or create a user account on 100 machines simultaneously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59667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Execution Model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Centralized control – executed from a single control node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695402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Manual Effort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Eliminates need to configure each machine individually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79376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Scalability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Easily scales to manage hundreds or thousands of servers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374417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Consistency</a:t>
                      </a:r>
                      <a:endParaRPr lang="en-IN" sz="24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Ensures identical configuration across all systems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0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77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B00D-BBB6-875E-7445-29C590F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5078"/>
          </a:xfrm>
        </p:spPr>
        <p:txBody>
          <a:bodyPr>
            <a:normAutofit fontScale="90000"/>
          </a:bodyPr>
          <a:lstStyle/>
          <a:p>
            <a:r>
              <a:rPr lang="en-IN" dirty="0"/>
              <a:t>Imperative vs Declarative Scripts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F86C85-0EB6-9E04-65FA-AD4A7425C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749285"/>
              </p:ext>
            </p:extLst>
          </p:nvPr>
        </p:nvGraphicFramePr>
        <p:xfrm>
          <a:off x="183222" y="607550"/>
          <a:ext cx="11825555" cy="56429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15124">
                  <a:extLst>
                    <a:ext uri="{9D8B030D-6E8A-4147-A177-3AD203B41FA5}">
                      <a16:colId xmlns:a16="http://schemas.microsoft.com/office/drawing/2014/main" val="4167732506"/>
                    </a:ext>
                  </a:extLst>
                </a:gridCol>
                <a:gridCol w="4730998">
                  <a:extLst>
                    <a:ext uri="{9D8B030D-6E8A-4147-A177-3AD203B41FA5}">
                      <a16:colId xmlns:a16="http://schemas.microsoft.com/office/drawing/2014/main" val="2211761928"/>
                    </a:ext>
                  </a:extLst>
                </a:gridCol>
                <a:gridCol w="4679433">
                  <a:extLst>
                    <a:ext uri="{9D8B030D-6E8A-4147-A177-3AD203B41FA5}">
                      <a16:colId xmlns:a16="http://schemas.microsoft.com/office/drawing/2014/main" val="1134962806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Aspect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Imperative (Scripts)</a:t>
                      </a:r>
                      <a:endParaRPr lang="en-IN" sz="24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Declarative (Automation Tools)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8337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Approach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Focus on </a:t>
                      </a:r>
                      <a:r>
                        <a:rPr lang="en-US" sz="2400" b="1"/>
                        <a:t>how to do it</a:t>
                      </a:r>
                      <a:r>
                        <a:rPr lang="en-US" sz="2400"/>
                        <a:t> (step-by-step instructions)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Focus on </a:t>
                      </a:r>
                      <a:r>
                        <a:rPr lang="en-US" sz="2400" b="1"/>
                        <a:t>what the final state should be</a:t>
                      </a:r>
                      <a:endParaRPr lang="en-US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018694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 Tools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Bash, Shell Scripts, Python scripts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Ansible, Chef, Puppet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328011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Control Style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Manual logic, explicit steps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Tool decides execution steps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370157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Complexity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Becomes complex as logic grows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Simpler, concise definitions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999764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Error Handling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Must be handled manually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Built-in handling (idempotent)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674363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Reusability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Limited, often script-specific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Highly reusable and modular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85991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Scalability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Harder to scale across many machines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Designed for large-scale infrastructure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41718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State Awareness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 awareness of current system state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Ensures desired state automatically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791187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 Goal</a:t>
                      </a:r>
                      <a:endParaRPr lang="en-IN" sz="24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steps to create a user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Declare that a user </a:t>
                      </a:r>
                      <a:r>
                        <a:rPr lang="en-US" sz="2400" b="1" dirty="0"/>
                        <a:t>must exist</a:t>
                      </a:r>
                      <a:endParaRPr lang="en-US" sz="24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28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54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961C-CE06-F443-DB09-234755C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Imperative versus Declarative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BA54B-4CC1-AD3E-9599-259E506D1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Imperative (Script)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C6C3F6-6003-AE9F-8C3C-A7F90D8943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#!/bin/bash</a:t>
            </a:r>
          </a:p>
          <a:p>
            <a:pPr marL="0" indent="0">
              <a:buNone/>
            </a:pPr>
            <a:r>
              <a:rPr lang="en-US" dirty="0"/>
              <a:t>if id "</a:t>
            </a:r>
            <a:r>
              <a:rPr lang="en-US" dirty="0" err="1"/>
              <a:t>sam</a:t>
            </a:r>
            <a:r>
              <a:rPr lang="en-US" dirty="0"/>
              <a:t>" &amp;&gt;/dev/null; then</a:t>
            </a:r>
          </a:p>
          <a:p>
            <a:pPr marL="0" indent="0">
              <a:buNone/>
            </a:pPr>
            <a:r>
              <a:rPr lang="en-US" dirty="0"/>
              <a:t>    echo "User exists"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useradd</a:t>
            </a:r>
            <a:r>
              <a:rPr lang="en-US" dirty="0"/>
              <a:t> </a:t>
            </a:r>
            <a:r>
              <a:rPr lang="en-US" dirty="0" err="1"/>
              <a:t>sam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fi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35BA3-7843-AE97-D620-C9F6C32C2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Declarative (Ansible-style)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F8D7CE-1CE2-ADA7-2118-431D3D598E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name: Ensure user exists</a:t>
            </a:r>
          </a:p>
          <a:p>
            <a:pPr marL="0" indent="0">
              <a:buNone/>
            </a:pPr>
            <a:r>
              <a:rPr lang="en-US" dirty="0"/>
              <a:t>  user:</a:t>
            </a:r>
          </a:p>
          <a:p>
            <a:pPr marL="0" indent="0">
              <a:buNone/>
            </a:pPr>
            <a:r>
              <a:rPr lang="en-US" dirty="0"/>
              <a:t>    name: </a:t>
            </a:r>
            <a:r>
              <a:rPr lang="en-US" dirty="0" err="1"/>
              <a:t>sam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state: present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78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2CF312-DFF3-2968-64D4-BCFA65FD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Pull Model (Chef/Puppet)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50D24E-FB35-21C2-BAC4-388C422AC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20785" y="3010329"/>
            <a:ext cx="1101150" cy="1081880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9003738-B419-02B8-984F-AA7F512F2537}"/>
              </a:ext>
            </a:extLst>
          </p:cNvPr>
          <p:cNvSpPr txBox="1"/>
          <p:nvPr/>
        </p:nvSpPr>
        <p:spPr>
          <a:xfrm>
            <a:off x="7489583" y="4244560"/>
            <a:ext cx="196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/>
              <a:t>Chef/Puppet Server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057D5-D414-7C9A-62ED-B00D0E417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76869" y="2111651"/>
            <a:ext cx="1101150" cy="1081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923BEE-417D-8BD1-46F5-BCD70900C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19788" y="2111651"/>
            <a:ext cx="1101150" cy="1081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BA0A8C-C13A-899B-64F3-25BB0B491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62707" y="2111651"/>
            <a:ext cx="1101150" cy="1081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B1820C-70BE-5E63-D2DF-DA55FA3CC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5913" y="3210718"/>
            <a:ext cx="1101150" cy="10818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10E8C3-2423-235B-7BF1-22DD797AF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08832" y="3210718"/>
            <a:ext cx="1101150" cy="1081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EAB8DC-10AF-BADD-0434-0E5C3615E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51751" y="3210718"/>
            <a:ext cx="1101150" cy="10818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5B5C39-F2A2-856E-4EB8-A06C62D7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5100" y="4349951"/>
            <a:ext cx="1101150" cy="10818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524BEE-C9D1-B74A-6419-408E2563B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78019" y="4349951"/>
            <a:ext cx="1101150" cy="1081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AE9002-5CB3-8685-4BF0-E4D00398A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20938" y="4349951"/>
            <a:ext cx="1101150" cy="1081880"/>
          </a:xfrm>
          <a:prstGeom prst="rect">
            <a:avLst/>
          </a:prstGeom>
        </p:spPr>
      </p:pic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F6EE78BD-A06F-CFD5-7095-A05EBB1C288C}"/>
              </a:ext>
            </a:extLst>
          </p:cNvPr>
          <p:cNvSpPr/>
          <p:nvPr/>
        </p:nvSpPr>
        <p:spPr>
          <a:xfrm>
            <a:off x="5924752" y="2052879"/>
            <a:ext cx="1564831" cy="646331"/>
          </a:xfrm>
          <a:prstGeom prst="wedgeRoundRectCallout">
            <a:avLst>
              <a:gd name="adj1" fmla="val -22371"/>
              <a:gd name="adj2" fmla="val 117601"/>
              <a:gd name="adj3" fmla="val 16667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Configuration changes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4E5409C2-F9D9-322A-B442-87F122D53B02}"/>
              </a:ext>
            </a:extLst>
          </p:cNvPr>
          <p:cNvSpPr/>
          <p:nvPr/>
        </p:nvSpPr>
        <p:spPr>
          <a:xfrm>
            <a:off x="5234947" y="3010329"/>
            <a:ext cx="1808183" cy="1081880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Pull changes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31774C-8590-58F7-7997-18EE6461C85B}"/>
              </a:ext>
            </a:extLst>
          </p:cNvPr>
          <p:cNvSpPr txBox="1"/>
          <p:nvPr/>
        </p:nvSpPr>
        <p:spPr>
          <a:xfrm>
            <a:off x="1502631" y="5529628"/>
            <a:ext cx="132886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Each client has a plugin</a:t>
            </a:r>
          </a:p>
        </p:txBody>
      </p:sp>
    </p:spTree>
    <p:extLst>
      <p:ext uri="{BB962C8B-B14F-4D97-AF65-F5344CB8AC3E}">
        <p14:creationId xmlns:p14="http://schemas.microsoft.com/office/powerpoint/2010/main" val="2020192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2F35D4-B987-4772-6998-07CEE248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Model (Ansible)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B65EB9-99C1-D0E4-E601-2CBAF478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50D24E-FB35-21C2-BAC4-388C422AC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04971" y="3441957"/>
            <a:ext cx="1101150" cy="1081880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9003738-B419-02B8-984F-AA7F512F2537}"/>
              </a:ext>
            </a:extLst>
          </p:cNvPr>
          <p:cNvSpPr txBox="1"/>
          <p:nvPr/>
        </p:nvSpPr>
        <p:spPr>
          <a:xfrm>
            <a:off x="2699387" y="4658774"/>
            <a:ext cx="196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/>
              <a:t>Ansible server</a:t>
            </a:r>
          </a:p>
          <a:p>
            <a:pPr algn="ctr"/>
            <a:r>
              <a:rPr lang="en-IN" b="1" dirty="0"/>
              <a:t>(Control node)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8B50987-1E65-A6C7-0C6D-7D89F2CB3439}"/>
              </a:ext>
            </a:extLst>
          </p:cNvPr>
          <p:cNvSpPr/>
          <p:nvPr/>
        </p:nvSpPr>
        <p:spPr>
          <a:xfrm>
            <a:off x="5075032" y="2518348"/>
            <a:ext cx="870134" cy="646331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SSH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057D5-D414-7C9A-62ED-B00D0E417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24915" y="2477827"/>
            <a:ext cx="1101150" cy="1081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923BEE-417D-8BD1-46F5-BCD70900C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67834" y="2477827"/>
            <a:ext cx="1101150" cy="1081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BA0A8C-C13A-899B-64F3-25BB0B491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10753" y="2477827"/>
            <a:ext cx="1101150" cy="1081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B1820C-70BE-5E63-D2DF-DA55FA3CC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13959" y="3576894"/>
            <a:ext cx="1101150" cy="10818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10E8C3-2423-235B-7BF1-22DD797AF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6878" y="3576894"/>
            <a:ext cx="1101150" cy="1081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EAB8DC-10AF-BADD-0434-0E5C3615E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99797" y="3576894"/>
            <a:ext cx="1101150" cy="10818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5B5C39-F2A2-856E-4EB8-A06C62D7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83146" y="4716127"/>
            <a:ext cx="1101150" cy="10818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524BEE-C9D1-B74A-6419-408E2563B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26065" y="4716127"/>
            <a:ext cx="1101150" cy="1081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AE9002-5CB3-8685-4BF0-E4D00398A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68984" y="4716127"/>
            <a:ext cx="1101150" cy="1081880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028DF9AF-B96E-79FC-1C21-2654EEBA39C1}"/>
              </a:ext>
            </a:extLst>
          </p:cNvPr>
          <p:cNvSpPr/>
          <p:nvPr/>
        </p:nvSpPr>
        <p:spPr>
          <a:xfrm>
            <a:off x="4954148" y="3299616"/>
            <a:ext cx="1564831" cy="128157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Push the changes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F6EE78BD-A06F-CFD5-7095-A05EBB1C288C}"/>
              </a:ext>
            </a:extLst>
          </p:cNvPr>
          <p:cNvSpPr/>
          <p:nvPr/>
        </p:nvSpPr>
        <p:spPr>
          <a:xfrm>
            <a:off x="3268432" y="2660689"/>
            <a:ext cx="1564831" cy="646331"/>
          </a:xfrm>
          <a:prstGeom prst="wedgeRoundRectCallout">
            <a:avLst>
              <a:gd name="adj1" fmla="val -22371"/>
              <a:gd name="adj2" fmla="val 117601"/>
              <a:gd name="adj3" fmla="val 16667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Configuration changes</a:t>
            </a:r>
          </a:p>
        </p:txBody>
      </p:sp>
    </p:spTree>
    <p:extLst>
      <p:ext uri="{BB962C8B-B14F-4D97-AF65-F5344CB8AC3E}">
        <p14:creationId xmlns:p14="http://schemas.microsoft.com/office/powerpoint/2010/main" val="174360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D181-F04F-5DE9-DB41-831B5C8D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Pull versus Push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7DB267-A354-1FE3-550A-6142A7826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438413"/>
              </p:ext>
            </p:extLst>
          </p:nvPr>
        </p:nvGraphicFramePr>
        <p:xfrm>
          <a:off x="246580" y="1353014"/>
          <a:ext cx="11712540" cy="4996567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424701">
                  <a:extLst>
                    <a:ext uri="{9D8B030D-6E8A-4147-A177-3AD203B41FA5}">
                      <a16:colId xmlns:a16="http://schemas.microsoft.com/office/drawing/2014/main" val="1151519509"/>
                    </a:ext>
                  </a:extLst>
                </a:gridCol>
                <a:gridCol w="4685016">
                  <a:extLst>
                    <a:ext uri="{9D8B030D-6E8A-4147-A177-3AD203B41FA5}">
                      <a16:colId xmlns:a16="http://schemas.microsoft.com/office/drawing/2014/main" val="2983114366"/>
                    </a:ext>
                  </a:extLst>
                </a:gridCol>
                <a:gridCol w="4602823">
                  <a:extLst>
                    <a:ext uri="{9D8B030D-6E8A-4147-A177-3AD203B41FA5}">
                      <a16:colId xmlns:a16="http://schemas.microsoft.com/office/drawing/2014/main" val="3102355813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Aspect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Push Model</a:t>
                      </a:r>
                      <a:endParaRPr lang="en-IN" sz="20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Pull Model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2699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Definition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Control node </a:t>
                      </a:r>
                      <a:r>
                        <a:rPr lang="en-US" sz="2000" b="1"/>
                        <a:t>pushes configuration</a:t>
                      </a:r>
                      <a:r>
                        <a:rPr lang="en-US" sz="2000"/>
                        <a:t> to target machines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Target machines </a:t>
                      </a:r>
                      <a:r>
                        <a:rPr lang="en-US" sz="2000" b="1"/>
                        <a:t>pull configuration</a:t>
                      </a:r>
                      <a:r>
                        <a:rPr lang="en-US" sz="2000"/>
                        <a:t> from server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80757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Initiation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Started by central controller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Started by each client/node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2764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Connection Direction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Controller → Nodes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Nodes → Server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33986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Agent Required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 (agentless)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Yes (agent required on nodes)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77368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Examples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Ansible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Puppet, Chef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32365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Execution Control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Immediate, on-demand execution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Periodic (runs at intervals)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96596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Setup Complexity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Easier (no agent install)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More setup (agent installation &amp; config)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6087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Scalability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Good for small–medium setups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Better for very large infrastructures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21854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Security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Uses SSH (secure, simple)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Uses secure agent-server communication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84722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Offline Nodes</a:t>
                      </a:r>
                      <a:endParaRPr lang="en-IN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Fails if node is unreachable at that moment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Node updates itself when it comes online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80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147A-C423-A85A-A2F7-17896B38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E767-59B2-53F4-A94D-018F604F7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Created in 2009, written in Ruby</a:t>
            </a:r>
          </a:p>
          <a:p>
            <a:r>
              <a:rPr lang="en-IN" dirty="0"/>
              <a:t>Visit https://www.chef.io/downloads</a:t>
            </a:r>
          </a:p>
          <a:p>
            <a:r>
              <a:rPr lang="en-IN" dirty="0"/>
              <a:t>Go to For Open Source Users -&gt; Visit Community Portal</a:t>
            </a:r>
          </a:p>
          <a:p>
            <a:r>
              <a:rPr lang="en-IN" dirty="0"/>
              <a:t>Click on Chef Workstation</a:t>
            </a:r>
          </a:p>
          <a:p>
            <a:r>
              <a:rPr lang="en-IN" dirty="0"/>
              <a:t>Fill in the details (Dummy information) – Give valid email id</a:t>
            </a:r>
          </a:p>
          <a:p>
            <a:r>
              <a:rPr lang="en-IN" dirty="0"/>
              <a:t>Select </a:t>
            </a:r>
            <a:r>
              <a:rPr lang="en-IN" b="1" dirty="0"/>
              <a:t>Ubuntu AMD </a:t>
            </a:r>
            <a:r>
              <a:rPr lang="en-IN" dirty="0"/>
              <a:t>file</a:t>
            </a:r>
          </a:p>
          <a:p>
            <a:r>
              <a:rPr lang="en-IN" dirty="0"/>
              <a:t>It will download chef-workstation-… file</a:t>
            </a:r>
          </a:p>
          <a:p>
            <a:r>
              <a:rPr lang="en-IN" dirty="0"/>
              <a:t>In the terminal: </a:t>
            </a:r>
            <a:r>
              <a:rPr lang="en-IN" b="1" dirty="0"/>
              <a:t>cd   ~/Downloads</a:t>
            </a:r>
          </a:p>
          <a:p>
            <a:r>
              <a:rPr lang="sv-SE" b="1" dirty="0"/>
              <a:t>sudo   dpkg   -i   &lt;downloaded file name&gt;</a:t>
            </a:r>
          </a:p>
          <a:p>
            <a:r>
              <a:rPr lang="en-GB" b="1" dirty="0" err="1"/>
              <a:t>sudo</a:t>
            </a:r>
            <a:r>
              <a:rPr lang="en-GB" b="1" dirty="0"/>
              <a:t>   apt-get   -f    install    </a:t>
            </a:r>
            <a:r>
              <a:rPr lang="en-GB" dirty="0"/>
              <a:t>		… To install any missing dependencies</a:t>
            </a:r>
          </a:p>
          <a:p>
            <a:r>
              <a:rPr lang="en-GB" b="1" dirty="0"/>
              <a:t>chef   --version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66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4B2-40E6-0D58-5F90-B2B8D7CE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Chef Recipe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F205-6C4A-50B0-15E7-DCF13783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err="1"/>
              <a:t>mkdir</a:t>
            </a:r>
            <a:r>
              <a:rPr lang="en-IN" b="1" dirty="0"/>
              <a:t>  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demorecipes</a:t>
            </a:r>
            <a:r>
              <a:rPr lang="en-IN" b="1" dirty="0"/>
              <a:t> </a:t>
            </a:r>
            <a:r>
              <a:rPr lang="en-IN" dirty="0"/>
              <a:t>and then </a:t>
            </a:r>
            <a:r>
              <a:rPr lang="en-IN" b="1" dirty="0"/>
              <a:t>cd 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demorecipes</a:t>
            </a:r>
            <a:endParaRPr lang="en-IN" dirty="0"/>
          </a:p>
          <a:p>
            <a:r>
              <a:rPr lang="en-IN" b="1" dirty="0"/>
              <a:t>nano </a:t>
            </a:r>
            <a:r>
              <a:rPr lang="en-IN" b="1" dirty="0" err="1"/>
              <a:t>demouser.rb</a:t>
            </a:r>
            <a:r>
              <a:rPr lang="en-IN" dirty="0"/>
              <a:t> and type this and save:</a:t>
            </a:r>
          </a:p>
          <a:p>
            <a:r>
              <a:rPr lang="en-US" b="1" dirty="0"/>
              <a:t>user   '</a:t>
            </a:r>
            <a:r>
              <a:rPr lang="en-US" b="1" dirty="0" err="1"/>
              <a:t>ditiss</a:t>
            </a:r>
            <a:r>
              <a:rPr lang="en-US" b="1" dirty="0"/>
              <a:t>’   do</a:t>
            </a:r>
          </a:p>
          <a:p>
            <a:r>
              <a:rPr lang="en-US" b="1" dirty="0"/>
              <a:t>   shell   '/bin/bash’</a:t>
            </a:r>
          </a:p>
          <a:p>
            <a:r>
              <a:rPr lang="en-US" b="1" dirty="0"/>
              <a:t>   </a:t>
            </a:r>
            <a:r>
              <a:rPr lang="en-US" b="1" dirty="0" err="1"/>
              <a:t>uid</a:t>
            </a:r>
            <a:r>
              <a:rPr lang="en-US" b="1" dirty="0"/>
              <a:t>     '9999'</a:t>
            </a:r>
          </a:p>
          <a:p>
            <a:r>
              <a:rPr lang="en-US" b="1" dirty="0"/>
              <a:t>end</a:t>
            </a:r>
          </a:p>
          <a:p>
            <a:r>
              <a:rPr lang="en-IN" dirty="0"/>
              <a:t>Check if we already have a </a:t>
            </a:r>
            <a:r>
              <a:rPr lang="en-IN" dirty="0" err="1"/>
              <a:t>ditiss</a:t>
            </a:r>
            <a:r>
              <a:rPr lang="en-IN" dirty="0"/>
              <a:t> user: </a:t>
            </a:r>
            <a:r>
              <a:rPr lang="en-IN" b="1" dirty="0"/>
              <a:t>id   </a:t>
            </a:r>
            <a:r>
              <a:rPr lang="en-IN" b="1" dirty="0" err="1"/>
              <a:t>ditiss</a:t>
            </a:r>
            <a:endParaRPr lang="en-IN" dirty="0"/>
          </a:p>
          <a:p>
            <a:r>
              <a:rPr lang="en-IN" dirty="0"/>
              <a:t>Ensure our code is error-free: </a:t>
            </a:r>
            <a:r>
              <a:rPr lang="en-IN" b="1" dirty="0" err="1"/>
              <a:t>cookstyle</a:t>
            </a:r>
            <a:r>
              <a:rPr lang="en-IN" b="1" dirty="0"/>
              <a:t>   </a:t>
            </a:r>
            <a:r>
              <a:rPr lang="en-IN" b="1" dirty="0" err="1"/>
              <a:t>demouser.rb</a:t>
            </a:r>
            <a:endParaRPr lang="en-IN" dirty="0"/>
          </a:p>
          <a:p>
            <a:r>
              <a:rPr lang="en-IN" dirty="0"/>
              <a:t>If there are errors, correct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C07CB-BA25-6757-11BE-13FB9946024A}"/>
              </a:ext>
            </a:extLst>
          </p:cNvPr>
          <p:cNvSpPr txBox="1"/>
          <p:nvPr/>
        </p:nvSpPr>
        <p:spPr>
          <a:xfrm>
            <a:off x="4254366" y="3603086"/>
            <a:ext cx="3195587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Give two spaces for indentation</a:t>
            </a:r>
          </a:p>
        </p:txBody>
      </p:sp>
    </p:spTree>
    <p:extLst>
      <p:ext uri="{BB962C8B-B14F-4D97-AF65-F5344CB8AC3E}">
        <p14:creationId xmlns:p14="http://schemas.microsoft.com/office/powerpoint/2010/main" val="215867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4B2-40E6-0D58-5F90-B2B8D7CE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Chef Recipe Testing (</a:t>
            </a:r>
            <a:r>
              <a:rPr lang="en-IN" i="1" dirty="0"/>
              <a:t>Dry run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F205-6C4A-50B0-15E7-DCF13783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chef-client 	--local-mode 	</a:t>
            </a:r>
            <a:r>
              <a:rPr lang="en-IN" b="1" dirty="0" err="1"/>
              <a:t>demouser.rb</a:t>
            </a:r>
            <a:r>
              <a:rPr lang="en-IN" b="1" dirty="0"/>
              <a:t> 	--why-run</a:t>
            </a:r>
          </a:p>
          <a:p>
            <a:r>
              <a:rPr lang="en-IN" dirty="0"/>
              <a:t>It may ask us to accept licence terms</a:t>
            </a:r>
          </a:p>
          <a:p>
            <a:r>
              <a:rPr lang="en-IN" dirty="0"/>
              <a:t>Then it will say that this will create user </a:t>
            </a:r>
            <a:r>
              <a:rPr lang="en-IN" dirty="0" err="1"/>
              <a:t>ditiss</a:t>
            </a:r>
            <a:endParaRPr lang="en-IN" dirty="0"/>
          </a:p>
          <a:p>
            <a:r>
              <a:rPr lang="en-IN" dirty="0"/>
              <a:t>Meaning: If this recipe is really executed, it will create this user in the production environment</a:t>
            </a:r>
          </a:p>
          <a:p>
            <a:r>
              <a:rPr lang="en-IN" dirty="0"/>
              <a:t>Now remove --why-run option to actually execute this recipe: </a:t>
            </a:r>
          </a:p>
          <a:p>
            <a:pPr marL="0" indent="0">
              <a:buNone/>
            </a:pPr>
            <a:r>
              <a:rPr lang="en-IN" b="1" dirty="0"/>
              <a:t>chef-client --local-mode </a:t>
            </a:r>
            <a:r>
              <a:rPr lang="en-IN" b="1" dirty="0" err="1"/>
              <a:t>demouser.rb</a:t>
            </a:r>
            <a:endParaRPr lang="en-IN" b="1" dirty="0"/>
          </a:p>
          <a:p>
            <a:r>
              <a:rPr lang="en-IN" dirty="0"/>
              <a:t>If you get permission error, add </a:t>
            </a:r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dirty="0"/>
              <a:t>to the above command and rerun</a:t>
            </a:r>
          </a:p>
          <a:p>
            <a:r>
              <a:rPr lang="en-IN" dirty="0"/>
              <a:t>It will result into creation of user </a:t>
            </a:r>
            <a:r>
              <a:rPr lang="en-IN" dirty="0" err="1"/>
              <a:t>ditiss</a:t>
            </a:r>
            <a:endParaRPr lang="en-IN" dirty="0"/>
          </a:p>
          <a:p>
            <a:r>
              <a:rPr lang="en-IN" dirty="0"/>
              <a:t>Verify: </a:t>
            </a:r>
            <a:r>
              <a:rPr lang="en-IN" b="1" dirty="0"/>
              <a:t>id </a:t>
            </a:r>
            <a:r>
              <a:rPr lang="en-IN" b="1" dirty="0" err="1"/>
              <a:t>ditiss</a:t>
            </a:r>
            <a:r>
              <a:rPr lang="en-IN" dirty="0"/>
              <a:t> and </a:t>
            </a:r>
            <a:r>
              <a:rPr lang="en-IN" b="1" dirty="0"/>
              <a:t>grep   -</a:t>
            </a:r>
            <a:r>
              <a:rPr lang="en-IN" b="1" dirty="0" err="1"/>
              <a:t>i</a:t>
            </a:r>
            <a:r>
              <a:rPr lang="en-IN" b="1" dirty="0"/>
              <a:t>   </a:t>
            </a:r>
            <a:r>
              <a:rPr lang="en-IN" b="1" dirty="0" err="1"/>
              <a:t>ditiss</a:t>
            </a:r>
            <a:r>
              <a:rPr lang="en-IN" b="1" dirty="0"/>
              <a:t>   /etc/passwd</a:t>
            </a:r>
          </a:p>
        </p:txBody>
      </p:sp>
    </p:spTree>
    <p:extLst>
      <p:ext uri="{BB962C8B-B14F-4D97-AF65-F5344CB8AC3E}">
        <p14:creationId xmlns:p14="http://schemas.microsoft.com/office/powerpoint/2010/main" val="101743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4B2-40E6-0D58-5F90-B2B8D7CE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Chef Recipe Testing (</a:t>
            </a:r>
            <a:r>
              <a:rPr lang="en-IN" i="1" dirty="0"/>
              <a:t>Dry run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F205-6C4A-50B0-15E7-DCF13783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Let us rerun this script: </a:t>
            </a:r>
            <a:r>
              <a:rPr lang="en-IN" b="1" dirty="0"/>
              <a:t>chef-client --local-mode </a:t>
            </a:r>
            <a:r>
              <a:rPr lang="en-IN" b="1" dirty="0" err="1"/>
              <a:t>demouser.rb</a:t>
            </a:r>
            <a:endParaRPr lang="en-IN" b="1" dirty="0"/>
          </a:p>
          <a:p>
            <a:r>
              <a:rPr lang="en-IN" dirty="0"/>
              <a:t>It will not re-create anything, meaning it will check if the user </a:t>
            </a:r>
            <a:r>
              <a:rPr lang="en-IN" dirty="0" err="1"/>
              <a:t>ditiss</a:t>
            </a:r>
            <a:r>
              <a:rPr lang="en-IN" dirty="0"/>
              <a:t> already exists, and if yes, it will not change anything</a:t>
            </a:r>
          </a:p>
          <a:p>
            <a:pPr lvl="1"/>
            <a:r>
              <a:rPr lang="en-IN" dirty="0"/>
              <a:t>If already exists, do not recreate, but allow to modify properties</a:t>
            </a:r>
          </a:p>
          <a:p>
            <a:pPr lvl="1"/>
            <a:r>
              <a:rPr lang="en-IN" dirty="0"/>
              <a:t>If does not exist, create</a:t>
            </a:r>
          </a:p>
          <a:p>
            <a:r>
              <a:rPr lang="en-IN" dirty="0"/>
              <a:t>Let us delete the user and retry</a:t>
            </a:r>
          </a:p>
          <a:p>
            <a:r>
              <a:rPr lang="en-IN" b="1" dirty="0" err="1"/>
              <a:t>userdel</a:t>
            </a:r>
            <a:r>
              <a:rPr lang="en-IN" b="1" dirty="0"/>
              <a:t> -r </a:t>
            </a:r>
            <a:r>
              <a:rPr lang="en-IN" b="1" dirty="0" err="1"/>
              <a:t>ditiss</a:t>
            </a:r>
            <a:endParaRPr lang="en-IN" b="1" dirty="0"/>
          </a:p>
          <a:p>
            <a:r>
              <a:rPr lang="en-IN" dirty="0"/>
              <a:t>Ignore the message </a:t>
            </a:r>
            <a:r>
              <a:rPr lang="en-IN" i="1" dirty="0" err="1"/>
              <a:t>userdel</a:t>
            </a:r>
            <a:r>
              <a:rPr lang="en-IN" i="1" dirty="0"/>
              <a:t>: </a:t>
            </a:r>
            <a:r>
              <a:rPr lang="en-IN" i="1" dirty="0" err="1"/>
              <a:t>ditiss</a:t>
            </a:r>
            <a:r>
              <a:rPr lang="en-IN" i="1" dirty="0"/>
              <a:t> home directory not found</a:t>
            </a:r>
            <a:endParaRPr lang="en-IN" dirty="0"/>
          </a:p>
          <a:p>
            <a:r>
              <a:rPr lang="en-IN" dirty="0"/>
              <a:t>Again check: </a:t>
            </a:r>
            <a:r>
              <a:rPr lang="en-IN" b="1" dirty="0"/>
              <a:t>id </a:t>
            </a:r>
            <a:r>
              <a:rPr lang="en-IN" b="1" dirty="0" err="1"/>
              <a:t>ditiss</a:t>
            </a:r>
            <a:endParaRPr lang="en-IN" b="1" dirty="0"/>
          </a:p>
          <a:p>
            <a:r>
              <a:rPr lang="en-IN" dirty="0"/>
              <a:t>User </a:t>
            </a:r>
            <a:r>
              <a:rPr lang="en-IN" dirty="0" err="1"/>
              <a:t>ditiss</a:t>
            </a:r>
            <a:r>
              <a:rPr lang="en-IN" dirty="0"/>
              <a:t> will not be found</a:t>
            </a:r>
          </a:p>
          <a:p>
            <a:r>
              <a:rPr lang="en-IN" dirty="0"/>
              <a:t>Rerun the recipe: </a:t>
            </a:r>
            <a:r>
              <a:rPr lang="en-IN" b="1" dirty="0"/>
              <a:t>chef-client --local-mode </a:t>
            </a:r>
            <a:r>
              <a:rPr lang="en-IN" b="1" dirty="0" err="1"/>
              <a:t>demouser.rb</a:t>
            </a:r>
            <a:endParaRPr lang="en-IN" b="1" dirty="0"/>
          </a:p>
          <a:p>
            <a:r>
              <a:rPr lang="en-IN" dirty="0"/>
              <a:t>Verify: </a:t>
            </a:r>
            <a:r>
              <a:rPr lang="en-IN" b="1" dirty="0"/>
              <a:t>id </a:t>
            </a:r>
            <a:r>
              <a:rPr lang="en-IN" b="1" dirty="0" err="1"/>
              <a:t>ditiss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71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4B2-40E6-0D58-5F90-B2B8D7CE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Another Recipe: Create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F205-6C4A-50B0-15E7-DCF13783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nano </a:t>
            </a:r>
            <a:r>
              <a:rPr lang="en-IN" b="1" dirty="0" err="1"/>
              <a:t>demofile.rb</a:t>
            </a:r>
            <a:endParaRPr lang="en-IN" b="1" dirty="0"/>
          </a:p>
          <a:p>
            <a:r>
              <a:rPr lang="en-IN" b="1" dirty="0"/>
              <a:t>file ‘/var/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testfile</a:t>
            </a:r>
            <a:r>
              <a:rPr lang="en-IN" b="1" dirty="0"/>
              <a:t>’ do</a:t>
            </a:r>
          </a:p>
          <a:p>
            <a:r>
              <a:rPr lang="en-IN" b="1" dirty="0"/>
              <a:t>  owner ‘</a:t>
            </a:r>
            <a:r>
              <a:rPr lang="en-IN" b="1" dirty="0" err="1"/>
              <a:t>ditiss</a:t>
            </a:r>
            <a:r>
              <a:rPr lang="en-IN" b="1" dirty="0"/>
              <a:t>’</a:t>
            </a:r>
          </a:p>
          <a:p>
            <a:r>
              <a:rPr lang="en-IN" b="1" dirty="0"/>
              <a:t>  group ‘</a:t>
            </a:r>
            <a:r>
              <a:rPr lang="en-IN" b="1" dirty="0" err="1"/>
              <a:t>ditiss</a:t>
            </a:r>
            <a:r>
              <a:rPr lang="en-IN" b="1" dirty="0"/>
              <a:t>’</a:t>
            </a:r>
          </a:p>
          <a:p>
            <a:r>
              <a:rPr lang="en-IN" b="1" dirty="0"/>
              <a:t>  mode ‘777’</a:t>
            </a:r>
          </a:p>
          <a:p>
            <a:r>
              <a:rPr lang="en-IN" b="1" dirty="0"/>
              <a:t>  action :create</a:t>
            </a:r>
          </a:p>
          <a:p>
            <a:r>
              <a:rPr lang="en-IN" b="1" dirty="0"/>
              <a:t>end</a:t>
            </a:r>
          </a:p>
          <a:p>
            <a:r>
              <a:rPr lang="en-IN" dirty="0"/>
              <a:t>Verify: </a:t>
            </a:r>
            <a:r>
              <a:rPr lang="en-IN" b="1" dirty="0" err="1"/>
              <a:t>cookstyle</a:t>
            </a:r>
            <a:r>
              <a:rPr lang="en-IN" b="1" dirty="0"/>
              <a:t> </a:t>
            </a:r>
            <a:r>
              <a:rPr lang="en-IN" b="1" dirty="0" err="1"/>
              <a:t>demofile.rb</a:t>
            </a:r>
            <a:endParaRPr lang="en-IN" dirty="0"/>
          </a:p>
          <a:p>
            <a:r>
              <a:rPr lang="en-IN" dirty="0"/>
              <a:t>Dry run: </a:t>
            </a:r>
            <a:r>
              <a:rPr lang="en-IN" b="1" dirty="0"/>
              <a:t>chef-client --local-mode </a:t>
            </a:r>
            <a:r>
              <a:rPr lang="en-IN" b="1" dirty="0" err="1"/>
              <a:t>demofile.rb</a:t>
            </a:r>
            <a:r>
              <a:rPr lang="en-IN" b="1" dirty="0"/>
              <a:t> --why-run</a:t>
            </a:r>
          </a:p>
          <a:p>
            <a:r>
              <a:rPr lang="en-IN" dirty="0"/>
              <a:t>Actual run: </a:t>
            </a:r>
            <a:r>
              <a:rPr lang="en-IN" b="1" dirty="0"/>
              <a:t>chef-client --local-mode </a:t>
            </a:r>
            <a:r>
              <a:rPr lang="en-IN" b="1" dirty="0" err="1"/>
              <a:t>demofile.rb</a:t>
            </a:r>
            <a:endParaRPr lang="en-IN" b="1" dirty="0"/>
          </a:p>
          <a:p>
            <a:r>
              <a:rPr lang="en-IN" dirty="0"/>
              <a:t>Verify: </a:t>
            </a:r>
            <a:r>
              <a:rPr lang="en-IN" b="1" dirty="0"/>
              <a:t>ls -l 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testfile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96650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4B2-40E6-0D58-5F90-B2B8D7CE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Some Content to the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F205-6C4A-50B0-15E7-DCF13783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nano </a:t>
            </a:r>
            <a:r>
              <a:rPr lang="en-IN" b="1" dirty="0" err="1"/>
              <a:t>demofile.rb</a:t>
            </a:r>
            <a:endParaRPr lang="en-IN" b="1" dirty="0"/>
          </a:p>
          <a:p>
            <a:r>
              <a:rPr lang="en-IN" b="1" dirty="0"/>
              <a:t>file ‘/var/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testfile</a:t>
            </a:r>
            <a:r>
              <a:rPr lang="en-IN" b="1" dirty="0"/>
              <a:t>’ do</a:t>
            </a:r>
          </a:p>
          <a:p>
            <a:r>
              <a:rPr lang="en-IN" b="1" dirty="0"/>
              <a:t>  owner ‘</a:t>
            </a:r>
            <a:r>
              <a:rPr lang="en-IN" b="1" dirty="0" err="1"/>
              <a:t>ditiss</a:t>
            </a:r>
            <a:r>
              <a:rPr lang="en-IN" b="1" dirty="0"/>
              <a:t>’</a:t>
            </a:r>
          </a:p>
          <a:p>
            <a:r>
              <a:rPr lang="en-IN" b="1" dirty="0"/>
              <a:t>  group ‘</a:t>
            </a:r>
            <a:r>
              <a:rPr lang="en-IN" b="1" dirty="0" err="1"/>
              <a:t>ditiss</a:t>
            </a:r>
            <a:r>
              <a:rPr lang="en-IN" b="1" dirty="0"/>
              <a:t>’</a:t>
            </a:r>
          </a:p>
          <a:p>
            <a:r>
              <a:rPr lang="en-IN" b="1" dirty="0"/>
              <a:t>  mode ‘777’</a:t>
            </a:r>
          </a:p>
          <a:p>
            <a:r>
              <a:rPr lang="en-IN" b="1" dirty="0"/>
              <a:t>  content ‘Hello and Welcome to this DITISS Course on Chef\n’</a:t>
            </a:r>
          </a:p>
          <a:p>
            <a:r>
              <a:rPr lang="en-IN" b="1" dirty="0"/>
              <a:t>  action :create</a:t>
            </a:r>
          </a:p>
          <a:p>
            <a:r>
              <a:rPr lang="en-IN" b="1" dirty="0"/>
              <a:t>end</a:t>
            </a:r>
          </a:p>
          <a:p>
            <a:r>
              <a:rPr lang="en-IN" dirty="0"/>
              <a:t>Verify: </a:t>
            </a:r>
            <a:r>
              <a:rPr lang="en-IN" b="1" dirty="0" err="1"/>
              <a:t>cookstyle</a:t>
            </a:r>
            <a:r>
              <a:rPr lang="en-IN" b="1" dirty="0"/>
              <a:t> </a:t>
            </a:r>
            <a:r>
              <a:rPr lang="en-IN" b="1" dirty="0" err="1"/>
              <a:t>demofile.rb</a:t>
            </a:r>
            <a:endParaRPr lang="en-IN" dirty="0"/>
          </a:p>
          <a:p>
            <a:r>
              <a:rPr lang="en-IN" dirty="0"/>
              <a:t>Dry run: </a:t>
            </a:r>
            <a:r>
              <a:rPr lang="en-IN" b="1" dirty="0"/>
              <a:t>chef-client --local-mode </a:t>
            </a:r>
            <a:r>
              <a:rPr lang="en-IN" b="1" dirty="0" err="1"/>
              <a:t>demofile.rb</a:t>
            </a:r>
            <a:r>
              <a:rPr lang="en-IN" b="1" dirty="0"/>
              <a:t> --why-run</a:t>
            </a:r>
          </a:p>
          <a:p>
            <a:r>
              <a:rPr lang="en-IN" dirty="0"/>
              <a:t>Actual run: </a:t>
            </a:r>
            <a:r>
              <a:rPr lang="en-IN" b="1" dirty="0"/>
              <a:t>chef-client --local-mode </a:t>
            </a:r>
            <a:r>
              <a:rPr lang="en-IN" b="1" dirty="0" err="1"/>
              <a:t>demofile.rb</a:t>
            </a:r>
            <a:endParaRPr lang="en-IN" b="1" dirty="0"/>
          </a:p>
          <a:p>
            <a:r>
              <a:rPr lang="en-IN" dirty="0"/>
              <a:t>Verify: </a:t>
            </a:r>
            <a:r>
              <a:rPr lang="en-IN" b="1" dirty="0"/>
              <a:t>cat -l 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testfile</a:t>
            </a:r>
            <a:endParaRPr lang="en-IN" b="1" dirty="0"/>
          </a:p>
          <a:p>
            <a:r>
              <a:rPr lang="en-IN" dirty="0"/>
              <a:t>Now change single quotes to double quotes and redo next steps:</a:t>
            </a:r>
          </a:p>
          <a:p>
            <a:r>
              <a:rPr lang="en-IN" b="1" dirty="0"/>
              <a:t> content “Hello and Welcome to this DITISS Course on Chef\n”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087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4A82-71DB-6123-FA29-BD38F357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SSH Installation (Ubuntu)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FCC8-C9C5-A04C-3FCF-0E6B2DBB0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Check if SSH client is present: </a:t>
            </a:r>
            <a:r>
              <a:rPr lang="en-IN" b="1" dirty="0"/>
              <a:t>which ssh</a:t>
            </a:r>
          </a:p>
          <a:p>
            <a:r>
              <a:rPr lang="en-IN" dirty="0"/>
              <a:t>Remove if already exists: </a:t>
            </a:r>
            <a:r>
              <a:rPr lang="en-IN" b="1" dirty="0" err="1"/>
              <a:t>sudo</a:t>
            </a:r>
            <a:r>
              <a:rPr lang="en-IN" b="1" dirty="0"/>
              <a:t> apt-get remove </a:t>
            </a:r>
            <a:r>
              <a:rPr lang="en-IN" b="1" dirty="0" err="1"/>
              <a:t>openssh</a:t>
            </a:r>
            <a:r>
              <a:rPr lang="en-IN" b="1" dirty="0"/>
              <a:t>-client</a:t>
            </a:r>
          </a:p>
          <a:p>
            <a:r>
              <a:rPr lang="en-IN" b="1" dirty="0"/>
              <a:t>nano </a:t>
            </a:r>
            <a:r>
              <a:rPr lang="en-IN" b="1" dirty="0" err="1"/>
              <a:t>demosshpkg.rb</a:t>
            </a:r>
            <a:endParaRPr lang="en-IN" b="1" dirty="0"/>
          </a:p>
          <a:p>
            <a:r>
              <a:rPr lang="en-US" b="1" dirty="0">
                <a:solidFill>
                  <a:srgbClr val="FF0000"/>
                </a:solidFill>
              </a:rPr>
              <a:t>package '</a:t>
            </a:r>
            <a:r>
              <a:rPr lang="en-US" b="1" dirty="0" err="1">
                <a:solidFill>
                  <a:srgbClr val="FF0000"/>
                </a:solidFill>
              </a:rPr>
              <a:t>openssh</a:t>
            </a:r>
            <a:r>
              <a:rPr lang="en-US" b="1" dirty="0">
                <a:solidFill>
                  <a:srgbClr val="FF0000"/>
                </a:solidFill>
              </a:rPr>
              <a:t>-client' do</a:t>
            </a:r>
          </a:p>
          <a:p>
            <a:r>
              <a:rPr lang="en-US" b="1" dirty="0">
                <a:solidFill>
                  <a:srgbClr val="FF0000"/>
                </a:solidFill>
              </a:rPr>
              <a:t>  action :install</a:t>
            </a:r>
          </a:p>
          <a:p>
            <a:r>
              <a:rPr lang="en-US" b="1" dirty="0">
                <a:solidFill>
                  <a:srgbClr val="FF0000"/>
                </a:solidFill>
              </a:rPr>
              <a:t>end</a:t>
            </a:r>
          </a:p>
          <a:p>
            <a:r>
              <a:rPr lang="en-IN" b="1" dirty="0" err="1"/>
              <a:t>cookstyle</a:t>
            </a:r>
            <a:r>
              <a:rPr lang="en-IN" b="1" dirty="0"/>
              <a:t> </a:t>
            </a:r>
            <a:r>
              <a:rPr lang="en-IN" b="1" dirty="0" err="1"/>
              <a:t>demosshpkg.rb</a:t>
            </a:r>
            <a:endParaRPr lang="en-IN" b="1" dirty="0"/>
          </a:p>
          <a:p>
            <a:r>
              <a:rPr lang="en-IN" b="1" dirty="0" err="1"/>
              <a:t>sudo</a:t>
            </a:r>
            <a:r>
              <a:rPr lang="en-IN" b="1" dirty="0"/>
              <a:t> chef-client --local-mode </a:t>
            </a:r>
            <a:r>
              <a:rPr lang="en-IN" b="1" dirty="0" err="1"/>
              <a:t>demosshpkg.rb</a:t>
            </a:r>
            <a:r>
              <a:rPr lang="en-IN" b="1" dirty="0"/>
              <a:t> --why-run</a:t>
            </a:r>
          </a:p>
          <a:p>
            <a:r>
              <a:rPr lang="en-IN" b="1" dirty="0" err="1"/>
              <a:t>sudo</a:t>
            </a:r>
            <a:r>
              <a:rPr lang="en-IN" b="1" dirty="0"/>
              <a:t> chef-client --local-mode </a:t>
            </a:r>
            <a:r>
              <a:rPr lang="en-IN" b="1" dirty="0" err="1"/>
              <a:t>demosshpkg.rb</a:t>
            </a:r>
            <a:endParaRPr lang="en-IN" b="1" dirty="0"/>
          </a:p>
          <a:p>
            <a:r>
              <a:rPr lang="en-IN" b="1" dirty="0"/>
              <a:t>which ssh</a:t>
            </a:r>
          </a:p>
        </p:txBody>
      </p:sp>
    </p:spTree>
    <p:extLst>
      <p:ext uri="{BB962C8B-B14F-4D97-AF65-F5344CB8AC3E}">
        <p14:creationId xmlns:p14="http://schemas.microsoft.com/office/powerpoint/2010/main" val="25176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6C58-A230-EC1F-C302-54CBACE5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B716-663C-C171-DEBB-AC822AA8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Installation (Ubuntu)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1F51-B9F7-E8A0-5272-4B1CFEAFD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825" y="18256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Check if Apache is present: </a:t>
            </a:r>
            <a:r>
              <a:rPr lang="en-IN" b="1" dirty="0"/>
              <a:t>which apache2</a:t>
            </a:r>
          </a:p>
          <a:p>
            <a:r>
              <a:rPr lang="en-IN" dirty="0"/>
              <a:t>Remove if already exists: </a:t>
            </a:r>
            <a:r>
              <a:rPr lang="en-IN" b="1" dirty="0" err="1"/>
              <a:t>sudo</a:t>
            </a:r>
            <a:r>
              <a:rPr lang="en-IN" b="1" dirty="0"/>
              <a:t> apt-get remove apache2</a:t>
            </a:r>
          </a:p>
          <a:p>
            <a:r>
              <a:rPr lang="en-IN" b="1" dirty="0"/>
              <a:t>nano </a:t>
            </a:r>
            <a:r>
              <a:rPr lang="en-IN" b="1" dirty="0" err="1"/>
              <a:t>demoapachepkg.rb</a:t>
            </a:r>
            <a:endParaRPr lang="en-IN" b="1" dirty="0"/>
          </a:p>
          <a:p>
            <a:r>
              <a:rPr lang="en-US" b="1" dirty="0">
                <a:solidFill>
                  <a:srgbClr val="FF0000"/>
                </a:solidFill>
              </a:rPr>
              <a:t># 1. Install the Apache package</a:t>
            </a:r>
          </a:p>
          <a:p>
            <a:r>
              <a:rPr lang="en-US" b="1" dirty="0">
                <a:solidFill>
                  <a:srgbClr val="FF0000"/>
                </a:solidFill>
              </a:rPr>
              <a:t>package 'apache2' do</a:t>
            </a:r>
          </a:p>
          <a:p>
            <a:r>
              <a:rPr lang="en-US" b="1" dirty="0">
                <a:solidFill>
                  <a:srgbClr val="FF0000"/>
                </a:solidFill>
              </a:rPr>
              <a:t>  action :install</a:t>
            </a:r>
          </a:p>
          <a:p>
            <a:r>
              <a:rPr lang="en-US" b="1" dirty="0">
                <a:solidFill>
                  <a:srgbClr val="FF0000"/>
                </a:solidFill>
              </a:rPr>
              <a:t>end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# 2. Configure the home page</a:t>
            </a:r>
          </a:p>
          <a:p>
            <a:r>
              <a:rPr lang="en-US" b="1" dirty="0">
                <a:solidFill>
                  <a:srgbClr val="FF0000"/>
                </a:solidFill>
              </a:rPr>
              <a:t>file '/var/www/html/index.html' do</a:t>
            </a:r>
          </a:p>
          <a:p>
            <a:r>
              <a:rPr lang="en-US" b="1" dirty="0">
                <a:solidFill>
                  <a:srgbClr val="FF0000"/>
                </a:solidFill>
              </a:rPr>
              <a:t>  content 'Welcome to DITISS'</a:t>
            </a:r>
          </a:p>
          <a:p>
            <a:r>
              <a:rPr lang="en-US" b="1" dirty="0">
                <a:solidFill>
                  <a:srgbClr val="FF0000"/>
                </a:solidFill>
              </a:rPr>
              <a:t>  mode '0644'</a:t>
            </a:r>
          </a:p>
          <a:p>
            <a:r>
              <a:rPr lang="en-US" b="1" dirty="0">
                <a:solidFill>
                  <a:srgbClr val="FF0000"/>
                </a:solidFill>
              </a:rPr>
              <a:t>  action :create</a:t>
            </a:r>
          </a:p>
          <a:p>
            <a:r>
              <a:rPr lang="en-US" b="1" dirty="0">
                <a:solidFill>
                  <a:srgbClr val="FF0000"/>
                </a:solidFill>
              </a:rPr>
              <a:t>  # Notifies the service resource to restart if the file changes</a:t>
            </a:r>
          </a:p>
          <a:p>
            <a:r>
              <a:rPr lang="en-US" b="1" dirty="0">
                <a:solidFill>
                  <a:srgbClr val="FF0000"/>
                </a:solidFill>
              </a:rPr>
              <a:t>  notifies :restart, 'service[apache2]', :delayed</a:t>
            </a:r>
          </a:p>
          <a:p>
            <a:r>
              <a:rPr lang="en-US" b="1" dirty="0">
                <a:solidFill>
                  <a:srgbClr val="FF0000"/>
                </a:solidFill>
              </a:rPr>
              <a:t>end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# 3. Start and Enable the Apache service</a:t>
            </a:r>
          </a:p>
          <a:p>
            <a:r>
              <a:rPr lang="en-US" b="1" dirty="0">
                <a:solidFill>
                  <a:srgbClr val="FF0000"/>
                </a:solidFill>
              </a:rPr>
              <a:t>service 'apache2' do</a:t>
            </a:r>
          </a:p>
          <a:p>
            <a:r>
              <a:rPr lang="en-US" b="1" dirty="0">
                <a:solidFill>
                  <a:srgbClr val="FF0000"/>
                </a:solidFill>
              </a:rPr>
              <a:t>  action [:enable, :start]</a:t>
            </a:r>
          </a:p>
          <a:p>
            <a:r>
              <a:rPr lang="en-US" b="1" dirty="0">
                <a:solidFill>
                  <a:srgbClr val="FF0000"/>
                </a:solidFill>
              </a:rPr>
              <a:t>end</a:t>
            </a:r>
          </a:p>
          <a:p>
            <a:r>
              <a:rPr lang="en-IN" b="1" dirty="0" err="1"/>
              <a:t>cookstyle</a:t>
            </a:r>
            <a:r>
              <a:rPr lang="en-IN" b="1" dirty="0"/>
              <a:t> </a:t>
            </a:r>
            <a:r>
              <a:rPr lang="en-IN" b="1" dirty="0" err="1"/>
              <a:t>demoapachepkg.rb</a:t>
            </a:r>
            <a:endParaRPr lang="en-IN" b="1" dirty="0"/>
          </a:p>
          <a:p>
            <a:r>
              <a:rPr lang="en-IN" b="1" dirty="0" err="1"/>
              <a:t>sudo</a:t>
            </a:r>
            <a:r>
              <a:rPr lang="en-IN" b="1" dirty="0"/>
              <a:t> chef-client --local-mode </a:t>
            </a:r>
            <a:r>
              <a:rPr lang="en-IN" b="1" dirty="0" err="1"/>
              <a:t>demoapachepkg.rb</a:t>
            </a:r>
            <a:r>
              <a:rPr lang="en-IN" b="1" dirty="0"/>
              <a:t> --why-run</a:t>
            </a:r>
          </a:p>
          <a:p>
            <a:r>
              <a:rPr lang="en-IN" b="1" dirty="0" err="1"/>
              <a:t>sudo</a:t>
            </a:r>
            <a:r>
              <a:rPr lang="en-IN" b="1" dirty="0"/>
              <a:t> chef-client --local-mode </a:t>
            </a:r>
            <a:r>
              <a:rPr lang="en-IN" b="1" dirty="0" err="1"/>
              <a:t>demoapachepkg.rb</a:t>
            </a:r>
            <a:endParaRPr lang="en-IN" b="1" dirty="0"/>
          </a:p>
          <a:p>
            <a:r>
              <a:rPr lang="en-IN" b="1" dirty="0"/>
              <a:t>which apache2</a:t>
            </a:r>
          </a:p>
          <a:p>
            <a:r>
              <a:rPr lang="en-IN" b="1" dirty="0"/>
              <a:t>Browser: localhost:80</a:t>
            </a:r>
          </a:p>
        </p:txBody>
      </p:sp>
    </p:spTree>
    <p:extLst>
      <p:ext uri="{BB962C8B-B14F-4D97-AF65-F5344CB8AC3E}">
        <p14:creationId xmlns:p14="http://schemas.microsoft.com/office/powerpoint/2010/main" val="366421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C7C4-BCEE-ABAD-5262-A584403E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6BC9-F095-6C90-706E-5B7EBCF1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directory '/var/</a:t>
            </a:r>
            <a:r>
              <a:rPr lang="en-US" dirty="0" err="1"/>
              <a:t>tmp</a:t>
            </a:r>
            <a:r>
              <a:rPr lang="en-US" dirty="0"/>
              <a:t>/</a:t>
            </a:r>
            <a:r>
              <a:rPr lang="en-US" dirty="0" err="1"/>
              <a:t>testdir</a:t>
            </a:r>
            <a:r>
              <a:rPr lang="en-US" dirty="0"/>
              <a:t>' do</a:t>
            </a:r>
          </a:p>
          <a:p>
            <a:r>
              <a:rPr lang="en-US" dirty="0"/>
              <a:t>  mode '755'</a:t>
            </a:r>
          </a:p>
          <a:p>
            <a:r>
              <a:rPr lang="en-US" dirty="0"/>
              <a:t>  owner '</a:t>
            </a:r>
            <a:r>
              <a:rPr lang="en-US" dirty="0" err="1"/>
              <a:t>ditiss</a:t>
            </a:r>
            <a:r>
              <a:rPr lang="en-US" dirty="0"/>
              <a:t>'</a:t>
            </a:r>
          </a:p>
          <a:p>
            <a:r>
              <a:rPr lang="en-US" dirty="0"/>
              <a:t>  recursive true</a:t>
            </a:r>
          </a:p>
          <a:p>
            <a:r>
              <a:rPr lang="en-US" dirty="0"/>
              <a:t>  action :create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2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0980-2EEE-40B8-74FD-A6C2DE66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Multi-Configuration Recipe (Create a Directory and then a File in the Directory)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1B31-AE33-E3E5-B302-3BBA6D0F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nano </a:t>
            </a:r>
            <a:r>
              <a:rPr lang="en-IN" b="1" dirty="0" err="1"/>
              <a:t>multiconfig.rb</a:t>
            </a:r>
            <a:endParaRPr lang="en-IN" b="1" dirty="0"/>
          </a:p>
          <a:p>
            <a:r>
              <a:rPr lang="en-IN" b="1" dirty="0"/>
              <a:t>directory ‘/var/temp/</a:t>
            </a:r>
            <a:r>
              <a:rPr lang="en-IN" b="1" dirty="0" err="1"/>
              <a:t>newdir</a:t>
            </a:r>
            <a:r>
              <a:rPr lang="en-IN" b="1" dirty="0"/>
              <a:t>’ do</a:t>
            </a:r>
          </a:p>
          <a:p>
            <a:r>
              <a:rPr lang="en-IN" b="1" dirty="0"/>
              <a:t>  owner ‘root’</a:t>
            </a:r>
          </a:p>
          <a:p>
            <a:r>
              <a:rPr lang="en-IN" b="1" dirty="0"/>
              <a:t>  group ‘root’</a:t>
            </a:r>
          </a:p>
          <a:p>
            <a:r>
              <a:rPr lang="en-IN" b="1" dirty="0"/>
              <a:t>  mode ‘777’</a:t>
            </a:r>
          </a:p>
          <a:p>
            <a:r>
              <a:rPr lang="en-IN" b="1" dirty="0"/>
              <a:t>  action :create</a:t>
            </a:r>
          </a:p>
          <a:p>
            <a:r>
              <a:rPr lang="en-IN" b="1" dirty="0"/>
              <a:t>end</a:t>
            </a:r>
          </a:p>
          <a:p>
            <a:endParaRPr lang="en-IN" b="1" dirty="0"/>
          </a:p>
          <a:p>
            <a:r>
              <a:rPr lang="en-IN" b="1" dirty="0"/>
              <a:t>file ‘/var/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newdir</a:t>
            </a:r>
            <a:r>
              <a:rPr lang="en-IN" b="1" dirty="0"/>
              <a:t>/</a:t>
            </a:r>
            <a:r>
              <a:rPr lang="en-IN" b="1" dirty="0" err="1"/>
              <a:t>testfile</a:t>
            </a:r>
            <a:r>
              <a:rPr lang="en-IN" b="1" dirty="0"/>
              <a:t>’ do</a:t>
            </a:r>
          </a:p>
          <a:p>
            <a:r>
              <a:rPr lang="en-IN" b="1" dirty="0"/>
              <a:t>  mode ‘777’</a:t>
            </a:r>
          </a:p>
          <a:p>
            <a:r>
              <a:rPr lang="en-IN" b="1" dirty="0"/>
              <a:t>  content “Hello again\n”</a:t>
            </a:r>
          </a:p>
          <a:p>
            <a:r>
              <a:rPr lang="en-IN" b="1" dirty="0"/>
              <a:t>  action :create  </a:t>
            </a:r>
          </a:p>
          <a:p>
            <a:r>
              <a:rPr lang="en-IN" b="1" dirty="0"/>
              <a:t>end</a:t>
            </a:r>
          </a:p>
          <a:p>
            <a:endParaRPr lang="en-IN" b="1" dirty="0"/>
          </a:p>
          <a:p>
            <a:r>
              <a:rPr lang="en-IN" dirty="0"/>
              <a:t>Repeat the previous steps to verify the recipe, do a dry run, an actual run, and then verify results</a:t>
            </a:r>
          </a:p>
        </p:txBody>
      </p:sp>
    </p:spTree>
    <p:extLst>
      <p:ext uri="{BB962C8B-B14F-4D97-AF65-F5344CB8AC3E}">
        <p14:creationId xmlns:p14="http://schemas.microsoft.com/office/powerpoint/2010/main" val="142869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0060-2B8E-3B56-A3BF-E10D49DF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9A7B-2E26-0381-2DC5-70DDED07A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deletefile.rb</a:t>
            </a:r>
            <a:endParaRPr lang="en-US" dirty="0"/>
          </a:p>
          <a:p>
            <a:endParaRPr lang="en-US" dirty="0"/>
          </a:p>
          <a:p>
            <a:r>
              <a:rPr lang="en-US" dirty="0"/>
              <a:t>file "/var/</a:t>
            </a:r>
            <a:r>
              <a:rPr lang="en-US" dirty="0" err="1"/>
              <a:t>tmp</a:t>
            </a:r>
            <a:r>
              <a:rPr lang="en-US" dirty="0"/>
              <a:t>/</a:t>
            </a:r>
            <a:r>
              <a:rPr lang="en-US" dirty="0" err="1"/>
              <a:t>testfile</a:t>
            </a:r>
            <a:r>
              <a:rPr lang="en-US" dirty="0"/>
              <a:t>" do</a:t>
            </a:r>
          </a:p>
          <a:p>
            <a:r>
              <a:rPr lang="en-US" dirty="0"/>
              <a:t>  action :delete</a:t>
            </a:r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95712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47DE-0C66-DDBB-574F-5FD6A3AA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nginx (Verify using localhost:80 in the browser)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C6EE3-049D-D305-22C6-9FE16D39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package 'nginx' do</a:t>
            </a:r>
          </a:p>
          <a:p>
            <a:r>
              <a:rPr lang="en-US" dirty="0"/>
              <a:t>  action :install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service 'nginx' do</a:t>
            </a:r>
          </a:p>
          <a:p>
            <a:r>
              <a:rPr lang="en-US" dirty="0"/>
              <a:t>  supports status: true, restart: true, reload: true</a:t>
            </a:r>
          </a:p>
          <a:p>
            <a:r>
              <a:rPr lang="en-US" dirty="0"/>
              <a:t>  action :enable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Note: To stop nginx: </a:t>
            </a:r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stop nginx</a:t>
            </a:r>
          </a:p>
        </p:txBody>
      </p:sp>
    </p:spTree>
    <p:extLst>
      <p:ext uri="{BB962C8B-B14F-4D97-AF65-F5344CB8AC3E}">
        <p14:creationId xmlns:p14="http://schemas.microsoft.com/office/powerpoint/2010/main" val="137909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C916-A662-F96C-A06E-CC4BF576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B621C-2FF0-C851-97B6-6C1A0B589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Written in Ruby, modified to create a Domain Specific Language (DSL)</a:t>
            </a:r>
          </a:p>
          <a:p>
            <a:r>
              <a:rPr lang="en-IN" dirty="0"/>
              <a:t>Agent nodes check every 1800 seconds with a master node to see if anything needs to be updated in the agent</a:t>
            </a:r>
          </a:p>
          <a:p>
            <a:r>
              <a:rPr lang="en-IN" dirty="0"/>
              <a:t>If yes, the agent pulls the necessary puppet code from the master and performs necessary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33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BBA5-B0DF-8345-9F0B-D0506981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94"/>
            <a:ext cx="10515600" cy="598844"/>
          </a:xfrm>
        </p:spPr>
        <p:txBody>
          <a:bodyPr>
            <a:normAutofit fontScale="90000"/>
          </a:bodyPr>
          <a:lstStyle/>
          <a:p>
            <a:r>
              <a:rPr lang="en-US" dirty="0"/>
              <a:t>Puppet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9262-7401-1FB9-1954-14D821C0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26" y="681038"/>
            <a:ext cx="10515600" cy="60177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1: Enable Puppet repository</a:t>
            </a:r>
          </a:p>
          <a:p>
            <a:r>
              <a:rPr lang="en-US" b="1" dirty="0" err="1"/>
              <a:t>wget</a:t>
            </a:r>
            <a:r>
              <a:rPr lang="en-US" b="1" dirty="0"/>
              <a:t> 	https://apt.puppet.com/puppet8-release-focal.deb</a:t>
            </a:r>
          </a:p>
          <a:p>
            <a:r>
              <a:rPr lang="en-US" b="1" dirty="0" err="1"/>
              <a:t>sudo</a:t>
            </a:r>
            <a:r>
              <a:rPr lang="en-US" b="1" dirty="0"/>
              <a:t> 	</a:t>
            </a:r>
            <a:r>
              <a:rPr lang="en-US" b="1" dirty="0" err="1"/>
              <a:t>dpkg</a:t>
            </a:r>
            <a:r>
              <a:rPr lang="en-US" b="1" dirty="0"/>
              <a:t> 		-</a:t>
            </a:r>
            <a:r>
              <a:rPr lang="en-US" b="1" dirty="0" err="1"/>
              <a:t>i</a:t>
            </a:r>
            <a:r>
              <a:rPr lang="en-US" b="1" dirty="0"/>
              <a:t> 	puppet8-release-focal.deb</a:t>
            </a:r>
          </a:p>
          <a:p>
            <a:r>
              <a:rPr lang="en-US" b="1" dirty="0" err="1"/>
              <a:t>sudo</a:t>
            </a:r>
            <a:r>
              <a:rPr lang="en-US" b="1" dirty="0"/>
              <a:t> 	apt-get 	update</a:t>
            </a:r>
          </a:p>
          <a:p>
            <a:endParaRPr lang="en-US" b="1" dirty="0"/>
          </a:p>
          <a:p>
            <a:r>
              <a:rPr lang="en-US" dirty="0"/>
              <a:t>Step 2: Install Puppet Server</a:t>
            </a:r>
          </a:p>
          <a:p>
            <a:r>
              <a:rPr lang="en-US" b="1" dirty="0" err="1"/>
              <a:t>sudo</a:t>
            </a:r>
            <a:r>
              <a:rPr lang="en-US" b="1" dirty="0"/>
              <a:t> 	apt-get 	install 	</a:t>
            </a:r>
            <a:r>
              <a:rPr lang="en-US" b="1" dirty="0" err="1"/>
              <a:t>puppetserver</a:t>
            </a:r>
            <a:endParaRPr lang="en-US" b="1" dirty="0"/>
          </a:p>
          <a:p>
            <a:r>
              <a:rPr lang="en-US" b="1" dirty="0" err="1"/>
              <a:t>sudo</a:t>
            </a:r>
            <a:r>
              <a:rPr lang="en-US" b="1" dirty="0"/>
              <a:t> 	</a:t>
            </a:r>
            <a:r>
              <a:rPr lang="en-US" b="1" dirty="0" err="1"/>
              <a:t>systemctl</a:t>
            </a:r>
            <a:r>
              <a:rPr lang="en-US" b="1" dirty="0"/>
              <a:t> 	start 	</a:t>
            </a:r>
            <a:r>
              <a:rPr lang="en-US" b="1" dirty="0" err="1"/>
              <a:t>puppetserver</a:t>
            </a:r>
            <a:endParaRPr lang="en-US" b="1" dirty="0"/>
          </a:p>
          <a:p>
            <a:r>
              <a:rPr lang="en-US" b="1" dirty="0"/>
              <a:t>exec 	bash 		-l</a:t>
            </a:r>
          </a:p>
          <a:p>
            <a:r>
              <a:rPr lang="en-US" b="1" dirty="0" err="1"/>
              <a:t>puppetserver</a:t>
            </a:r>
            <a:r>
              <a:rPr lang="en-US" b="1" dirty="0"/>
              <a:t> 	-v</a:t>
            </a:r>
          </a:p>
          <a:p>
            <a:endParaRPr lang="en-US" b="1" dirty="0"/>
          </a:p>
          <a:p>
            <a:r>
              <a:rPr lang="en-US" dirty="0"/>
              <a:t>Step 3: Install a Puppet Agent</a:t>
            </a:r>
          </a:p>
          <a:p>
            <a:r>
              <a:rPr lang="en-US" b="1" dirty="0" err="1"/>
              <a:t>sudo</a:t>
            </a:r>
            <a:r>
              <a:rPr lang="en-US" b="1" dirty="0"/>
              <a:t> 	  apt-get 	install 	puppet-agent</a:t>
            </a:r>
          </a:p>
          <a:p>
            <a:r>
              <a:rPr lang="en-US" b="1" dirty="0" err="1"/>
              <a:t>sudo</a:t>
            </a:r>
            <a:r>
              <a:rPr lang="en-US" b="1" dirty="0"/>
              <a:t> 	/opt/</a:t>
            </a:r>
            <a:r>
              <a:rPr lang="en-US" b="1" dirty="0" err="1"/>
              <a:t>puppetlabs</a:t>
            </a:r>
            <a:r>
              <a:rPr lang="en-US" b="1" dirty="0"/>
              <a:t>/bin/puppet   resource   service   puppet   ensure=running 	enable=true</a:t>
            </a:r>
          </a:p>
          <a:p>
            <a:r>
              <a:rPr lang="en-US" b="1" dirty="0"/>
              <a:t>puppet 	--help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37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Creating the first Puppet script …</a:t>
            </a:r>
          </a:p>
          <a:p>
            <a:r>
              <a:rPr lang="en-IN" b="1" dirty="0"/>
              <a:t>cd /var/</a:t>
            </a:r>
            <a:r>
              <a:rPr lang="en-IN" b="1" dirty="0" err="1"/>
              <a:t>tmp</a:t>
            </a:r>
            <a:r>
              <a:rPr lang="en-IN" b="1" dirty="0"/>
              <a:t>/</a:t>
            </a:r>
            <a:r>
              <a:rPr lang="en-IN" b="1" dirty="0" err="1"/>
              <a:t>demorecipes</a:t>
            </a:r>
            <a:endParaRPr lang="en-IN" b="1" dirty="0"/>
          </a:p>
          <a:p>
            <a:r>
              <a:rPr lang="en-IN" b="1" dirty="0" err="1"/>
              <a:t>sudo</a:t>
            </a:r>
            <a:r>
              <a:rPr lang="en-IN" b="1" dirty="0"/>
              <a:t> 	nano 	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b="1" dirty="0">
                <a:solidFill>
                  <a:srgbClr val="FF0000"/>
                </a:solidFill>
              </a:rPr>
              <a:t>user { “</a:t>
            </a:r>
            <a:r>
              <a:rPr lang="en-IN" b="1" dirty="0" err="1">
                <a:solidFill>
                  <a:srgbClr val="FF0000"/>
                </a:solidFill>
              </a:rPr>
              <a:t>ditissuser</a:t>
            </a:r>
            <a:r>
              <a:rPr lang="en-IN" b="1" dirty="0">
                <a:solidFill>
                  <a:srgbClr val="FF0000"/>
                </a:solidFill>
              </a:rPr>
              <a:t>”:</a:t>
            </a:r>
          </a:p>
          <a:p>
            <a:r>
              <a:rPr lang="en-IN" b="1" dirty="0">
                <a:solidFill>
                  <a:srgbClr val="FF0000"/>
                </a:solidFill>
              </a:rPr>
              <a:t>  ensure=&gt;”present”,</a:t>
            </a:r>
          </a:p>
          <a:p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Check if ok: </a:t>
            </a:r>
            <a:r>
              <a:rPr lang="en-IN" b="1" dirty="0"/>
              <a:t>puppet 	parser 	validate 	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If you get an error </a:t>
            </a:r>
            <a:r>
              <a:rPr lang="en-IN" i="1" dirty="0"/>
              <a:t>bash: puppet: command not found …</a:t>
            </a:r>
            <a:r>
              <a:rPr lang="en-IN" dirty="0"/>
              <a:t> then </a:t>
            </a:r>
          </a:p>
          <a:p>
            <a:pPr lvl="1"/>
            <a:r>
              <a:rPr lang="en-IN" b="1" dirty="0"/>
              <a:t>export   PATH=/opt/</a:t>
            </a:r>
            <a:r>
              <a:rPr lang="en-IN" b="1" dirty="0" err="1"/>
              <a:t>puppetlabs</a:t>
            </a:r>
            <a:r>
              <a:rPr lang="en-IN" b="1" dirty="0"/>
              <a:t>/bin:$PATH</a:t>
            </a:r>
            <a:r>
              <a:rPr lang="en-IN" dirty="0"/>
              <a:t> and </a:t>
            </a:r>
          </a:p>
          <a:p>
            <a:pPr lvl="1"/>
            <a:r>
              <a:rPr lang="en-IN" b="1" dirty="0"/>
              <a:t>s</a:t>
            </a:r>
            <a:r>
              <a:rPr lang="en-US" b="1" dirty="0"/>
              <a:t>udo   ln   -s   /opt/</a:t>
            </a:r>
            <a:r>
              <a:rPr lang="en-US" b="1" dirty="0" err="1"/>
              <a:t>puppetlabs</a:t>
            </a:r>
            <a:r>
              <a:rPr lang="en-US" b="1" dirty="0"/>
              <a:t>/bin/puppet    /</a:t>
            </a:r>
            <a:r>
              <a:rPr lang="en-US" b="1" dirty="0" err="1"/>
              <a:t>usr</a:t>
            </a:r>
            <a:r>
              <a:rPr lang="en-US" b="1" dirty="0"/>
              <a:t>/local/bin/puppet</a:t>
            </a:r>
            <a:endParaRPr lang="en-IN" b="1" dirty="0"/>
          </a:p>
          <a:p>
            <a:r>
              <a:rPr lang="en-IN" dirty="0"/>
              <a:t>Retry </a:t>
            </a:r>
            <a:r>
              <a:rPr lang="en-IN" b="1" dirty="0"/>
              <a:t>puppet 	parser 	validate 	</a:t>
            </a:r>
            <a:r>
              <a:rPr lang="en-IN" b="1" dirty="0" err="1"/>
              <a:t>puppetuser.pp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502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Introduce an error on purpose</a:t>
            </a:r>
            <a:endParaRPr lang="en-IN" b="1" dirty="0"/>
          </a:p>
          <a:p>
            <a:r>
              <a:rPr lang="en-IN" b="1" dirty="0"/>
              <a:t>nano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b="1" dirty="0">
                <a:solidFill>
                  <a:srgbClr val="FF0000"/>
                </a:solidFill>
              </a:rPr>
              <a:t>user { “</a:t>
            </a:r>
            <a:r>
              <a:rPr lang="en-IN" b="1" dirty="0" err="1">
                <a:solidFill>
                  <a:srgbClr val="FF0000"/>
                </a:solidFill>
              </a:rPr>
              <a:t>ditissuser</a:t>
            </a:r>
            <a:r>
              <a:rPr lang="en-IN" b="1" dirty="0">
                <a:solidFill>
                  <a:srgbClr val="FF0000"/>
                </a:solidFill>
              </a:rPr>
              <a:t>”:</a:t>
            </a:r>
          </a:p>
          <a:p>
            <a:r>
              <a:rPr lang="en-IN" b="1" dirty="0">
                <a:solidFill>
                  <a:srgbClr val="FF0000"/>
                </a:solidFill>
              </a:rPr>
              <a:t>  ensure=&gt;”present”,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dirty="0"/>
              <a:t>Check if ok: </a:t>
            </a:r>
            <a:r>
              <a:rPr lang="en-IN" b="1" dirty="0"/>
              <a:t>puppet parser validate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It should say Error: Could not parse for environment production: Syntax error at end of input (file: /var/</a:t>
            </a:r>
            <a:r>
              <a:rPr lang="en-IN" dirty="0" err="1"/>
              <a:t>tmp</a:t>
            </a:r>
            <a:r>
              <a:rPr lang="en-IN" dirty="0"/>
              <a:t>/demo/</a:t>
            </a:r>
            <a:r>
              <a:rPr lang="en-IN" dirty="0" err="1"/>
              <a:t>puppetuser.pp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0540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Correct the error</a:t>
            </a:r>
            <a:endParaRPr lang="en-IN" b="1" dirty="0"/>
          </a:p>
          <a:p>
            <a:r>
              <a:rPr lang="en-IN" dirty="0"/>
              <a:t>Check if ok: </a:t>
            </a:r>
            <a:r>
              <a:rPr lang="en-IN" b="1" dirty="0"/>
              <a:t>puppet parser validate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Now dry test: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r>
              <a:rPr lang="en-IN" b="1" dirty="0"/>
              <a:t> --noop</a:t>
            </a:r>
          </a:p>
          <a:p>
            <a:r>
              <a:rPr lang="en-IN" dirty="0"/>
              <a:t>It says current value is absent, should be present</a:t>
            </a:r>
          </a:p>
          <a:p>
            <a:pPr lvl="1"/>
            <a:r>
              <a:rPr lang="en-IN" dirty="0"/>
              <a:t>Meaning: Currently, there is no </a:t>
            </a:r>
            <a:r>
              <a:rPr lang="en-IN" i="1" dirty="0" err="1"/>
              <a:t>ditissuser</a:t>
            </a:r>
            <a:r>
              <a:rPr lang="en-IN" dirty="0"/>
              <a:t> user, but Puppet will create it when we actually run this script</a:t>
            </a:r>
          </a:p>
          <a:p>
            <a:r>
              <a:rPr lang="en-IN" dirty="0"/>
              <a:t>Actual run: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It will say that the user </a:t>
            </a:r>
            <a:r>
              <a:rPr lang="en-IN" i="1" dirty="0" err="1"/>
              <a:t>ditissuser</a:t>
            </a:r>
            <a:r>
              <a:rPr lang="en-IN" i="1" dirty="0"/>
              <a:t> </a:t>
            </a:r>
            <a:r>
              <a:rPr lang="en-IN" dirty="0"/>
              <a:t>is now created</a:t>
            </a:r>
          </a:p>
          <a:p>
            <a:r>
              <a:rPr lang="en-IN" dirty="0"/>
              <a:t>Verify that the user is created: </a:t>
            </a:r>
            <a:r>
              <a:rPr lang="en-IN" b="1" dirty="0"/>
              <a:t>id </a:t>
            </a:r>
            <a:r>
              <a:rPr lang="en-IN" b="1" dirty="0" err="1"/>
              <a:t>ditissuser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0862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Rerun the script: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No action will be performed, since the user was already created in the previous step</a:t>
            </a:r>
          </a:p>
          <a:p>
            <a:r>
              <a:rPr lang="en-IN" dirty="0"/>
              <a:t>Verify that the user is still there: </a:t>
            </a:r>
            <a:r>
              <a:rPr lang="en-IN" b="1" dirty="0"/>
              <a:t>id </a:t>
            </a:r>
            <a:r>
              <a:rPr lang="en-IN" b="1" dirty="0" err="1"/>
              <a:t>ditissuser</a:t>
            </a:r>
            <a:endParaRPr lang="en-IN" b="1" dirty="0"/>
          </a:p>
          <a:p>
            <a:r>
              <a:rPr lang="en-IN" dirty="0"/>
              <a:t>Delete the user: </a:t>
            </a:r>
            <a:r>
              <a:rPr lang="en-IN" b="1" dirty="0" err="1"/>
              <a:t>userdel</a:t>
            </a:r>
            <a:r>
              <a:rPr lang="en-IN" b="1" dirty="0"/>
              <a:t> </a:t>
            </a:r>
            <a:r>
              <a:rPr lang="en-IN" b="1" dirty="0" err="1"/>
              <a:t>ditissuser</a:t>
            </a:r>
            <a:endParaRPr lang="en-IN" b="1" dirty="0"/>
          </a:p>
          <a:p>
            <a:r>
              <a:rPr lang="en-IN" dirty="0"/>
              <a:t>Check if the user is still there: </a:t>
            </a:r>
            <a:r>
              <a:rPr lang="en-IN" b="1" dirty="0"/>
              <a:t>id </a:t>
            </a:r>
            <a:r>
              <a:rPr lang="en-IN" b="1" dirty="0" err="1"/>
              <a:t>ditissuser</a:t>
            </a:r>
            <a:endParaRPr lang="en-IN" b="1" dirty="0"/>
          </a:p>
          <a:p>
            <a:r>
              <a:rPr lang="en-IN" dirty="0"/>
              <a:t>Rerun the script: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Verify that the user is still there: </a:t>
            </a:r>
            <a:r>
              <a:rPr lang="en-IN" b="1" dirty="0"/>
              <a:t>id </a:t>
            </a:r>
            <a:r>
              <a:rPr lang="en-IN" b="1" dirty="0" err="1"/>
              <a:t>ditissuser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46876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C24B-61D0-6DFE-2A18-4BD4EFF2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Two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CE1AD-D0E2-F9F3-7F5B-D0A1CAF13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user { '</a:t>
            </a:r>
            <a:r>
              <a:rPr lang="fr-FR" dirty="0" err="1"/>
              <a:t>ditiss</a:t>
            </a:r>
            <a:r>
              <a:rPr lang="fr-FR" dirty="0"/>
              <a:t>':</a:t>
            </a:r>
          </a:p>
          <a:p>
            <a:r>
              <a:rPr lang="fr-FR" dirty="0"/>
              <a:t>  </a:t>
            </a:r>
            <a:r>
              <a:rPr lang="fr-FR" dirty="0" err="1"/>
              <a:t>ensure</a:t>
            </a:r>
            <a:r>
              <a:rPr lang="fr-FR" dirty="0"/>
              <a:t> =&gt; ‘absent’,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user { '</a:t>
            </a:r>
            <a:r>
              <a:rPr lang="fr-FR" dirty="0" err="1"/>
              <a:t>ditissuser</a:t>
            </a:r>
            <a:r>
              <a:rPr lang="fr-FR" dirty="0"/>
              <a:t>':</a:t>
            </a:r>
          </a:p>
          <a:p>
            <a:r>
              <a:rPr lang="fr-FR" dirty="0"/>
              <a:t>  </a:t>
            </a:r>
            <a:r>
              <a:rPr lang="fr-FR" dirty="0" err="1"/>
              <a:t>ensure</a:t>
            </a:r>
            <a:r>
              <a:rPr lang="fr-FR" dirty="0"/>
              <a:t> =&gt; ‘absent’,</a:t>
            </a:r>
          </a:p>
          <a:p>
            <a:r>
              <a:rPr lang="fr-FR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22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Check the user details: grep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ditissuser</a:t>
            </a:r>
            <a:r>
              <a:rPr lang="en-IN" dirty="0"/>
              <a:t> /etc/passwd</a:t>
            </a:r>
          </a:p>
          <a:p>
            <a:r>
              <a:rPr lang="en-IN" dirty="0"/>
              <a:t>Let us change some user properties</a:t>
            </a:r>
          </a:p>
          <a:p>
            <a:r>
              <a:rPr lang="en-IN" b="1" dirty="0"/>
              <a:t>nano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b="1" dirty="0">
                <a:solidFill>
                  <a:srgbClr val="FF0000"/>
                </a:solidFill>
              </a:rPr>
              <a:t>user { "</a:t>
            </a:r>
            <a:r>
              <a:rPr lang="en-IN" b="1" dirty="0" err="1">
                <a:solidFill>
                  <a:srgbClr val="FF0000"/>
                </a:solidFill>
              </a:rPr>
              <a:t>ditissuser</a:t>
            </a:r>
            <a:r>
              <a:rPr lang="en-IN" b="1" dirty="0">
                <a:solidFill>
                  <a:srgbClr val="FF0000"/>
                </a:solidFill>
              </a:rPr>
              <a:t>":</a:t>
            </a:r>
          </a:p>
          <a:p>
            <a:r>
              <a:rPr lang="en-IN" b="1" dirty="0">
                <a:solidFill>
                  <a:srgbClr val="FF0000"/>
                </a:solidFill>
              </a:rPr>
              <a:t>  ensure =&gt; "present",</a:t>
            </a:r>
          </a:p>
          <a:p>
            <a:r>
              <a:rPr lang="en-IN" b="1" dirty="0">
                <a:solidFill>
                  <a:srgbClr val="FF0000"/>
                </a:solidFill>
              </a:rPr>
              <a:t>  </a:t>
            </a:r>
            <a:r>
              <a:rPr lang="en-IN" b="1" dirty="0" err="1">
                <a:solidFill>
                  <a:srgbClr val="FF0000"/>
                </a:solidFill>
              </a:rPr>
              <a:t>uid</a:t>
            </a:r>
            <a:r>
              <a:rPr lang="en-IN" b="1" dirty="0">
                <a:solidFill>
                  <a:srgbClr val="FF0000"/>
                </a:solidFill>
              </a:rPr>
              <a:t>    =&gt; "7777",</a:t>
            </a:r>
          </a:p>
          <a:p>
            <a:r>
              <a:rPr lang="en-IN" b="1" dirty="0">
                <a:solidFill>
                  <a:srgbClr val="FF0000"/>
                </a:solidFill>
              </a:rPr>
              <a:t>  shell  =&gt; "/bin/</a:t>
            </a:r>
            <a:r>
              <a:rPr lang="en-IN" b="1" dirty="0" err="1">
                <a:solidFill>
                  <a:srgbClr val="FF0000"/>
                </a:solidFill>
              </a:rPr>
              <a:t>sh</a:t>
            </a:r>
            <a:r>
              <a:rPr lang="en-IN" b="1" dirty="0">
                <a:solidFill>
                  <a:srgbClr val="FF0000"/>
                </a:solidFill>
              </a:rPr>
              <a:t>"</a:t>
            </a:r>
          </a:p>
          <a:p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Validate the script: </a:t>
            </a:r>
            <a:r>
              <a:rPr lang="en-IN" b="1" dirty="0"/>
              <a:t>puppet parser validate </a:t>
            </a:r>
            <a:r>
              <a:rPr lang="en-IN" b="1" dirty="0" err="1"/>
              <a:t>puppetuser.pp</a:t>
            </a:r>
            <a:r>
              <a:rPr lang="en-IN" b="1" dirty="0"/>
              <a:t> </a:t>
            </a:r>
            <a:endParaRPr lang="en-IN" dirty="0"/>
          </a:p>
          <a:p>
            <a:r>
              <a:rPr lang="en-IN" dirty="0"/>
              <a:t>Dry run: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r>
              <a:rPr lang="en-IN" b="1" dirty="0"/>
              <a:t> --noop</a:t>
            </a:r>
          </a:p>
          <a:p>
            <a:r>
              <a:rPr lang="en-IN" dirty="0"/>
              <a:t>Actual run: </a:t>
            </a:r>
            <a:r>
              <a:rPr lang="en-IN" b="1" dirty="0"/>
              <a:t>puppet apply </a:t>
            </a:r>
            <a:r>
              <a:rPr lang="en-IN" b="1" dirty="0" err="1"/>
              <a:t>puppetuser.pp</a:t>
            </a:r>
            <a:endParaRPr lang="en-IN" b="1" dirty="0"/>
          </a:p>
          <a:p>
            <a:r>
              <a:rPr lang="en-IN" dirty="0"/>
              <a:t>Verify changes: grep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ditissuser</a:t>
            </a:r>
            <a:r>
              <a:rPr lang="en-IN" dirty="0"/>
              <a:t> /etc/passwd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332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Create a new script: </a:t>
            </a:r>
            <a:r>
              <a:rPr lang="en-IN" b="1" dirty="0"/>
              <a:t>nano </a:t>
            </a:r>
            <a:r>
              <a:rPr lang="en-IN" b="1" dirty="0" err="1"/>
              <a:t>demofile.pp</a:t>
            </a:r>
            <a:endParaRPr lang="en-IN" b="1" dirty="0"/>
          </a:p>
          <a:p>
            <a:r>
              <a:rPr lang="en-IN" b="1" dirty="0">
                <a:solidFill>
                  <a:srgbClr val="FF0000"/>
                </a:solidFill>
              </a:rPr>
              <a:t>file { "/var/</a:t>
            </a:r>
            <a:r>
              <a:rPr lang="en-IN" b="1" dirty="0" err="1">
                <a:solidFill>
                  <a:srgbClr val="FF0000"/>
                </a:solidFill>
              </a:rPr>
              <a:t>tmp</a:t>
            </a:r>
            <a:r>
              <a:rPr lang="en-IN" b="1" dirty="0">
                <a:solidFill>
                  <a:srgbClr val="FF0000"/>
                </a:solidFill>
              </a:rPr>
              <a:t>/</a:t>
            </a:r>
            <a:r>
              <a:rPr lang="en-IN" b="1" dirty="0" err="1">
                <a:solidFill>
                  <a:srgbClr val="FF0000"/>
                </a:solidFill>
              </a:rPr>
              <a:t>testfile</a:t>
            </a:r>
            <a:r>
              <a:rPr lang="en-IN" b="1" dirty="0">
                <a:solidFill>
                  <a:srgbClr val="FF0000"/>
                </a:solidFill>
              </a:rPr>
              <a:t>":</a:t>
            </a:r>
          </a:p>
          <a:p>
            <a:r>
              <a:rPr lang="en-IN" b="1" dirty="0">
                <a:solidFill>
                  <a:srgbClr val="FF0000"/>
                </a:solidFill>
              </a:rPr>
              <a:t>  ensure =&gt; "present",</a:t>
            </a:r>
          </a:p>
          <a:p>
            <a:r>
              <a:rPr lang="en-IN" b="1" dirty="0">
                <a:solidFill>
                  <a:srgbClr val="FF0000"/>
                </a:solidFill>
              </a:rPr>
              <a:t>  owner  =&gt; "</a:t>
            </a:r>
            <a:r>
              <a:rPr lang="en-IN" b="1" dirty="0" err="1">
                <a:solidFill>
                  <a:srgbClr val="FF0000"/>
                </a:solidFill>
              </a:rPr>
              <a:t>ditissuser</a:t>
            </a:r>
            <a:r>
              <a:rPr lang="en-IN" b="1" dirty="0">
                <a:solidFill>
                  <a:srgbClr val="FF0000"/>
                </a:solidFill>
              </a:rPr>
              <a:t>",</a:t>
            </a:r>
          </a:p>
          <a:p>
            <a:r>
              <a:rPr lang="en-IN" b="1" dirty="0">
                <a:solidFill>
                  <a:srgbClr val="FF0000"/>
                </a:solidFill>
              </a:rPr>
              <a:t>  group  =&gt; "</a:t>
            </a:r>
            <a:r>
              <a:rPr lang="en-IN" b="1" dirty="0" err="1">
                <a:solidFill>
                  <a:srgbClr val="FF0000"/>
                </a:solidFill>
              </a:rPr>
              <a:t>ditiss</a:t>
            </a:r>
            <a:r>
              <a:rPr lang="en-IN" b="1" dirty="0">
                <a:solidFill>
                  <a:srgbClr val="FF0000"/>
                </a:solidFill>
              </a:rPr>
              <a:t>",</a:t>
            </a:r>
          </a:p>
          <a:p>
            <a:r>
              <a:rPr lang="en-IN" b="1" dirty="0">
                <a:solidFill>
                  <a:srgbClr val="FF0000"/>
                </a:solidFill>
              </a:rPr>
              <a:t>  mode   =&gt; "0777",</a:t>
            </a:r>
          </a:p>
          <a:p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Exercise: Verify and run</a:t>
            </a:r>
          </a:p>
        </p:txBody>
      </p:sp>
    </p:spTree>
    <p:extLst>
      <p:ext uri="{BB962C8B-B14F-4D97-AF65-F5344CB8AC3E}">
        <p14:creationId xmlns:p14="http://schemas.microsoft.com/office/powerpoint/2010/main" val="196306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Solution:</a:t>
            </a:r>
          </a:p>
          <a:p>
            <a:r>
              <a:rPr lang="en-IN" b="1" dirty="0"/>
              <a:t>puppet parser validate </a:t>
            </a:r>
            <a:r>
              <a:rPr lang="en-IN" b="1" dirty="0" err="1"/>
              <a:t>demofile.pp</a:t>
            </a:r>
            <a:endParaRPr lang="en-IN" b="1" dirty="0"/>
          </a:p>
          <a:p>
            <a:r>
              <a:rPr lang="en-US" b="1" dirty="0"/>
              <a:t>puppet apply </a:t>
            </a:r>
            <a:r>
              <a:rPr lang="en-US" b="1" dirty="0" err="1"/>
              <a:t>demofile.pp</a:t>
            </a:r>
            <a:r>
              <a:rPr lang="en-US" b="1" dirty="0"/>
              <a:t> --</a:t>
            </a:r>
            <a:r>
              <a:rPr lang="en-US" b="1" dirty="0" err="1"/>
              <a:t>noop</a:t>
            </a:r>
            <a:endParaRPr lang="en-US" b="1" dirty="0"/>
          </a:p>
          <a:p>
            <a:r>
              <a:rPr lang="en-US" b="1" dirty="0"/>
              <a:t>puppet apply </a:t>
            </a:r>
            <a:r>
              <a:rPr lang="en-US" b="1" dirty="0" err="1"/>
              <a:t>demofile.pp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Result: Error, because group </a:t>
            </a:r>
            <a:r>
              <a:rPr lang="en-US" dirty="0" err="1"/>
              <a:t>ditiss</a:t>
            </a:r>
            <a:r>
              <a:rPr lang="en-US" dirty="0"/>
              <a:t> does not exist</a:t>
            </a:r>
          </a:p>
          <a:p>
            <a:r>
              <a:rPr lang="en-US" dirty="0"/>
              <a:t>So, first write a script to create that group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59451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nano </a:t>
            </a:r>
            <a:r>
              <a:rPr lang="en-IN" b="1" dirty="0" err="1"/>
              <a:t>puppetgroup.pp</a:t>
            </a:r>
            <a:endParaRPr lang="en-IN" b="1" dirty="0"/>
          </a:p>
          <a:p>
            <a:r>
              <a:rPr lang="en-IN" dirty="0">
                <a:solidFill>
                  <a:srgbClr val="FF0000"/>
                </a:solidFill>
              </a:rPr>
              <a:t>group { '</a:t>
            </a:r>
            <a:r>
              <a:rPr lang="en-IN" dirty="0" err="1">
                <a:solidFill>
                  <a:srgbClr val="FF0000"/>
                </a:solidFill>
              </a:rPr>
              <a:t>ditiss</a:t>
            </a:r>
            <a:r>
              <a:rPr lang="en-IN" dirty="0">
                <a:solidFill>
                  <a:srgbClr val="FF0000"/>
                </a:solidFill>
              </a:rPr>
              <a:t>':</a:t>
            </a:r>
          </a:p>
          <a:p>
            <a:r>
              <a:rPr lang="en-IN" dirty="0">
                <a:solidFill>
                  <a:srgbClr val="FF0000"/>
                </a:solidFill>
              </a:rPr>
              <a:t>  ensure =&gt; 'present',</a:t>
            </a:r>
          </a:p>
          <a:p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endParaRPr lang="en-IN" dirty="0"/>
          </a:p>
          <a:p>
            <a:r>
              <a:rPr lang="en-IN" b="1" dirty="0"/>
              <a:t>puppet parser validate </a:t>
            </a:r>
            <a:r>
              <a:rPr lang="en-IN" b="1" dirty="0" err="1"/>
              <a:t>puppetgroup.pp</a:t>
            </a:r>
            <a:endParaRPr lang="en-IN" b="1" dirty="0"/>
          </a:p>
          <a:p>
            <a:r>
              <a:rPr lang="en-US" b="1" dirty="0"/>
              <a:t>puppet apply </a:t>
            </a:r>
            <a:r>
              <a:rPr lang="en-US" b="1" dirty="0" err="1"/>
              <a:t>puppetgroup.pp</a:t>
            </a:r>
            <a:r>
              <a:rPr lang="en-US" b="1" dirty="0"/>
              <a:t> --</a:t>
            </a:r>
            <a:r>
              <a:rPr lang="en-US" b="1" dirty="0" err="1"/>
              <a:t>noop</a:t>
            </a:r>
            <a:endParaRPr lang="en-US" b="1" dirty="0"/>
          </a:p>
          <a:p>
            <a:r>
              <a:rPr lang="en-US" b="1" dirty="0"/>
              <a:t>puppet apply </a:t>
            </a:r>
            <a:r>
              <a:rPr lang="en-US" b="1" dirty="0" err="1"/>
              <a:t>puppetgroup.pp</a:t>
            </a:r>
            <a:endParaRPr lang="en-US" b="1" dirty="0"/>
          </a:p>
          <a:p>
            <a:endParaRPr lang="en-US" b="1" dirty="0"/>
          </a:p>
          <a:p>
            <a:r>
              <a:rPr lang="en-IN" dirty="0"/>
              <a:t>Verify if the group has been created: </a:t>
            </a:r>
            <a:r>
              <a:rPr lang="en-IN" b="1" dirty="0"/>
              <a:t>grep '^</a:t>
            </a:r>
            <a:r>
              <a:rPr lang="en-IN" b="1" dirty="0" err="1"/>
              <a:t>ditiss</a:t>
            </a:r>
            <a:r>
              <a:rPr lang="en-IN" b="1" dirty="0"/>
              <a:t>:' /etc/group</a:t>
            </a:r>
          </a:p>
          <a:p>
            <a:r>
              <a:rPr lang="en-IN" dirty="0"/>
              <a:t>Now retry file creation script: </a:t>
            </a:r>
            <a:r>
              <a:rPr lang="en-US" b="1" dirty="0"/>
              <a:t>puppet apply </a:t>
            </a:r>
            <a:r>
              <a:rPr lang="en-US" b="1" dirty="0" err="1"/>
              <a:t>demofile.pp</a:t>
            </a:r>
            <a:endParaRPr lang="en-US" b="1" dirty="0"/>
          </a:p>
          <a:p>
            <a:r>
              <a:rPr lang="en-US" dirty="0"/>
              <a:t>Verify if the file exists now: </a:t>
            </a:r>
            <a:r>
              <a:rPr lang="en-US" b="1" dirty="0"/>
              <a:t>ls -l /var/temp/</a:t>
            </a:r>
            <a:r>
              <a:rPr lang="en-US" b="1" dirty="0" err="1"/>
              <a:t>testfile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74122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Modify the file creation script by adding some content to it:</a:t>
            </a:r>
          </a:p>
          <a:p>
            <a:r>
              <a:rPr lang="en-IN" b="1" dirty="0"/>
              <a:t>nano </a:t>
            </a:r>
            <a:r>
              <a:rPr lang="en-IN" b="1" dirty="0" err="1"/>
              <a:t>demofile.pp</a:t>
            </a:r>
            <a:endParaRPr lang="en-IN" b="1" dirty="0"/>
          </a:p>
          <a:p>
            <a:r>
              <a:rPr lang="en-IN" dirty="0">
                <a:solidFill>
                  <a:srgbClr val="FF0000"/>
                </a:solidFill>
              </a:rPr>
              <a:t>file { "/var/</a:t>
            </a:r>
            <a:r>
              <a:rPr lang="en-IN" dirty="0" err="1">
                <a:solidFill>
                  <a:srgbClr val="FF0000"/>
                </a:solidFill>
              </a:rPr>
              <a:t>tmp</a:t>
            </a:r>
            <a:r>
              <a:rPr lang="en-IN" dirty="0">
                <a:solidFill>
                  <a:srgbClr val="FF0000"/>
                </a:solidFill>
              </a:rPr>
              <a:t>/</a:t>
            </a:r>
            <a:r>
              <a:rPr lang="en-IN" dirty="0" err="1">
                <a:solidFill>
                  <a:srgbClr val="FF0000"/>
                </a:solidFill>
              </a:rPr>
              <a:t>testfile</a:t>
            </a:r>
            <a:r>
              <a:rPr lang="en-IN" dirty="0">
                <a:solidFill>
                  <a:srgbClr val="FF0000"/>
                </a:solidFill>
              </a:rPr>
              <a:t>":</a:t>
            </a:r>
          </a:p>
          <a:p>
            <a:r>
              <a:rPr lang="en-IN" dirty="0">
                <a:solidFill>
                  <a:srgbClr val="FF0000"/>
                </a:solidFill>
              </a:rPr>
              <a:t>  ensure  =&gt; "present",</a:t>
            </a:r>
          </a:p>
          <a:p>
            <a:r>
              <a:rPr lang="en-IN" dirty="0">
                <a:solidFill>
                  <a:srgbClr val="FF0000"/>
                </a:solidFill>
              </a:rPr>
              <a:t>  owner   =&gt; "</a:t>
            </a:r>
            <a:r>
              <a:rPr lang="en-IN" dirty="0" err="1">
                <a:solidFill>
                  <a:srgbClr val="FF0000"/>
                </a:solidFill>
              </a:rPr>
              <a:t>ditissuser</a:t>
            </a:r>
            <a:r>
              <a:rPr lang="en-IN" dirty="0">
                <a:solidFill>
                  <a:srgbClr val="FF0000"/>
                </a:solidFill>
              </a:rPr>
              <a:t>",</a:t>
            </a:r>
          </a:p>
          <a:p>
            <a:r>
              <a:rPr lang="en-IN" dirty="0">
                <a:solidFill>
                  <a:srgbClr val="FF0000"/>
                </a:solidFill>
              </a:rPr>
              <a:t>  group   =&gt; "</a:t>
            </a:r>
            <a:r>
              <a:rPr lang="en-IN" dirty="0" err="1">
                <a:solidFill>
                  <a:srgbClr val="FF0000"/>
                </a:solidFill>
              </a:rPr>
              <a:t>ditiss</a:t>
            </a:r>
            <a:r>
              <a:rPr lang="en-IN" dirty="0">
                <a:solidFill>
                  <a:srgbClr val="FF0000"/>
                </a:solidFill>
              </a:rPr>
              <a:t>",</a:t>
            </a:r>
          </a:p>
          <a:p>
            <a:r>
              <a:rPr lang="en-IN" dirty="0">
                <a:solidFill>
                  <a:srgbClr val="FF0000"/>
                </a:solidFill>
              </a:rPr>
              <a:t>  mode    =&gt; "0777",</a:t>
            </a:r>
          </a:p>
          <a:p>
            <a:r>
              <a:rPr lang="en-IN" dirty="0">
                <a:solidFill>
                  <a:srgbClr val="FF0000"/>
                </a:solidFill>
              </a:rPr>
              <a:t>  content =&gt; "Hello and welcome to CDAC DITISS Puppet Course\n",</a:t>
            </a:r>
          </a:p>
          <a:p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endParaRPr lang="en-IN" dirty="0"/>
          </a:p>
          <a:p>
            <a:r>
              <a:rPr lang="en-IN" b="1" dirty="0"/>
              <a:t>puppet parser validate </a:t>
            </a:r>
            <a:r>
              <a:rPr lang="en-IN" b="1" dirty="0" err="1"/>
              <a:t>demofile.pp</a:t>
            </a:r>
            <a:endParaRPr lang="en-IN" b="1" dirty="0"/>
          </a:p>
          <a:p>
            <a:r>
              <a:rPr lang="en-US" b="1" dirty="0"/>
              <a:t>puppet apply </a:t>
            </a:r>
            <a:r>
              <a:rPr lang="en-US" b="1" dirty="0" err="1"/>
              <a:t>demofile.pp</a:t>
            </a:r>
            <a:r>
              <a:rPr lang="en-US" b="1" dirty="0"/>
              <a:t> --</a:t>
            </a:r>
            <a:r>
              <a:rPr lang="en-US" b="1" dirty="0" err="1"/>
              <a:t>noop</a:t>
            </a:r>
            <a:endParaRPr lang="en-US" b="1" dirty="0"/>
          </a:p>
          <a:p>
            <a:r>
              <a:rPr lang="en-US" b="1" dirty="0"/>
              <a:t>puppet apply </a:t>
            </a:r>
            <a:r>
              <a:rPr lang="en-US" b="1" dirty="0" err="1"/>
              <a:t>demofile.pp</a:t>
            </a:r>
            <a:endParaRPr lang="en-US" b="1" dirty="0"/>
          </a:p>
          <a:p>
            <a:endParaRPr lang="en-US" b="1" dirty="0"/>
          </a:p>
          <a:p>
            <a:r>
              <a:rPr lang="en-IN" b="1" dirty="0"/>
              <a:t>cat</a:t>
            </a:r>
            <a:r>
              <a:rPr lang="en-US" b="1" dirty="0"/>
              <a:t> /var/temp/</a:t>
            </a:r>
            <a:r>
              <a:rPr lang="en-US" b="1" dirty="0" err="1"/>
              <a:t>testfile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27294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Apache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 Install Apache package</a:t>
            </a:r>
          </a:p>
          <a:p>
            <a:r>
              <a:rPr lang="en-IN" dirty="0"/>
              <a:t>package { 'apache2':</a:t>
            </a:r>
          </a:p>
          <a:p>
            <a:r>
              <a:rPr lang="en-IN" dirty="0"/>
              <a:t>  ensure =&gt; installed,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# Ensure Apache service is running and enabled</a:t>
            </a:r>
          </a:p>
          <a:p>
            <a:r>
              <a:rPr lang="en-IN" dirty="0"/>
              <a:t>service { 'apache2':</a:t>
            </a:r>
          </a:p>
          <a:p>
            <a:r>
              <a:rPr lang="en-IN" dirty="0"/>
              <a:t>  ensure  =&gt; running,</a:t>
            </a:r>
          </a:p>
          <a:p>
            <a:r>
              <a:rPr lang="en-IN" dirty="0"/>
              <a:t>  enable  =&gt; true,</a:t>
            </a:r>
          </a:p>
          <a:p>
            <a:r>
              <a:rPr lang="en-IN" dirty="0"/>
              <a:t>  require =&gt; Package['apache2'],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# Create document root directory</a:t>
            </a:r>
          </a:p>
          <a:p>
            <a:r>
              <a:rPr lang="en-IN" dirty="0"/>
              <a:t>file { '/var/www/html':</a:t>
            </a:r>
          </a:p>
          <a:p>
            <a:r>
              <a:rPr lang="en-IN" dirty="0"/>
              <a:t>  ensure =&gt; directory,</a:t>
            </a:r>
          </a:p>
          <a:p>
            <a:r>
              <a:rPr lang="en-IN" dirty="0"/>
              <a:t>  owner  =&gt; ‘root',</a:t>
            </a:r>
          </a:p>
          <a:p>
            <a:r>
              <a:rPr lang="en-IN" dirty="0"/>
              <a:t>  group  =&gt; 'www-data',</a:t>
            </a:r>
          </a:p>
          <a:p>
            <a:r>
              <a:rPr lang="en-IN" dirty="0"/>
              <a:t>  mode   =&gt; '0755',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# Create a basic index.html</a:t>
            </a:r>
          </a:p>
          <a:p>
            <a:r>
              <a:rPr lang="en-IN" dirty="0"/>
              <a:t>file { '/var/www/html/index.html':</a:t>
            </a:r>
          </a:p>
          <a:p>
            <a:r>
              <a:rPr lang="en-IN" dirty="0"/>
              <a:t>  ensure  =&gt; file,</a:t>
            </a:r>
          </a:p>
          <a:p>
            <a:r>
              <a:rPr lang="en-IN" dirty="0"/>
              <a:t>  content =&gt; '&lt;html&gt;&lt;body&gt;&lt;h1&gt;Welcome to Apache!&lt;/h1&gt;&lt;/body&gt;&lt;/html&gt;',</a:t>
            </a:r>
          </a:p>
          <a:p>
            <a:r>
              <a:rPr lang="en-IN" dirty="0"/>
              <a:t>  owner   =&gt; ‘root',</a:t>
            </a:r>
          </a:p>
          <a:p>
            <a:r>
              <a:rPr lang="en-IN" dirty="0"/>
              <a:t>  group   =&gt; 'www-data',</a:t>
            </a:r>
          </a:p>
          <a:p>
            <a:r>
              <a:rPr lang="en-IN" dirty="0"/>
              <a:t>  mode    =&gt; '0644',</a:t>
            </a:r>
          </a:p>
          <a:p>
            <a:r>
              <a:rPr lang="en-IN" dirty="0"/>
              <a:t>  require =&gt; File['/var/www/html'],</a:t>
            </a:r>
          </a:p>
          <a:p>
            <a:r>
              <a:rPr lang="en-IN" dirty="0"/>
              <a:t>}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1FFDE-C6CE-C35B-1182-A5A301F16A32}"/>
              </a:ext>
            </a:extLst>
          </p:cNvPr>
          <p:cNvSpPr txBox="1"/>
          <p:nvPr/>
        </p:nvSpPr>
        <p:spPr>
          <a:xfrm>
            <a:off x="4475747" y="1690688"/>
            <a:ext cx="75365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puppet parser validate </a:t>
            </a:r>
            <a:r>
              <a:rPr lang="en-IN" sz="2000" b="1" dirty="0" err="1"/>
              <a:t>demofile.pp</a:t>
            </a:r>
            <a:endParaRPr lang="en-IN" sz="2000" b="1" dirty="0"/>
          </a:p>
          <a:p>
            <a:r>
              <a:rPr lang="en-US" sz="2000" b="1" dirty="0"/>
              <a:t>puppet apply </a:t>
            </a:r>
            <a:r>
              <a:rPr lang="en-US" sz="2000" b="1" dirty="0" err="1"/>
              <a:t>demofile.pp</a:t>
            </a:r>
            <a:r>
              <a:rPr lang="en-US" sz="2000" b="1" dirty="0"/>
              <a:t> --</a:t>
            </a:r>
            <a:r>
              <a:rPr lang="en-US" sz="2000" b="1" dirty="0" err="1"/>
              <a:t>noop</a:t>
            </a:r>
            <a:endParaRPr lang="en-US" sz="2000" b="1" dirty="0"/>
          </a:p>
          <a:p>
            <a:r>
              <a:rPr lang="en-US" sz="2000" b="1" dirty="0"/>
              <a:t>puppet apply </a:t>
            </a:r>
            <a:r>
              <a:rPr lang="en-US" sz="2000" b="1" dirty="0" err="1"/>
              <a:t>demofile.pp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If </a:t>
            </a:r>
            <a:r>
              <a:rPr lang="en-US" sz="2000" b="1" dirty="0" err="1"/>
              <a:t>sudo</a:t>
            </a:r>
            <a:r>
              <a:rPr lang="en-US" sz="2000" b="1" dirty="0"/>
              <a:t> gives error: </a:t>
            </a:r>
            <a:r>
              <a:rPr lang="en-US" sz="2000" b="1" dirty="0" err="1"/>
              <a:t>sudo</a:t>
            </a:r>
            <a:r>
              <a:rPr lang="en-US" sz="2000" b="1" dirty="0"/>
              <a:t> /opt/</a:t>
            </a:r>
            <a:r>
              <a:rPr lang="en-US" sz="2000" b="1" dirty="0" err="1"/>
              <a:t>puppetlabs</a:t>
            </a:r>
            <a:r>
              <a:rPr lang="en-US" sz="2000" b="1" dirty="0"/>
              <a:t>/bin/puppet </a:t>
            </a:r>
            <a:r>
              <a:rPr lang="en-US" sz="2000" b="1" dirty="0" err="1"/>
              <a:t>demofile.pp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Test: curl localhost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3342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Start </a:t>
            </a:r>
            <a:r>
              <a:rPr lang="en-IN" dirty="0" err="1"/>
              <a:t>nfs</a:t>
            </a:r>
            <a:r>
              <a:rPr lang="en-IN" dirty="0"/>
              <a:t>: First check that it is not present: </a:t>
            </a:r>
            <a:r>
              <a:rPr lang="en-IN" b="1" dirty="0" err="1"/>
              <a:t>systemctl</a:t>
            </a:r>
            <a:r>
              <a:rPr lang="en-IN" b="1" dirty="0"/>
              <a:t> status </a:t>
            </a:r>
            <a:r>
              <a:rPr lang="en-IN" b="1" dirty="0" err="1"/>
              <a:t>nfs</a:t>
            </a:r>
            <a:endParaRPr lang="en-IN" b="1" dirty="0"/>
          </a:p>
          <a:p>
            <a:r>
              <a:rPr lang="en-IN" b="1" dirty="0"/>
              <a:t>nano </a:t>
            </a:r>
            <a:r>
              <a:rPr lang="en-IN" b="1" dirty="0" err="1"/>
              <a:t>demoservice.pp</a:t>
            </a:r>
            <a:endParaRPr lang="en-IN" b="1" dirty="0"/>
          </a:p>
          <a:p>
            <a:r>
              <a:rPr lang="en-IN" dirty="0">
                <a:solidFill>
                  <a:srgbClr val="FF0000"/>
                </a:solidFill>
              </a:rPr>
              <a:t>service { "</a:t>
            </a:r>
            <a:r>
              <a:rPr lang="en-IN" dirty="0" err="1">
                <a:solidFill>
                  <a:srgbClr val="FF0000"/>
                </a:solidFill>
              </a:rPr>
              <a:t>nfs</a:t>
            </a:r>
            <a:r>
              <a:rPr lang="en-IN" dirty="0">
                <a:solidFill>
                  <a:srgbClr val="FF0000"/>
                </a:solidFill>
              </a:rPr>
              <a:t>":</a:t>
            </a:r>
          </a:p>
          <a:p>
            <a:r>
              <a:rPr lang="en-IN" dirty="0">
                <a:solidFill>
                  <a:srgbClr val="FF0000"/>
                </a:solidFill>
              </a:rPr>
              <a:t>  ensure =&gt; "running",</a:t>
            </a:r>
          </a:p>
          <a:p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endParaRPr lang="en-IN" dirty="0"/>
          </a:p>
          <a:p>
            <a:r>
              <a:rPr lang="en-IN" b="1" dirty="0"/>
              <a:t>puppet parser validate </a:t>
            </a:r>
            <a:r>
              <a:rPr lang="en-IN" b="1" dirty="0" err="1"/>
              <a:t>demoservice.pp</a:t>
            </a:r>
            <a:endParaRPr lang="en-IN" b="1" dirty="0"/>
          </a:p>
          <a:p>
            <a:r>
              <a:rPr lang="en-US" b="1" dirty="0"/>
              <a:t>puppet apply </a:t>
            </a:r>
            <a:r>
              <a:rPr lang="en-IN" b="1" dirty="0" err="1"/>
              <a:t>demoservice</a:t>
            </a:r>
            <a:r>
              <a:rPr lang="en-US" b="1" dirty="0"/>
              <a:t>.pp --</a:t>
            </a:r>
            <a:r>
              <a:rPr lang="en-US" b="1" dirty="0" err="1"/>
              <a:t>noop</a:t>
            </a:r>
            <a:endParaRPr lang="en-US" b="1" dirty="0"/>
          </a:p>
          <a:p>
            <a:r>
              <a:rPr lang="en-US" b="1" dirty="0"/>
              <a:t>puppet apply </a:t>
            </a:r>
            <a:r>
              <a:rPr lang="en-IN" b="1" dirty="0" err="1"/>
              <a:t>demoservice</a:t>
            </a:r>
            <a:r>
              <a:rPr lang="en-US" b="1" dirty="0"/>
              <a:t>.pp</a:t>
            </a:r>
          </a:p>
          <a:p>
            <a:endParaRPr lang="en-US" b="1" dirty="0"/>
          </a:p>
          <a:p>
            <a:r>
              <a:rPr lang="en-IN" dirty="0"/>
              <a:t>Success? </a:t>
            </a:r>
            <a:r>
              <a:rPr lang="en-IN" b="1" dirty="0" err="1"/>
              <a:t>systemctl</a:t>
            </a:r>
            <a:r>
              <a:rPr lang="en-IN" b="1" dirty="0"/>
              <a:t> status </a:t>
            </a:r>
            <a:r>
              <a:rPr lang="en-IN" b="1" dirty="0" err="1"/>
              <a:t>nfs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1545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F00E-D83A-3E95-9537-2EEBD338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DEA5-2445-9BC1-8653-61EE5C27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Create multiple resources: </a:t>
            </a:r>
            <a:r>
              <a:rPr lang="en-IN" b="1" dirty="0"/>
              <a:t>nano </a:t>
            </a:r>
            <a:r>
              <a:rPr lang="en-IN" b="1" dirty="0" err="1"/>
              <a:t>demomultiresource.pp</a:t>
            </a:r>
            <a:endParaRPr lang="en-IN" b="1" dirty="0"/>
          </a:p>
          <a:p>
            <a:r>
              <a:rPr lang="en-US" dirty="0">
                <a:solidFill>
                  <a:srgbClr val="FF0000"/>
                </a:solidFill>
              </a:rPr>
              <a:t>file { "/var/</a:t>
            </a:r>
            <a:r>
              <a:rPr lang="en-US" dirty="0" err="1">
                <a:solidFill>
                  <a:srgbClr val="FF0000"/>
                </a:solidFill>
              </a:rPr>
              <a:t>tmp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testdir</a:t>
            </a:r>
            <a:r>
              <a:rPr lang="en-US" dirty="0">
                <a:solidFill>
                  <a:srgbClr val="FF0000"/>
                </a:solidFill>
              </a:rPr>
              <a:t>":</a:t>
            </a:r>
          </a:p>
          <a:p>
            <a:r>
              <a:rPr lang="en-US" dirty="0">
                <a:solidFill>
                  <a:srgbClr val="FF0000"/>
                </a:solidFill>
              </a:rPr>
              <a:t>  ensure =&gt; "directory",</a:t>
            </a: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file { "/var/</a:t>
            </a:r>
            <a:r>
              <a:rPr lang="en-US" dirty="0" err="1">
                <a:solidFill>
                  <a:srgbClr val="FF0000"/>
                </a:solidFill>
              </a:rPr>
              <a:t>tmp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testdir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testfile</a:t>
            </a:r>
            <a:r>
              <a:rPr lang="en-US" dirty="0">
                <a:solidFill>
                  <a:srgbClr val="FF0000"/>
                </a:solidFill>
              </a:rPr>
              <a:t>":</a:t>
            </a:r>
          </a:p>
          <a:p>
            <a:r>
              <a:rPr lang="en-US" dirty="0">
                <a:solidFill>
                  <a:srgbClr val="FF0000"/>
                </a:solidFill>
              </a:rPr>
              <a:t>  ensure =&gt; "present",</a:t>
            </a: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Verify and test as before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36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32DF-FC61-8D4C-9CBF-4A9DEDB6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Ansible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8CACA6-3CB1-DFB6-A873-D873AE396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597498"/>
              </p:ext>
            </p:extLst>
          </p:nvPr>
        </p:nvGraphicFramePr>
        <p:xfrm>
          <a:off x="663540" y="1445084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302285">
                  <a:extLst>
                    <a:ext uri="{9D8B030D-6E8A-4147-A177-3AD203B41FA5}">
                      <a16:colId xmlns:a16="http://schemas.microsoft.com/office/drawing/2014/main" val="1339355608"/>
                    </a:ext>
                  </a:extLst>
                </a:gridCol>
                <a:gridCol w="7213315">
                  <a:extLst>
                    <a:ext uri="{9D8B030D-6E8A-4147-A177-3AD203B41FA5}">
                      <a16:colId xmlns:a16="http://schemas.microsoft.com/office/drawing/2014/main" val="300066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3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Tool for configuration management and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12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Automate server setup and application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184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Agentless automation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79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Works 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Linux servers, cloud,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16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Key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Run tasks on multiple machines using simple scripts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18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58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D32E-7C9F-D0B5-354E-F75BE9A7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Ansible 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445EF2-5A83-85D2-7ED8-B72D66BB0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8603570"/>
              </p:ext>
            </p:extLst>
          </p:nvPr>
        </p:nvGraphicFramePr>
        <p:xfrm>
          <a:off x="838200" y="1527277"/>
          <a:ext cx="10515600" cy="2743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381072">
                  <a:extLst>
                    <a:ext uri="{9D8B030D-6E8A-4147-A177-3AD203B41FA5}">
                      <a16:colId xmlns:a16="http://schemas.microsoft.com/office/drawing/2014/main" val="81509045"/>
                    </a:ext>
                  </a:extLst>
                </a:gridCol>
                <a:gridCol w="6134528">
                  <a:extLst>
                    <a:ext uri="{9D8B030D-6E8A-4147-A177-3AD203B41FA5}">
                      <a16:colId xmlns:a16="http://schemas.microsoft.com/office/drawing/2014/main" val="1236207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86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Agentless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 software needed on target machines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975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Uses YAML (easy to read)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990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Runs over SSH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24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Idempotent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Safe to run multiple 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29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Works on many servers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40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010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0813-BABC-46DC-80B8-5AC132D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 and Install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C13289-B47B-A8AA-B223-D97D8F69B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89083"/>
              </p:ext>
            </p:extLst>
          </p:nvPr>
        </p:nvGraphicFramePr>
        <p:xfrm>
          <a:off x="838200" y="1517003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32389">
                  <a:extLst>
                    <a:ext uri="{9D8B030D-6E8A-4147-A177-3AD203B41FA5}">
                      <a16:colId xmlns:a16="http://schemas.microsoft.com/office/drawing/2014/main" val="157398616"/>
                    </a:ext>
                  </a:extLst>
                </a:gridCol>
                <a:gridCol w="9083211">
                  <a:extLst>
                    <a:ext uri="{9D8B030D-6E8A-4147-A177-3AD203B41FA5}">
                      <a16:colId xmlns:a16="http://schemas.microsoft.com/office/drawing/2014/main" val="3165760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77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Define inventory (servers)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05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Write playbook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51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playbook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1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Ansible connects via SSH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67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Executes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5006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F7977F-33F2-0274-707A-D1CFE787D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212145"/>
              </p:ext>
            </p:extLst>
          </p:nvPr>
        </p:nvGraphicFramePr>
        <p:xfrm>
          <a:off x="838200" y="4593085"/>
          <a:ext cx="10515600" cy="1371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124218">
                  <a:extLst>
                    <a:ext uri="{9D8B030D-6E8A-4147-A177-3AD203B41FA5}">
                      <a16:colId xmlns:a16="http://schemas.microsoft.com/office/drawing/2014/main" val="1742476014"/>
                    </a:ext>
                  </a:extLst>
                </a:gridCol>
                <a:gridCol w="6391382">
                  <a:extLst>
                    <a:ext uri="{9D8B030D-6E8A-4147-A177-3AD203B41FA5}">
                      <a16:colId xmlns:a16="http://schemas.microsoft.com/office/drawing/2014/main" val="450617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79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 (Ubuntu)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sudo</a:t>
                      </a:r>
                      <a:r>
                        <a:rPr lang="en-IN" sz="2400" b="1" dirty="0"/>
                        <a:t>   apt    install    ansible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729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Check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 --version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15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488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F7DC-6088-8DA9-CF35-7C3CFE66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Installation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3E38-CC22-B178-1E44-D03FAAEA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see a </a:t>
            </a:r>
            <a:r>
              <a:rPr lang="en-IN" i="1" dirty="0"/>
              <a:t>Ansible requires … UTF-8 </a:t>
            </a:r>
            <a:r>
              <a:rPr lang="en-IN" dirty="0"/>
              <a:t>error:</a:t>
            </a:r>
          </a:p>
          <a:p>
            <a:pPr lvl="1"/>
            <a:r>
              <a:rPr lang="en-IN" b="1" dirty="0"/>
              <a:t>export   LANG=en_US.UTF-8</a:t>
            </a:r>
          </a:p>
          <a:p>
            <a:pPr lvl="1"/>
            <a:r>
              <a:rPr lang="en-IN" b="1" dirty="0"/>
              <a:t>export   LC_ALL=en_US.UTF-8</a:t>
            </a:r>
          </a:p>
          <a:p>
            <a:r>
              <a:rPr lang="en-IN" dirty="0"/>
              <a:t>To make these changes permanent:</a:t>
            </a:r>
          </a:p>
          <a:p>
            <a:pPr lvl="1"/>
            <a:r>
              <a:rPr lang="en-IN" b="1" dirty="0" err="1"/>
              <a:t>sudo</a:t>
            </a:r>
            <a:r>
              <a:rPr lang="en-IN" b="1" dirty="0"/>
              <a:t>  nano  ~/.</a:t>
            </a:r>
            <a:r>
              <a:rPr lang="en-IN" b="1" dirty="0" err="1"/>
              <a:t>bashrc</a:t>
            </a:r>
            <a:endParaRPr lang="en-IN" b="1" dirty="0"/>
          </a:p>
          <a:p>
            <a:pPr lvl="1"/>
            <a:r>
              <a:rPr lang="en-IN" b="1" dirty="0">
                <a:highlight>
                  <a:srgbClr val="FFFF00"/>
                </a:highlight>
              </a:rPr>
              <a:t>export   LANG=en_US.UTF-8</a:t>
            </a:r>
          </a:p>
          <a:p>
            <a:pPr lvl="1"/>
            <a:r>
              <a:rPr lang="en-IN" b="1" dirty="0">
                <a:highlight>
                  <a:srgbClr val="FFFF00"/>
                </a:highlight>
              </a:rPr>
              <a:t>export   LC_ALL=en_US.UTF-8      </a:t>
            </a:r>
            <a:r>
              <a:rPr lang="en-IN" b="1" dirty="0"/>
              <a:t>…. Then save the file and exit</a:t>
            </a:r>
          </a:p>
          <a:p>
            <a:pPr lvl="1"/>
            <a:r>
              <a:rPr lang="en-IN" b="1" dirty="0"/>
              <a:t>source      ~/.</a:t>
            </a:r>
            <a:r>
              <a:rPr lang="en-IN" b="1" dirty="0" err="1"/>
              <a:t>bashrc</a:t>
            </a:r>
            <a:endParaRPr lang="en-IN" b="1" dirty="0"/>
          </a:p>
          <a:p>
            <a:r>
              <a:rPr lang="en-IN" dirty="0"/>
              <a:t>Again try </a:t>
            </a:r>
            <a:r>
              <a:rPr lang="en-IN" b="1" dirty="0"/>
              <a:t>ansible       --version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559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AF9D-26AD-BABC-996C-16D7CBB4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B535-BDD6-DFD1-FAC9-5A179DA4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ansible    all    -m    ping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C8585E-9BD0-782F-FDEB-8AD9A5D75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58572"/>
              </p:ext>
            </p:extLst>
          </p:nvPr>
        </p:nvGraphicFramePr>
        <p:xfrm>
          <a:off x="838200" y="237386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815993">
                  <a:extLst>
                    <a:ext uri="{9D8B030D-6E8A-4147-A177-3AD203B41FA5}">
                      <a16:colId xmlns:a16="http://schemas.microsoft.com/office/drawing/2014/main" val="3114926149"/>
                    </a:ext>
                  </a:extLst>
                </a:gridCol>
                <a:gridCol w="6699607">
                  <a:extLst>
                    <a:ext uri="{9D8B030D-6E8A-4147-A177-3AD203B41FA5}">
                      <a16:colId xmlns:a16="http://schemas.microsoft.com/office/drawing/2014/main" val="1988441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220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 hosts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31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-m 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test 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3811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302C59-25F4-7E05-0C21-228AF386D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405342"/>
              </p:ext>
            </p:extLst>
          </p:nvPr>
        </p:nvGraphicFramePr>
        <p:xfrm>
          <a:off x="838200" y="4337605"/>
          <a:ext cx="105156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826267">
                  <a:extLst>
                    <a:ext uri="{9D8B030D-6E8A-4147-A177-3AD203B41FA5}">
                      <a16:colId xmlns:a16="http://schemas.microsoft.com/office/drawing/2014/main" val="2028190378"/>
                    </a:ext>
                  </a:extLst>
                </a:gridCol>
                <a:gridCol w="6689333">
                  <a:extLst>
                    <a:ext uri="{9D8B030D-6E8A-4147-A177-3AD203B41FA5}">
                      <a16:colId xmlns:a16="http://schemas.microsoft.com/office/drawing/2014/main" val="1851862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Module 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55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Test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0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apt/yum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 packages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443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Copy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068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Manage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512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140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53A8-B2DD-B261-1FF2-1E7D94C9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Labs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C7610F-6463-2CDE-6952-AE896C149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234286"/>
              </p:ext>
            </p:extLst>
          </p:nvPr>
        </p:nvGraphicFramePr>
        <p:xfrm>
          <a:off x="838200" y="1825625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74897">
                  <a:extLst>
                    <a:ext uri="{9D8B030D-6E8A-4147-A177-3AD203B41FA5}">
                      <a16:colId xmlns:a16="http://schemas.microsoft.com/office/drawing/2014/main" val="4138063629"/>
                    </a:ext>
                  </a:extLst>
                </a:gridCol>
                <a:gridCol w="6740703">
                  <a:extLst>
                    <a:ext uri="{9D8B030D-6E8A-4147-A177-3AD203B41FA5}">
                      <a16:colId xmlns:a16="http://schemas.microsoft.com/office/drawing/2014/main" val="2481249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File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62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first.yml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Install nginx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25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service.yml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Start nginx service and enable at boot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88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765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5D1A-AA31-2824-DB75-76657A40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1CA4-2908-178E-8DCD-4A020FF4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and Running Playbooks (</a:t>
            </a:r>
            <a:r>
              <a:rPr lang="en-IN" dirty="0" err="1"/>
              <a:t>first.yml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3F4BA-2B5D-E13D-CA4C-DDD94C874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Ansible inventory is at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/ansible/hosts – If it is empty, nginx will not get installed anywhere</a:t>
            </a:r>
          </a:p>
          <a:p>
            <a:r>
              <a:rPr lang="en-US" dirty="0"/>
              <a:t>To test it on localhost, create a hosts file and mention localhost</a:t>
            </a:r>
          </a:p>
          <a:p>
            <a:pPr marL="457200" lvl="1" indent="0">
              <a:buNone/>
            </a:pPr>
            <a:r>
              <a:rPr lang="en-IN" dirty="0"/>
              <a:t>nano hosts</a:t>
            </a:r>
          </a:p>
          <a:p>
            <a:pPr marL="457200" lvl="1" indent="0">
              <a:buNone/>
            </a:pPr>
            <a:r>
              <a:rPr lang="en-IN" dirty="0"/>
              <a:t>[local]</a:t>
            </a:r>
          </a:p>
          <a:p>
            <a:pPr marL="457200" lvl="1" indent="0">
              <a:buNone/>
            </a:pPr>
            <a:r>
              <a:rPr lang="en-IN" dirty="0"/>
              <a:t>localhost </a:t>
            </a:r>
            <a:r>
              <a:rPr lang="en-IN" dirty="0" err="1"/>
              <a:t>ansible_connection</a:t>
            </a:r>
            <a:r>
              <a:rPr lang="en-IN" dirty="0"/>
              <a:t>=local</a:t>
            </a:r>
          </a:p>
          <a:p>
            <a:r>
              <a:rPr lang="en-IN" dirty="0"/>
              <a:t>To run</a:t>
            </a:r>
          </a:p>
          <a:p>
            <a:pPr lvl="1"/>
            <a:r>
              <a:rPr lang="en-IN" dirty="0"/>
              <a:t>First check syntax: </a:t>
            </a:r>
            <a:r>
              <a:rPr lang="en-IN" b="1" dirty="0"/>
              <a:t>ansible-playbook   --syntax-check   </a:t>
            </a:r>
            <a:r>
              <a:rPr lang="en-IN" b="1" dirty="0" err="1"/>
              <a:t>first.yml</a:t>
            </a:r>
            <a:endParaRPr lang="en-IN" b="1" dirty="0"/>
          </a:p>
          <a:p>
            <a:pPr lvl="1"/>
            <a:r>
              <a:rPr lang="en-IN" dirty="0"/>
              <a:t>Dry run: </a:t>
            </a:r>
            <a:r>
              <a:rPr lang="en-IN" b="1" dirty="0"/>
              <a:t>ansible-playbook  -</a:t>
            </a:r>
            <a:r>
              <a:rPr lang="en-IN" b="1" dirty="0" err="1"/>
              <a:t>i</a:t>
            </a:r>
            <a:r>
              <a:rPr lang="en-IN" b="1" dirty="0"/>
              <a:t> hosts    --check    </a:t>
            </a:r>
            <a:r>
              <a:rPr lang="en-IN" b="1" dirty="0" err="1"/>
              <a:t>first.yml</a:t>
            </a:r>
            <a:endParaRPr lang="en-IN" b="1" dirty="0"/>
          </a:p>
          <a:p>
            <a:pPr lvl="1"/>
            <a:r>
              <a:rPr lang="en-IN" dirty="0"/>
              <a:t>Run: </a:t>
            </a:r>
            <a:r>
              <a:rPr lang="en-IN" b="1" dirty="0"/>
              <a:t>ansible-playbook    -</a:t>
            </a:r>
            <a:r>
              <a:rPr lang="en-IN" b="1" dirty="0" err="1"/>
              <a:t>i</a:t>
            </a:r>
            <a:r>
              <a:rPr lang="en-IN" b="1" dirty="0"/>
              <a:t> hosts      </a:t>
            </a:r>
            <a:r>
              <a:rPr lang="en-IN" b="1" dirty="0" err="1"/>
              <a:t>first.yml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690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B28C-9A3E-7A14-42E6-03E73384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FF69-3D50-F6DE-D531-8856F0C9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 to the hosts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0A9F-D2C4-A3DD-5E54-3BADB543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 nginx on the same (local) machine as ansible server:</a:t>
            </a:r>
          </a:p>
          <a:p>
            <a:r>
              <a:rPr lang="en-IN" b="1" dirty="0" err="1"/>
              <a:t>sudo</a:t>
            </a:r>
            <a:r>
              <a:rPr lang="en-IN" b="1" dirty="0"/>
              <a:t> ansible-playbook  -</a:t>
            </a:r>
            <a:r>
              <a:rPr lang="en-IN" b="1" dirty="0" err="1"/>
              <a:t>i</a:t>
            </a:r>
            <a:r>
              <a:rPr lang="en-IN" b="1" dirty="0"/>
              <a:t> "localhost," -c local      </a:t>
            </a:r>
            <a:r>
              <a:rPr lang="en-IN" b="1" dirty="0" err="1"/>
              <a:t>first.yaml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Verify that nginx is installed:</a:t>
            </a:r>
          </a:p>
          <a:p>
            <a:r>
              <a:rPr lang="en-IN" b="1" dirty="0"/>
              <a:t>ansible localhost -m shell -a "</a:t>
            </a:r>
            <a:r>
              <a:rPr lang="en-IN" b="1" dirty="0" err="1"/>
              <a:t>systemctl</a:t>
            </a:r>
            <a:r>
              <a:rPr lang="en-IN" b="1" dirty="0"/>
              <a:t> status nginx"</a:t>
            </a:r>
          </a:p>
        </p:txBody>
      </p:sp>
    </p:spTree>
    <p:extLst>
      <p:ext uri="{BB962C8B-B14F-4D97-AF65-F5344CB8AC3E}">
        <p14:creationId xmlns:p14="http://schemas.microsoft.com/office/powerpoint/2010/main" val="3820471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3963-65DB-6CD9-E785-D93E074E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2: Start and Enable nginx Service (</a:t>
            </a:r>
            <a:r>
              <a:rPr lang="en-IN" dirty="0" err="1"/>
              <a:t>service.yml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9003-4C6A-1DE4-22D4-FA09EC5C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- hosts: all</a:t>
            </a:r>
          </a:p>
          <a:p>
            <a:pPr marL="0" indent="0">
              <a:buNone/>
            </a:pPr>
            <a:r>
              <a:rPr lang="en-US" dirty="0"/>
              <a:t>   become: yes</a:t>
            </a:r>
          </a:p>
          <a:p>
            <a:pPr marL="0" indent="0">
              <a:buNone/>
            </a:pPr>
            <a:r>
              <a:rPr lang="en-US" dirty="0"/>
              <a:t>  tasks:</a:t>
            </a:r>
          </a:p>
          <a:p>
            <a:pPr marL="0" indent="0">
              <a:buNone/>
            </a:pPr>
            <a:r>
              <a:rPr lang="en-US" dirty="0"/>
              <a:t>    - name: Start nginx</a:t>
            </a:r>
          </a:p>
          <a:p>
            <a:pPr marL="0" indent="0">
              <a:buNone/>
            </a:pPr>
            <a:r>
              <a:rPr lang="en-US" dirty="0"/>
              <a:t>      service:</a:t>
            </a:r>
          </a:p>
          <a:p>
            <a:pPr marL="0" indent="0">
              <a:buNone/>
            </a:pPr>
            <a:r>
              <a:rPr lang="en-US" dirty="0"/>
              <a:t>        name: nginx</a:t>
            </a:r>
          </a:p>
          <a:p>
            <a:pPr marL="0" indent="0">
              <a:buNone/>
            </a:pPr>
            <a:r>
              <a:rPr lang="en-US" dirty="0"/>
              <a:t>        state: started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- name: Enable nginx at boot</a:t>
            </a:r>
          </a:p>
          <a:p>
            <a:pPr marL="0" indent="0">
              <a:buNone/>
            </a:pPr>
            <a:r>
              <a:rPr lang="en-US" dirty="0"/>
              <a:t>      service:</a:t>
            </a:r>
          </a:p>
          <a:p>
            <a:pPr marL="0" indent="0">
              <a:buNone/>
            </a:pPr>
            <a:r>
              <a:rPr lang="en-US" dirty="0"/>
              <a:t>        name: nginx</a:t>
            </a:r>
          </a:p>
          <a:p>
            <a:pPr marL="0" indent="0">
              <a:buNone/>
            </a:pPr>
            <a:r>
              <a:rPr lang="en-US" dirty="0"/>
              <a:t>        enabled: yes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1986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7DAD-E32E-FFBD-F248-F5C10498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94"/>
            <a:ext cx="10515600" cy="598844"/>
          </a:xfrm>
        </p:spPr>
        <p:txBody>
          <a:bodyPr>
            <a:normAutofit fontScale="90000"/>
          </a:bodyPr>
          <a:lstStyle/>
          <a:p>
            <a:r>
              <a:rPr lang="en-IN" dirty="0"/>
              <a:t>Client-Server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3F3318-35CA-6632-98B0-5D2FF914D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69286"/>
              </p:ext>
            </p:extLst>
          </p:nvPr>
        </p:nvGraphicFramePr>
        <p:xfrm>
          <a:off x="296238" y="681038"/>
          <a:ext cx="11599524" cy="591132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36998">
                  <a:extLst>
                    <a:ext uri="{9D8B030D-6E8A-4147-A177-3AD203B41FA5}">
                      <a16:colId xmlns:a16="http://schemas.microsoft.com/office/drawing/2014/main" val="1808121752"/>
                    </a:ext>
                  </a:extLst>
                </a:gridCol>
                <a:gridCol w="2229492">
                  <a:extLst>
                    <a:ext uri="{9D8B030D-6E8A-4147-A177-3AD203B41FA5}">
                      <a16:colId xmlns:a16="http://schemas.microsoft.com/office/drawing/2014/main" val="3835307125"/>
                    </a:ext>
                  </a:extLst>
                </a:gridCol>
                <a:gridCol w="5291191">
                  <a:extLst>
                    <a:ext uri="{9D8B030D-6E8A-4147-A177-3AD203B41FA5}">
                      <a16:colId xmlns:a16="http://schemas.microsoft.com/office/drawing/2014/main" val="50462823"/>
                    </a:ext>
                  </a:extLst>
                </a:gridCol>
                <a:gridCol w="3441843">
                  <a:extLst>
                    <a:ext uri="{9D8B030D-6E8A-4147-A177-3AD203B41FA5}">
                      <a16:colId xmlns:a16="http://schemas.microsoft.com/office/drawing/2014/main" val="927713855"/>
                    </a:ext>
                  </a:extLst>
                </a:gridCol>
              </a:tblGrid>
              <a:tr h="27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999869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  apt-get   update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Update package list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866134"/>
                  </a:ext>
                </a:extLst>
              </a:tr>
              <a:tr h="690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sudo</a:t>
                      </a:r>
                      <a:r>
                        <a:rPr lang="en-US" sz="2400" dirty="0"/>
                        <a:t>   apt-get   install  </a:t>
                      </a:r>
                      <a:r>
                        <a:rPr lang="en-US" sz="2400" dirty="0" err="1"/>
                        <a:t>openssh</a:t>
                      </a:r>
                      <a:r>
                        <a:rPr lang="en-US" sz="2400" dirty="0"/>
                        <a:t>-server  -y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 SSH 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629910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   </a:t>
                      </a:r>
                      <a:r>
                        <a:rPr lang="en-IN" sz="2400" dirty="0" err="1"/>
                        <a:t>systemctl</a:t>
                      </a:r>
                      <a:r>
                        <a:rPr lang="en-IN" sz="2400" dirty="0"/>
                        <a:t>   status   ssh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SSH is running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264746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ip</a:t>
                      </a:r>
                      <a:r>
                        <a:rPr lang="en-IN" sz="2400" dirty="0"/>
                        <a:t>   </a:t>
                      </a:r>
                      <a:r>
                        <a:rPr lang="en-IN" sz="2400" dirty="0" err="1"/>
                        <a:t>addr</a:t>
                      </a:r>
                      <a:endParaRPr lang="en-IN" sz="240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Get IP address (e.g., 192.168.0.187)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860220"/>
                  </a:ext>
                </a:extLst>
              </a:tr>
              <a:tr h="690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/>
                        <a:t>sudo   nano /</a:t>
                      </a:r>
                      <a:r>
                        <a:rPr lang="es-ES" sz="2400" dirty="0" err="1"/>
                        <a:t>etc</a:t>
                      </a:r>
                      <a:r>
                        <a:rPr lang="es-ES" sz="2400" dirty="0"/>
                        <a:t>/ansible/hosts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inventory file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746780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[</a:t>
                      </a:r>
                      <a:r>
                        <a:rPr lang="en-IN" sz="2400" dirty="0" err="1"/>
                        <a:t>labclients</a:t>
                      </a:r>
                      <a:r>
                        <a:rPr lang="en-IN" sz="2400" dirty="0"/>
                        <a:t>]</a:t>
                      </a: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192.168.0.187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Add client under group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169661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ansible-inventory   --list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inventory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872102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ssh-keygen (press ENTER 3 times)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Generate SSH key pair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252724"/>
                  </a:ext>
                </a:extLst>
              </a:tr>
              <a:tr h="48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 → Client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ssh-copy-id   </a:t>
                      </a: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192.168.0.187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Copy public key to client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531790"/>
                  </a:ext>
                </a:extLst>
              </a:tr>
              <a:tr h="27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ssh  </a:t>
                      </a:r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192.168.0.187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Test </a:t>
                      </a:r>
                      <a:r>
                        <a:rPr lang="en-IN" sz="2400" dirty="0" err="1"/>
                        <a:t>passwordless</a:t>
                      </a:r>
                      <a:r>
                        <a:rPr lang="en-IN" sz="2400" dirty="0"/>
                        <a:t> login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510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29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CF2F-2ACC-9A74-6A9B-DCFA32792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52063"/>
          </a:xfrm>
        </p:spPr>
        <p:txBody>
          <a:bodyPr>
            <a:normAutofit fontScale="90000"/>
          </a:bodyPr>
          <a:lstStyle/>
          <a:p>
            <a:r>
              <a:rPr lang="en-IN" dirty="0"/>
              <a:t>SSH Key Verification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A8C9D8-25FA-F0D4-A578-2FDDC4A2F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021911"/>
              </p:ext>
            </p:extLst>
          </p:nvPr>
        </p:nvGraphicFramePr>
        <p:xfrm>
          <a:off x="267129" y="452063"/>
          <a:ext cx="12021501" cy="6401147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08211">
                  <a:extLst>
                    <a:ext uri="{9D8B030D-6E8A-4147-A177-3AD203B41FA5}">
                      <a16:colId xmlns:a16="http://schemas.microsoft.com/office/drawing/2014/main" val="1977539215"/>
                    </a:ext>
                  </a:extLst>
                </a:gridCol>
                <a:gridCol w="2276362">
                  <a:extLst>
                    <a:ext uri="{9D8B030D-6E8A-4147-A177-3AD203B41FA5}">
                      <a16:colId xmlns:a16="http://schemas.microsoft.com/office/drawing/2014/main" val="1474765079"/>
                    </a:ext>
                  </a:extLst>
                </a:gridCol>
                <a:gridCol w="5322474">
                  <a:extLst>
                    <a:ext uri="{9D8B030D-6E8A-4147-A177-3AD203B41FA5}">
                      <a16:colId xmlns:a16="http://schemas.microsoft.com/office/drawing/2014/main" val="4107041362"/>
                    </a:ext>
                  </a:extLst>
                </a:gridCol>
                <a:gridCol w="3914454">
                  <a:extLst>
                    <a:ext uri="{9D8B030D-6E8A-4147-A177-3AD203B41FA5}">
                      <a16:colId xmlns:a16="http://schemas.microsoft.com/office/drawing/2014/main" val="2619907075"/>
                    </a:ext>
                  </a:extLst>
                </a:gridCol>
              </a:tblGrid>
              <a:tr h="218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 / Action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964763"/>
                  </a:ext>
                </a:extLst>
              </a:tr>
              <a:tr h="525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cat    ~/.ssh/</a:t>
                      </a:r>
                      <a:r>
                        <a:rPr lang="en-IN" sz="2400" dirty="0" err="1"/>
                        <a:t>authorized_keys</a:t>
                      </a:r>
                      <a:endParaRPr lang="en-IN" sz="24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public key is copied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563155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chmod</a:t>
                      </a:r>
                      <a:r>
                        <a:rPr lang="en-IN" sz="2400" dirty="0"/>
                        <a:t>    700    ~/.ssh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correct directory permissions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409132"/>
                  </a:ext>
                </a:extLst>
              </a:tr>
              <a:tr h="525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chmod</a:t>
                      </a:r>
                      <a:r>
                        <a:rPr lang="en-US" sz="2400" dirty="0"/>
                        <a:t>   600  ~/.ssh/</a:t>
                      </a:r>
                      <a:r>
                        <a:rPr lang="en-US" sz="2400" dirty="0" err="1"/>
                        <a:t>authorized_keys</a:t>
                      </a:r>
                      <a:endParaRPr lang="en-US" sz="24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Secure authorized keys file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507221"/>
                  </a:ext>
                </a:extLst>
              </a:tr>
              <a:tr h="525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  nano   /etc/ssh/</a:t>
                      </a:r>
                      <a:r>
                        <a:rPr lang="en-IN" sz="2400" dirty="0" err="1"/>
                        <a:t>sshd_config</a:t>
                      </a:r>
                      <a:endParaRPr lang="en-IN" sz="24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SSH configuration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170969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PubkeyAuthentication</a:t>
                      </a:r>
                      <a:r>
                        <a:rPr lang="en-IN" sz="2400" dirty="0"/>
                        <a:t>   yes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Enable key-based login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631805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PasswordAuthentication</a:t>
                      </a:r>
                      <a:r>
                        <a:rPr lang="en-IN" sz="2400" dirty="0"/>
                        <a:t>   yes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Allow password login (fallback)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969244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Ctrl + X → Y → Enter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 configuration file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514717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 Machine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  </a:t>
                      </a:r>
                      <a:r>
                        <a:rPr lang="en-IN" sz="2400" dirty="0" err="1"/>
                        <a:t>systemctl</a:t>
                      </a:r>
                      <a:r>
                        <a:rPr lang="en-IN" sz="2400" dirty="0"/>
                        <a:t>   reload   </a:t>
                      </a:r>
                      <a:r>
                        <a:rPr lang="en-IN" sz="2400" dirty="0" err="1"/>
                        <a:t>sshd</a:t>
                      </a:r>
                      <a:endParaRPr lang="en-IN" sz="24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Apply new SSH settings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462422"/>
                  </a:ext>
                </a:extLst>
              </a:tr>
              <a:tr h="683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 (Control Node)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2400" dirty="0"/>
                        <a:t>ssh   -i   ~/.ssh/id_rsa </a:t>
                      </a:r>
                      <a:r>
                        <a:rPr lang="sv-SE" sz="2400" dirty="0">
                          <a:highlight>
                            <a:srgbClr val="FFFF00"/>
                          </a:highlight>
                          <a:hlinkClick r:id="rId2"/>
                        </a:rPr>
                        <a:t>atul@192.168.0.187</a:t>
                      </a:r>
                      <a:endParaRPr lang="sv-SE" sz="2400" dirty="0">
                        <a:highlight>
                          <a:srgbClr val="FFFF00"/>
                        </a:highlight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Connect using private key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95135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hostname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Confirm connection to client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797756"/>
                  </a:ext>
                </a:extLst>
              </a:tr>
              <a:tr h="218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Exit SSH session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85770"/>
                  </a:ext>
                </a:extLst>
              </a:tr>
              <a:tr h="3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ssh 192.168.0.187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Test </a:t>
                      </a:r>
                      <a:r>
                        <a:rPr lang="en-IN" sz="2400" dirty="0" err="1"/>
                        <a:t>passwordless</a:t>
                      </a:r>
                      <a:r>
                        <a:rPr lang="en-IN" sz="2400" dirty="0"/>
                        <a:t> SSH login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57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45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F343-516B-38AF-C84C-EC62D305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34255"/>
          </a:xfrm>
        </p:spPr>
        <p:txBody>
          <a:bodyPr>
            <a:normAutofit fontScale="90000"/>
          </a:bodyPr>
          <a:lstStyle/>
          <a:p>
            <a:r>
              <a:rPr lang="en-IN" dirty="0"/>
              <a:t>Running Ad-hoc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9C3CC0-10F1-9E9E-12B3-954658FC5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434547"/>
              </p:ext>
            </p:extLst>
          </p:nvPr>
        </p:nvGraphicFramePr>
        <p:xfrm>
          <a:off x="349321" y="606176"/>
          <a:ext cx="11620072" cy="6045362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31515">
                  <a:extLst>
                    <a:ext uri="{9D8B030D-6E8A-4147-A177-3AD203B41FA5}">
                      <a16:colId xmlns:a16="http://schemas.microsoft.com/office/drawing/2014/main" val="4214747016"/>
                    </a:ext>
                  </a:extLst>
                </a:gridCol>
                <a:gridCol w="1921267">
                  <a:extLst>
                    <a:ext uri="{9D8B030D-6E8A-4147-A177-3AD203B41FA5}">
                      <a16:colId xmlns:a16="http://schemas.microsoft.com/office/drawing/2014/main" val="827046754"/>
                    </a:ext>
                  </a:extLst>
                </a:gridCol>
                <a:gridCol w="4664468">
                  <a:extLst>
                    <a:ext uri="{9D8B030D-6E8A-4147-A177-3AD203B41FA5}">
                      <a16:colId xmlns:a16="http://schemas.microsoft.com/office/drawing/2014/main" val="3639543828"/>
                    </a:ext>
                  </a:extLst>
                </a:gridCol>
                <a:gridCol w="4602822">
                  <a:extLst>
                    <a:ext uri="{9D8B030D-6E8A-4147-A177-3AD203B41FA5}">
                      <a16:colId xmlns:a16="http://schemas.microsoft.com/office/drawing/2014/main" val="1550687985"/>
                    </a:ext>
                  </a:extLst>
                </a:gridCol>
              </a:tblGrid>
              <a:tr h="28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719389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Disconnect from SSH session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621744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    all    -m    ping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Check connectivity with all hosts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273022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(Look for “pong”)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Confirms Ansible can reach clients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64015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    all    -a    "uptime"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Run uptime on all client machines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353510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ansible    all    -a    "</a:t>
                      </a:r>
                      <a:r>
                        <a:rPr lang="en-US" sz="2400" dirty="0" err="1"/>
                        <a:t>ip</a:t>
                      </a:r>
                      <a:r>
                        <a:rPr lang="en-US" sz="2400" dirty="0"/>
                        <a:t> a"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Display IP details of clients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25748"/>
                  </a:ext>
                </a:extLst>
              </a:tr>
              <a:tr h="28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cd    ~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 to home directory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764563"/>
                  </a:ext>
                </a:extLst>
              </a:tr>
              <a:tr h="281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mkdir</a:t>
                      </a:r>
                      <a:r>
                        <a:rPr lang="en-IN" sz="2400" dirty="0"/>
                        <a:t>    test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a test directory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107999"/>
                  </a:ext>
                </a:extLst>
              </a:tr>
              <a:tr h="68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ansible   all   -a    "ls -l /home/</a:t>
                      </a:r>
                      <a:r>
                        <a:rPr lang="en-US" sz="2400" dirty="0" err="1"/>
                        <a:t>atul</a:t>
                      </a:r>
                      <a:r>
                        <a:rPr lang="en-US" sz="2400" dirty="0"/>
                        <a:t>"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test directory remotely (replace atul)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091019"/>
                  </a:ext>
                </a:extLst>
              </a:tr>
              <a:tr h="4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ansible   all   -a    "</a:t>
                      </a:r>
                      <a:r>
                        <a:rPr lang="en-US" sz="2400" dirty="0" err="1"/>
                        <a:t>dpkg</a:t>
                      </a:r>
                      <a:r>
                        <a:rPr lang="en-US" sz="2400" dirty="0"/>
                        <a:t> -l"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List installed packages on clients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936210"/>
                  </a:ext>
                </a:extLst>
              </a:tr>
              <a:tr h="1103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 (If error)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cat   ~/.ssh/id_rsa.pub   &gt;&gt;   ~/.ssh/</a:t>
                      </a:r>
                      <a:r>
                        <a:rPr lang="en-US" sz="2400" dirty="0" err="1"/>
                        <a:t>authorized_keys</a:t>
                      </a:r>
                      <a:endParaRPr lang="en-US" sz="24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Fix SSH permission issue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79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565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2370-4E9F-F2C0-D634-6895466F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82884"/>
          </a:xfrm>
        </p:spPr>
        <p:txBody>
          <a:bodyPr>
            <a:normAutofit fontScale="90000"/>
          </a:bodyPr>
          <a:lstStyle/>
          <a:p>
            <a:r>
              <a:rPr lang="en-IN" dirty="0"/>
              <a:t>Copy a File From the Server to the Client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00A9AE-7ACC-90B3-B226-BC9DC8B7C5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221744"/>
              </p:ext>
            </p:extLst>
          </p:nvPr>
        </p:nvGraphicFramePr>
        <p:xfrm>
          <a:off x="236306" y="606175"/>
          <a:ext cx="11794732" cy="613506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21240">
                  <a:extLst>
                    <a:ext uri="{9D8B030D-6E8A-4147-A177-3AD203B41FA5}">
                      <a16:colId xmlns:a16="http://schemas.microsoft.com/office/drawing/2014/main" val="4172285704"/>
                    </a:ext>
                  </a:extLst>
                </a:gridCol>
                <a:gridCol w="2106202">
                  <a:extLst>
                    <a:ext uri="{9D8B030D-6E8A-4147-A177-3AD203B41FA5}">
                      <a16:colId xmlns:a16="http://schemas.microsoft.com/office/drawing/2014/main" val="2807694433"/>
                    </a:ext>
                  </a:extLst>
                </a:gridCol>
                <a:gridCol w="4746661">
                  <a:extLst>
                    <a:ext uri="{9D8B030D-6E8A-4147-A177-3AD203B41FA5}">
                      <a16:colId xmlns:a16="http://schemas.microsoft.com/office/drawing/2014/main" val="53246316"/>
                    </a:ext>
                  </a:extLst>
                </a:gridCol>
                <a:gridCol w="4520629">
                  <a:extLst>
                    <a:ext uri="{9D8B030D-6E8A-4147-A177-3AD203B41FA5}">
                      <a16:colId xmlns:a16="http://schemas.microsoft.com/office/drawing/2014/main" val="2334532795"/>
                    </a:ext>
                  </a:extLst>
                </a:gridCol>
              </a:tblGrid>
              <a:tr h="234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414644"/>
                  </a:ext>
                </a:extLst>
              </a:tr>
              <a:tr h="938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echo   "I am testing ansible“   &gt; /home/</a:t>
                      </a:r>
                      <a:r>
                        <a:rPr lang="en-US" sz="2400" dirty="0" err="1"/>
                        <a:t>atul</a:t>
                      </a:r>
                      <a:r>
                        <a:rPr lang="en-US" sz="2400" dirty="0"/>
                        <a:t>/testfile.txt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a sample file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054977"/>
                  </a:ext>
                </a:extLst>
              </a:tr>
              <a:tr h="586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nano  </a:t>
                      </a:r>
                      <a:r>
                        <a:rPr lang="en-US" sz="2400" dirty="0" err="1"/>
                        <a:t>copy.yml</a:t>
                      </a:r>
                      <a:endParaRPr lang="en-US" sz="24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 playbook to copy file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189615"/>
                  </a:ext>
                </a:extLst>
              </a:tr>
              <a:tr h="41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 </a:t>
                      </a:r>
                      <a:r>
                        <a:rPr lang="en-IN" sz="2400" dirty="0" err="1"/>
                        <a:t>copy.yml</a:t>
                      </a:r>
                      <a:endParaRPr lang="en-IN" sz="24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playbook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77162"/>
                  </a:ext>
                </a:extLst>
              </a:tr>
              <a:tr h="41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(Error: </a:t>
                      </a: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password missing)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Indicates privilege escalation issue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779030"/>
                  </a:ext>
                </a:extLst>
              </a:tr>
              <a:tr h="586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/>
                        <a:t>sudo   nano   /</a:t>
                      </a:r>
                      <a:r>
                        <a:rPr lang="es-ES" sz="2400" dirty="0" err="1"/>
                        <a:t>etc</a:t>
                      </a:r>
                      <a:r>
                        <a:rPr lang="es-ES" sz="2400" dirty="0"/>
                        <a:t>/ansible/hosts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inventory file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536986"/>
                  </a:ext>
                </a:extLst>
              </a:tr>
              <a:tr h="938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Add:[</a:t>
                      </a:r>
                      <a:r>
                        <a:rPr lang="en-US" sz="2400" dirty="0" err="1"/>
                        <a:t>labclients</a:t>
                      </a:r>
                      <a:r>
                        <a:rPr lang="en-US" sz="2400" dirty="0"/>
                        <a:t>]</a:t>
                      </a: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192.168.1.9 </a:t>
                      </a:r>
                      <a:r>
                        <a:rPr lang="en-US" sz="2400" dirty="0" err="1"/>
                        <a:t>ansible_user</a:t>
                      </a:r>
                      <a:r>
                        <a:rPr lang="en-US" sz="2400" dirty="0"/>
                        <a:t>=</a:t>
                      </a:r>
                      <a:r>
                        <a:rPr lang="en-US" sz="2400" dirty="0" err="1">
                          <a:highlight>
                            <a:srgbClr val="FFFF00"/>
                          </a:highlight>
                        </a:rPr>
                        <a:t>atul</a:t>
                      </a: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2400" dirty="0" err="1"/>
                        <a:t>ansible_become_pass</a:t>
                      </a:r>
                      <a:r>
                        <a:rPr lang="en-US" sz="2400" dirty="0"/>
                        <a:t>=</a:t>
                      </a:r>
                      <a:r>
                        <a:rPr lang="en-US" sz="2400" dirty="0" err="1">
                          <a:highlight>
                            <a:srgbClr val="FFFF00"/>
                          </a:highlight>
                        </a:rPr>
                        <a:t>atul</a:t>
                      </a:r>
                      <a:endParaRPr lang="en-US" sz="2400" dirty="0">
                        <a:highlight>
                          <a:srgbClr val="FFFF00"/>
                        </a:highlight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Provide user and </a:t>
                      </a: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password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646633"/>
                  </a:ext>
                </a:extLst>
              </a:tr>
              <a:tr h="234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Save and exit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Apply changes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398912"/>
                  </a:ext>
                </a:extLst>
              </a:tr>
              <a:tr h="41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 </a:t>
                      </a:r>
                      <a:r>
                        <a:rPr lang="en-IN" sz="2400" dirty="0" err="1"/>
                        <a:t>copy.yml</a:t>
                      </a:r>
                      <a:endParaRPr lang="en-IN" sz="24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Retry playbook execution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720265"/>
                  </a:ext>
                </a:extLst>
              </a:tr>
              <a:tr h="41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       /</a:t>
                      </a:r>
                      <a:r>
                        <a:rPr lang="en-IN" sz="2400" dirty="0" err="1"/>
                        <a:t>tmp</a:t>
                      </a:r>
                      <a:r>
                        <a:rPr lang="en-IN" sz="2400" dirty="0"/>
                        <a:t>/testfile.txt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file exists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447905"/>
                  </a:ext>
                </a:extLst>
              </a:tr>
              <a:tr h="41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cat    /</a:t>
                      </a:r>
                      <a:r>
                        <a:rPr lang="en-IN" sz="2400" dirty="0" err="1"/>
                        <a:t>tmp</a:t>
                      </a:r>
                      <a:r>
                        <a:rPr lang="en-IN" sz="2400" dirty="0"/>
                        <a:t>/testfile.txt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Verify file content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6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6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2B75-D800-1786-A602-C998412F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IN" dirty="0"/>
              <a:t>Change File Permissions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CDD65-4811-A3D3-4D6B-13FCA9CB5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915316"/>
              </p:ext>
            </p:extLst>
          </p:nvPr>
        </p:nvGraphicFramePr>
        <p:xfrm>
          <a:off x="102741" y="791110"/>
          <a:ext cx="12010488" cy="582314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36998">
                  <a:extLst>
                    <a:ext uri="{9D8B030D-6E8A-4147-A177-3AD203B41FA5}">
                      <a16:colId xmlns:a16="http://schemas.microsoft.com/office/drawing/2014/main" val="3239419878"/>
                    </a:ext>
                  </a:extLst>
                </a:gridCol>
                <a:gridCol w="1448657">
                  <a:extLst>
                    <a:ext uri="{9D8B030D-6E8A-4147-A177-3AD203B41FA5}">
                      <a16:colId xmlns:a16="http://schemas.microsoft.com/office/drawing/2014/main" val="2923010315"/>
                    </a:ext>
                  </a:extLst>
                </a:gridCol>
                <a:gridCol w="4931595">
                  <a:extLst>
                    <a:ext uri="{9D8B030D-6E8A-4147-A177-3AD203B41FA5}">
                      <a16:colId xmlns:a16="http://schemas.microsoft.com/office/drawing/2014/main" val="1048837308"/>
                    </a:ext>
                  </a:extLst>
                </a:gridCol>
                <a:gridCol w="4993238">
                  <a:extLst>
                    <a:ext uri="{9D8B030D-6E8A-4147-A177-3AD203B41FA5}">
                      <a16:colId xmlns:a16="http://schemas.microsoft.com/office/drawing/2014/main" val="2826378821"/>
                    </a:ext>
                  </a:extLst>
                </a:gridCol>
              </a:tblGrid>
              <a:tr h="34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014306"/>
                  </a:ext>
                </a:extLst>
              </a:tr>
              <a:tr h="34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cd   ~/test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 to test directory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40787"/>
                  </a:ext>
                </a:extLst>
              </a:tr>
              <a:tr h="591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touch   one   two   three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three files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55566"/>
                  </a:ext>
                </a:extLst>
              </a:tr>
              <a:tr h="34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   -l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View current permissions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144138"/>
                  </a:ext>
                </a:extLst>
              </a:tr>
              <a:tr h="1098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nano     </a:t>
                      </a:r>
                      <a:r>
                        <a:rPr lang="en-US" sz="2400" dirty="0" err="1"/>
                        <a:t>filepermission.yml</a:t>
                      </a:r>
                      <a:endParaRPr lang="en-US" sz="2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playbook to change file permission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408120"/>
                  </a:ext>
                </a:extLst>
              </a:tr>
              <a:tr h="84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</a:t>
                      </a:r>
                      <a:r>
                        <a:rPr lang="en-IN" sz="2400" dirty="0" err="1"/>
                        <a:t>filepermission.yml</a:t>
                      </a:r>
                      <a:endParaRPr lang="en-IN" sz="2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the playbook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854618"/>
                  </a:ext>
                </a:extLst>
              </a:tr>
              <a:tr h="591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   -l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changed permissions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581"/>
                  </a:ext>
                </a:extLst>
              </a:tr>
              <a:tr h="606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Check file one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Permissions for file one should be changed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88712"/>
                  </a:ext>
                </a:extLst>
              </a:tr>
              <a:tr h="591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To change permissions for all files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Advanced Ansible features are needed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789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87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429D-BA32-BE56-B6DE-4A791829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68"/>
            <a:ext cx="10515600" cy="513708"/>
          </a:xfrm>
        </p:spPr>
        <p:txBody>
          <a:bodyPr>
            <a:normAutofit fontScale="90000"/>
          </a:bodyPr>
          <a:lstStyle/>
          <a:p>
            <a:r>
              <a:rPr lang="en-IN" dirty="0"/>
              <a:t>Install Apache on Client Machine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5C72CB-FA5F-938D-259B-13977A4E3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41466"/>
              </p:ext>
            </p:extLst>
          </p:nvPr>
        </p:nvGraphicFramePr>
        <p:xfrm>
          <a:off x="390417" y="595904"/>
          <a:ext cx="11578976" cy="618040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88370">
                  <a:extLst>
                    <a:ext uri="{9D8B030D-6E8A-4147-A177-3AD203B41FA5}">
                      <a16:colId xmlns:a16="http://schemas.microsoft.com/office/drawing/2014/main" val="2971161352"/>
                    </a:ext>
                  </a:extLst>
                </a:gridCol>
                <a:gridCol w="1664413">
                  <a:extLst>
                    <a:ext uri="{9D8B030D-6E8A-4147-A177-3AD203B41FA5}">
                      <a16:colId xmlns:a16="http://schemas.microsoft.com/office/drawing/2014/main" val="3269888507"/>
                    </a:ext>
                  </a:extLst>
                </a:gridCol>
                <a:gridCol w="5250094">
                  <a:extLst>
                    <a:ext uri="{9D8B030D-6E8A-4147-A177-3AD203B41FA5}">
                      <a16:colId xmlns:a16="http://schemas.microsoft.com/office/drawing/2014/main" val="160292177"/>
                    </a:ext>
                  </a:extLst>
                </a:gridCol>
                <a:gridCol w="3976099">
                  <a:extLst>
                    <a:ext uri="{9D8B030D-6E8A-4147-A177-3AD203B41FA5}">
                      <a16:colId xmlns:a16="http://schemas.microsoft.com/office/drawing/2014/main" val="3825499849"/>
                    </a:ext>
                  </a:extLst>
                </a:gridCol>
              </a:tblGrid>
              <a:tr h="3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47790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systemctl</a:t>
                      </a:r>
                      <a:r>
                        <a:rPr lang="en-IN" sz="2400" dirty="0"/>
                        <a:t>   status   apache2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Check whether Apache is already installed/running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55970"/>
                  </a:ext>
                </a:extLst>
              </a:tr>
              <a:tr h="108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</a:t>
                      </a:r>
                      <a:r>
                        <a:rPr lang="en-US" sz="2400" dirty="0" err="1"/>
                        <a:t>httpsetup.yml</a:t>
                      </a:r>
                      <a:endParaRPr lang="en-US" sz="2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playbook to install and start Apache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844646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ansible-playbook httpsetup.yml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the playbook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996251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systemctl status apache2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Apache is installed and running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132232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Server/Host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Open browser and visit 192.168.0.164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Check Apache default home page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53680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If errors occur, restart client and server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Retry after reboot if needed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382006"/>
                  </a:ext>
                </a:extLst>
              </a:tr>
              <a:tr h="108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If IP changes after restart, update /etc/ansible/hosts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Ensure Ansible points to correct client IP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850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851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478BB-0CD5-4E3B-FDD1-AC82E71A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93"/>
            <a:ext cx="10515600" cy="452063"/>
          </a:xfrm>
        </p:spPr>
        <p:txBody>
          <a:bodyPr>
            <a:normAutofit fontScale="90000"/>
          </a:bodyPr>
          <a:lstStyle/>
          <a:p>
            <a:r>
              <a:rPr lang="en-IN" dirty="0"/>
              <a:t>Run Shell Script on the Client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148E09-8C6D-36CF-7DDA-D5FD363B5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442519"/>
              </p:ext>
            </p:extLst>
          </p:nvPr>
        </p:nvGraphicFramePr>
        <p:xfrm>
          <a:off x="390417" y="708917"/>
          <a:ext cx="11568700" cy="588427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4257">
                  <a:extLst>
                    <a:ext uri="{9D8B030D-6E8A-4147-A177-3AD203B41FA5}">
                      <a16:colId xmlns:a16="http://schemas.microsoft.com/office/drawing/2014/main" val="1190497232"/>
                    </a:ext>
                  </a:extLst>
                </a:gridCol>
                <a:gridCol w="1366463">
                  <a:extLst>
                    <a:ext uri="{9D8B030D-6E8A-4147-A177-3AD203B41FA5}">
                      <a16:colId xmlns:a16="http://schemas.microsoft.com/office/drawing/2014/main" val="237720967"/>
                    </a:ext>
                  </a:extLst>
                </a:gridCol>
                <a:gridCol w="5054885">
                  <a:extLst>
                    <a:ext uri="{9D8B030D-6E8A-4147-A177-3AD203B41FA5}">
                      <a16:colId xmlns:a16="http://schemas.microsoft.com/office/drawing/2014/main" val="3634211341"/>
                    </a:ext>
                  </a:extLst>
                </a:gridCol>
                <a:gridCol w="4613095">
                  <a:extLst>
                    <a:ext uri="{9D8B030D-6E8A-4147-A177-3AD203B41FA5}">
                      <a16:colId xmlns:a16="http://schemas.microsoft.com/office/drawing/2014/main" val="1896610250"/>
                    </a:ext>
                  </a:extLst>
                </a:gridCol>
              </a:tblGrid>
              <a:tr h="331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2412"/>
                  </a:ext>
                </a:extLst>
              </a:tr>
              <a:tr h="82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  /home/atul/cfile.sh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shell script file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26051"/>
                  </a:ext>
                </a:extLst>
              </a:tr>
              <a:tr h="57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#!/bin/bash </a:t>
                      </a:r>
                      <a:br>
                        <a:rPr lang="en-IN" sz="2400" dirty="0"/>
                      </a:br>
                      <a:r>
                        <a:rPr lang="en-IN" sz="2400" dirty="0"/>
                        <a:t>touch </a:t>
                      </a:r>
                      <a:r>
                        <a:rPr lang="en-IN" sz="2400" dirty="0" err="1"/>
                        <a:t>newfile</a:t>
                      </a:r>
                      <a:endParaRPr lang="en-IN" sz="24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Script will create a file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140533"/>
                  </a:ext>
                </a:extLst>
              </a:tr>
              <a:tr h="331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chmod</a:t>
                      </a:r>
                      <a:r>
                        <a:rPr lang="en-IN" sz="2400" dirty="0"/>
                        <a:t>    +x    cfile.sh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Make script executable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9674"/>
                  </a:ext>
                </a:extLst>
              </a:tr>
              <a:tr h="57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 –l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newfile does NOT exist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293472"/>
                  </a:ext>
                </a:extLst>
              </a:tr>
              <a:tr h="1076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</a:t>
                      </a:r>
                      <a:r>
                        <a:rPr lang="en-US" sz="2400" dirty="0" err="1"/>
                        <a:t>shellscript.yml</a:t>
                      </a:r>
                      <a:endParaRPr lang="en-US" sz="24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playbook to run script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753505"/>
                  </a:ext>
                </a:extLst>
              </a:tr>
              <a:tr h="580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</a:t>
                      </a:r>
                      <a:r>
                        <a:rPr lang="en-IN" sz="2400" dirty="0" err="1"/>
                        <a:t>shellscript.yml</a:t>
                      </a:r>
                      <a:endParaRPr lang="en-IN" sz="24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playbook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353254"/>
                  </a:ext>
                </a:extLst>
              </a:tr>
              <a:tr h="57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   –l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Verify newfile is created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305538"/>
                  </a:ext>
                </a:extLst>
              </a:tr>
              <a:tr h="57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Outcome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File </a:t>
                      </a:r>
                      <a:r>
                        <a:rPr lang="en-IN" sz="2400" dirty="0" err="1"/>
                        <a:t>newfile</a:t>
                      </a:r>
                      <a:r>
                        <a:rPr lang="en-IN" sz="2400" dirty="0"/>
                        <a:t> exists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Confirms script executed remotely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132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822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FE71-8470-30DA-B7D4-A40F8899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981"/>
          </a:xfrm>
        </p:spPr>
        <p:txBody>
          <a:bodyPr>
            <a:normAutofit fontScale="90000"/>
          </a:bodyPr>
          <a:lstStyle/>
          <a:p>
            <a:r>
              <a:rPr lang="en-IN" dirty="0"/>
              <a:t>Schedule a Cron Job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88579E-2735-132B-8F7A-CD9B937BA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270266"/>
              </p:ext>
            </p:extLst>
          </p:nvPr>
        </p:nvGraphicFramePr>
        <p:xfrm>
          <a:off x="154111" y="750013"/>
          <a:ext cx="11897476" cy="579085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57196">
                  <a:extLst>
                    <a:ext uri="{9D8B030D-6E8A-4147-A177-3AD203B41FA5}">
                      <a16:colId xmlns:a16="http://schemas.microsoft.com/office/drawing/2014/main" val="2652533194"/>
                    </a:ext>
                  </a:extLst>
                </a:gridCol>
                <a:gridCol w="1278070">
                  <a:extLst>
                    <a:ext uri="{9D8B030D-6E8A-4147-A177-3AD203B41FA5}">
                      <a16:colId xmlns:a16="http://schemas.microsoft.com/office/drawing/2014/main" val="1151075941"/>
                    </a:ext>
                  </a:extLst>
                </a:gridCol>
                <a:gridCol w="4973760">
                  <a:extLst>
                    <a:ext uri="{9D8B030D-6E8A-4147-A177-3AD203B41FA5}">
                      <a16:colId xmlns:a16="http://schemas.microsoft.com/office/drawing/2014/main" val="4118600705"/>
                    </a:ext>
                  </a:extLst>
                </a:gridCol>
                <a:gridCol w="5188450">
                  <a:extLst>
                    <a:ext uri="{9D8B030D-6E8A-4147-A177-3AD203B41FA5}">
                      <a16:colId xmlns:a16="http://schemas.microsoft.com/office/drawing/2014/main" val="290508012"/>
                    </a:ext>
                  </a:extLst>
                </a:gridCol>
              </a:tblGrid>
              <a:tr h="305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160170"/>
                  </a:ext>
                </a:extLst>
              </a:tr>
              <a:tr h="76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</a:t>
                      </a:r>
                      <a:r>
                        <a:rPr lang="en-US" sz="2400" dirty="0" err="1"/>
                        <a:t>cronjob.yml</a:t>
                      </a:r>
                      <a:endParaRPr lang="en-US" sz="2400" dirty="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 playbook to schedule cron job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007367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</a:t>
                      </a:r>
                      <a:r>
                        <a:rPr lang="en-IN" sz="2400" dirty="0" err="1"/>
                        <a:t>cronjob.yml</a:t>
                      </a:r>
                      <a:endParaRPr lang="en-IN" sz="2400" dirty="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playbook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71411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crontab   -u   </a:t>
                      </a:r>
                      <a:r>
                        <a:rPr lang="en-IN" sz="2400" dirty="0" err="1"/>
                        <a:t>atul</a:t>
                      </a:r>
                      <a:r>
                        <a:rPr lang="en-IN" sz="2400" dirty="0"/>
                        <a:t>   –l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cron job is scheduled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682474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Check if newfile is being created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308760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sudo   crontab   -u    atul   -e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Edit cron jobs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555209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Select nano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editor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550826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Remove </a:t>
                      </a:r>
                      <a:r>
                        <a:rPr lang="en-US" sz="2400" dirty="0" err="1"/>
                        <a:t>cron</a:t>
                      </a:r>
                      <a:r>
                        <a:rPr lang="en-US" sz="2400" dirty="0"/>
                        <a:t> entry → Save → Exit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scheduled job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32424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sudo</a:t>
                      </a:r>
                      <a:r>
                        <a:rPr lang="en-IN" sz="2400" dirty="0"/>
                        <a:t>   rm    </a:t>
                      </a:r>
                      <a:r>
                        <a:rPr lang="en-IN" sz="2400" dirty="0" err="1"/>
                        <a:t>newfile</a:t>
                      </a:r>
                      <a:endParaRPr lang="en-IN" sz="2400" dirty="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Remove existing file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685040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Wait for 1 minute → ls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file is NOT recreated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294124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Outcome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</a:t>
                      </a:r>
                      <a:r>
                        <a:rPr lang="en-IN" sz="2400" dirty="0" err="1"/>
                        <a:t>newfile</a:t>
                      </a:r>
                      <a:r>
                        <a:rPr lang="en-IN" sz="2400" dirty="0"/>
                        <a:t> creation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Confirms </a:t>
                      </a:r>
                      <a:r>
                        <a:rPr lang="en-US" sz="2400" dirty="0" err="1"/>
                        <a:t>cron</a:t>
                      </a:r>
                      <a:r>
                        <a:rPr lang="en-US" sz="2400" dirty="0"/>
                        <a:t> job removed successfully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99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1764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5B05-C992-5FE8-19F3-C1114B28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New User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B74639-6963-D512-551A-E5639DDEF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471505"/>
              </p:ext>
            </p:extLst>
          </p:nvPr>
        </p:nvGraphicFramePr>
        <p:xfrm>
          <a:off x="663539" y="1538064"/>
          <a:ext cx="11141468" cy="2651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55646">
                  <a:extLst>
                    <a:ext uri="{9D8B030D-6E8A-4147-A177-3AD203B41FA5}">
                      <a16:colId xmlns:a16="http://schemas.microsoft.com/office/drawing/2014/main" val="2818772759"/>
                    </a:ext>
                  </a:extLst>
                </a:gridCol>
                <a:gridCol w="1904990">
                  <a:extLst>
                    <a:ext uri="{9D8B030D-6E8A-4147-A177-3AD203B41FA5}">
                      <a16:colId xmlns:a16="http://schemas.microsoft.com/office/drawing/2014/main" val="1481369456"/>
                    </a:ext>
                  </a:extLst>
                </a:gridCol>
                <a:gridCol w="4453362">
                  <a:extLst>
                    <a:ext uri="{9D8B030D-6E8A-4147-A177-3AD203B41FA5}">
                      <a16:colId xmlns:a16="http://schemas.microsoft.com/office/drawing/2014/main" val="345292784"/>
                    </a:ext>
                  </a:extLst>
                </a:gridCol>
                <a:gridCol w="4027470">
                  <a:extLst>
                    <a:ext uri="{9D8B030D-6E8A-4147-A177-3AD203B41FA5}">
                      <a16:colId xmlns:a16="http://schemas.microsoft.com/office/drawing/2014/main" val="3491072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884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nano   </a:t>
                      </a:r>
                      <a:r>
                        <a:rPr lang="en-US" sz="2400" dirty="0" err="1"/>
                        <a:t>adduser.yml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 playbook to add a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23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ansible-playbook   </a:t>
                      </a:r>
                      <a:r>
                        <a:rPr lang="en-IN" sz="2400" dirty="0" err="1"/>
                        <a:t>adduser.yml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the playbook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92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cat    /etc/passwd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Verify new user entry exists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49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New user visible in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Confirms user creation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76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64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4046</Words>
  <Application>Microsoft Office PowerPoint</Application>
  <PresentationFormat>Widescreen</PresentationFormat>
  <Paragraphs>917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Chef-Puppet-Ansible</vt:lpstr>
      <vt:lpstr>Configuration Management Tools</vt:lpstr>
      <vt:lpstr>Imperative vs Declarative Scripts</vt:lpstr>
      <vt:lpstr>Imperative versus Declarative </vt:lpstr>
      <vt:lpstr>Pull Model (Chef/Puppet)</vt:lpstr>
      <vt:lpstr>Push Model (Ansible)</vt:lpstr>
      <vt:lpstr>Pull versus Push Model</vt:lpstr>
      <vt:lpstr>Chef</vt:lpstr>
      <vt:lpstr>Chef Recipe Creation</vt:lpstr>
      <vt:lpstr>Chef Recipe Testing (Dry run)</vt:lpstr>
      <vt:lpstr>Chef Recipe Testing (Dry run)</vt:lpstr>
      <vt:lpstr>Another Recipe: Create a File</vt:lpstr>
      <vt:lpstr>Add Some Content to the File</vt:lpstr>
      <vt:lpstr>SSH Installation (Ubuntu)</vt:lpstr>
      <vt:lpstr>Apache Installation (Ubuntu)</vt:lpstr>
      <vt:lpstr>Create a Directory</vt:lpstr>
      <vt:lpstr>Multi-Configuration Recipe (Create a Directory and then a File in the Directory)</vt:lpstr>
      <vt:lpstr>Delete a File</vt:lpstr>
      <vt:lpstr>Install nginx (Verify using localhost:80 in the browser)</vt:lpstr>
      <vt:lpstr>Puppet</vt:lpstr>
      <vt:lpstr>Puppet Installation</vt:lpstr>
      <vt:lpstr>Hands-on</vt:lpstr>
      <vt:lpstr>Hands-on</vt:lpstr>
      <vt:lpstr>Hands-on</vt:lpstr>
      <vt:lpstr>Hands-on</vt:lpstr>
      <vt:lpstr>Delete Two Users</vt:lpstr>
      <vt:lpstr>Hands-on</vt:lpstr>
      <vt:lpstr>Hands-on</vt:lpstr>
      <vt:lpstr>Hands-on</vt:lpstr>
      <vt:lpstr>Hands-on</vt:lpstr>
      <vt:lpstr>Hands-on</vt:lpstr>
      <vt:lpstr>Install Apache</vt:lpstr>
      <vt:lpstr>Hands-on</vt:lpstr>
      <vt:lpstr>Hands-on</vt:lpstr>
      <vt:lpstr>Ansible</vt:lpstr>
      <vt:lpstr>Ansible Advantages</vt:lpstr>
      <vt:lpstr>How it Works and Install</vt:lpstr>
      <vt:lpstr>Handling Installation Errors</vt:lpstr>
      <vt:lpstr>First Command</vt:lpstr>
      <vt:lpstr>Basic Labs</vt:lpstr>
      <vt:lpstr>Creating and Running Playbooks (first.yml)</vt:lpstr>
      <vt:lpstr>Alternative to the hosts File</vt:lpstr>
      <vt:lpstr>Lab 2: Start and Enable nginx Service (service.yml)</vt:lpstr>
      <vt:lpstr>Client-Server Setup</vt:lpstr>
      <vt:lpstr>SSH Key Verification</vt:lpstr>
      <vt:lpstr>Running Ad-hoc Commands</vt:lpstr>
      <vt:lpstr>Copy a File From the Server to the Client</vt:lpstr>
      <vt:lpstr>Change File Permissions</vt:lpstr>
      <vt:lpstr>Install Apache on Client Machine</vt:lpstr>
      <vt:lpstr>Run Shell Script on the Client</vt:lpstr>
      <vt:lpstr>Schedule a Cron Job</vt:lpstr>
      <vt:lpstr>Create a New User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14</cp:revision>
  <dcterms:created xsi:type="dcterms:W3CDTF">2026-03-26T10:30:14Z</dcterms:created>
  <dcterms:modified xsi:type="dcterms:W3CDTF">2026-05-01T04:47:17Z</dcterms:modified>
</cp:coreProperties>
</file>