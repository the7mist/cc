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7"/>
  </p:notesMasterIdLst>
  <p:sldIdLst>
    <p:sldId id="553" r:id="rId2"/>
    <p:sldId id="257" r:id="rId3"/>
    <p:sldId id="991" r:id="rId4"/>
    <p:sldId id="919" r:id="rId5"/>
    <p:sldId id="793" r:id="rId6"/>
    <p:sldId id="792" r:id="rId7"/>
    <p:sldId id="258" r:id="rId8"/>
    <p:sldId id="259" r:id="rId9"/>
    <p:sldId id="1059" r:id="rId10"/>
    <p:sldId id="260" r:id="rId11"/>
    <p:sldId id="261" r:id="rId12"/>
    <p:sldId id="1049" r:id="rId13"/>
    <p:sldId id="262" r:id="rId14"/>
    <p:sldId id="264" r:id="rId15"/>
    <p:sldId id="263" r:id="rId16"/>
    <p:sldId id="265" r:id="rId17"/>
    <p:sldId id="1017" r:id="rId18"/>
    <p:sldId id="743" r:id="rId19"/>
    <p:sldId id="746" r:id="rId20"/>
    <p:sldId id="748" r:id="rId21"/>
    <p:sldId id="1018" r:id="rId22"/>
    <p:sldId id="1050" r:id="rId23"/>
    <p:sldId id="749" r:id="rId24"/>
    <p:sldId id="755" r:id="rId25"/>
    <p:sldId id="760" r:id="rId26"/>
    <p:sldId id="1008" r:id="rId27"/>
    <p:sldId id="761" r:id="rId28"/>
    <p:sldId id="1019" r:id="rId29"/>
    <p:sldId id="707" r:id="rId30"/>
    <p:sldId id="719" r:id="rId31"/>
    <p:sldId id="720" r:id="rId32"/>
    <p:sldId id="721" r:id="rId33"/>
    <p:sldId id="1058" r:id="rId34"/>
    <p:sldId id="1052" r:id="rId35"/>
    <p:sldId id="1053" r:id="rId36"/>
    <p:sldId id="1056" r:id="rId37"/>
    <p:sldId id="1057" r:id="rId38"/>
    <p:sldId id="1004" r:id="rId39"/>
    <p:sldId id="1020" r:id="rId40"/>
    <p:sldId id="1024" r:id="rId41"/>
    <p:sldId id="1025" r:id="rId42"/>
    <p:sldId id="1030" r:id="rId43"/>
    <p:sldId id="1031" r:id="rId44"/>
    <p:sldId id="1032" r:id="rId45"/>
    <p:sldId id="1061" r:id="rId46"/>
    <p:sldId id="1021" r:id="rId47"/>
    <p:sldId id="1063" r:id="rId48"/>
    <p:sldId id="1009" r:id="rId49"/>
    <p:sldId id="1062" r:id="rId50"/>
    <p:sldId id="1064" r:id="rId51"/>
    <p:sldId id="1023" r:id="rId52"/>
    <p:sldId id="1026" r:id="rId53"/>
    <p:sldId id="1027" r:id="rId54"/>
    <p:sldId id="1028" r:id="rId55"/>
    <p:sldId id="1029" r:id="rId56"/>
    <p:sldId id="771" r:id="rId57"/>
    <p:sldId id="1034" r:id="rId58"/>
    <p:sldId id="1035" r:id="rId59"/>
    <p:sldId id="1036" r:id="rId60"/>
    <p:sldId id="1033" r:id="rId61"/>
    <p:sldId id="1037" r:id="rId62"/>
    <p:sldId id="1039" r:id="rId63"/>
    <p:sldId id="1060" r:id="rId64"/>
    <p:sldId id="992" r:id="rId65"/>
    <p:sldId id="964" r:id="rId66"/>
    <p:sldId id="993" r:id="rId67"/>
    <p:sldId id="994" r:id="rId68"/>
    <p:sldId id="996" r:id="rId69"/>
    <p:sldId id="1014" r:id="rId70"/>
    <p:sldId id="540" r:id="rId71"/>
    <p:sldId id="1002" r:id="rId72"/>
    <p:sldId id="1003" r:id="rId73"/>
    <p:sldId id="692" r:id="rId74"/>
    <p:sldId id="922" r:id="rId75"/>
    <p:sldId id="923" r:id="rId76"/>
    <p:sldId id="1040" r:id="rId77"/>
    <p:sldId id="1041" r:id="rId78"/>
    <p:sldId id="1042" r:id="rId79"/>
    <p:sldId id="1043" r:id="rId80"/>
    <p:sldId id="1044" r:id="rId81"/>
    <p:sldId id="1045" r:id="rId82"/>
    <p:sldId id="1046" r:id="rId83"/>
    <p:sldId id="1047" r:id="rId84"/>
    <p:sldId id="1048" r:id="rId85"/>
    <p:sldId id="965" r:id="rId86"/>
    <p:sldId id="967" r:id="rId87"/>
    <p:sldId id="969" r:id="rId88"/>
    <p:sldId id="598" r:id="rId89"/>
    <p:sldId id="601" r:id="rId90"/>
    <p:sldId id="998" r:id="rId91"/>
    <p:sldId id="999" r:id="rId92"/>
    <p:sldId id="1000" r:id="rId93"/>
    <p:sldId id="1001" r:id="rId94"/>
    <p:sldId id="1006" r:id="rId95"/>
    <p:sldId id="1016" r:id="rId9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70" d="100"/>
          <a:sy n="70" d="100"/>
        </p:scale>
        <p:origin x="536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37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DDB-C2EE-4B1A-8318-09887331214E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759E4-98F9-4C7A-99FC-408580FC0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60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2759E4-98F9-4C7A-99FC-408580FC0093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127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D0C7F-1438-5429-6B71-9C23B4C09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358B7-7717-1344-A39B-B1DEC1106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62264-C45E-1478-FD00-BECF9A59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4AAC-6EEA-2271-30F1-DE1F433A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2F3D8-D143-7E27-C98A-EF6ECF924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43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11EE-7530-F00F-6A75-E4E00698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DCEB2-A925-1FC6-2549-3362FA6D2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86396-3427-29EF-44EB-8307E473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094CE-90C2-199A-019C-9DB1C12E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C4FE1-1B2B-CAFD-DED3-9E9BB6BE0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155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FC121-88C3-10D7-3B30-265B8BA6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6AB09-AC17-3284-44A4-4263FAAE6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9801D-B783-CBB4-D6BE-DC8EC45D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E7BE5-5F58-9295-2562-5C4F425F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21412-9855-F651-193B-278428C6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92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AD2A-5C82-D459-8481-7EC7448E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1F55A-6371-5913-3FE4-994ECBB2A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06DC1-CDE5-55AA-3028-F9974765C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9F2E5-AE84-8198-4959-F40BB039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2D72C-5DE0-DF94-EA82-B44AE573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4D9EC-2F9E-34AD-FAB2-7BB8367A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559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5C3C-6773-1C31-182B-B93988B03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C6456-DE37-1C8D-250D-522D25B3E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7B10F-8B84-851A-0F23-5DDC36A5B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DD026B-931D-1E28-AC8E-E868A9C9E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EBA0C-B951-9117-A994-FC57443282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074EC-7B91-D6B1-CE97-923DD44C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7FCE26-49CF-3882-68AB-0D69629A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B8F687-C42A-A20B-C3E6-8FC595CA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80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30F6-1427-E52D-2250-DE026D2C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3664A-9EA1-727D-4F17-D7955EAFD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E893E-A0A8-5CD7-1F9F-3CC3E776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B90BD-4360-545F-24A8-3D9121D93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857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F027B-9C27-DB34-D5ED-B31AA774C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39331-A473-3698-8990-F35A9FF2D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BBB24-553E-037C-1558-855092B9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24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A6CA8-B6FA-0BF9-2036-3B23DDAC9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25DE3-7F06-36E8-F00A-ABFC993E1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BCCBA-D257-FA3B-9670-F39AC5FDE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D355D-F40F-1185-D086-89C81138E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C1275-9D8D-65B6-036D-0DCA1DA5A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1BDEB-F633-E188-2140-D5994EFE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33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7DBED-C90B-098D-4F7A-4B11F5F8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65557C-5084-E589-98C9-DA174B493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6CE3F-0889-259D-1E26-1BE363170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E0CD7-031C-E327-F16E-88A0530A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CE54A-F5C7-7F75-6684-7F3DFD91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569A3-C4A5-9BB3-08E7-D6E278AF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97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6101A-875F-F19A-A5B7-4D6A39C7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3215A-B84D-70B7-8B5D-F17DFBE3F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F90F6-F6C3-002D-7C89-B3FC7FE3E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51D2F-3BD7-1C67-1E51-DD5A2341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77908-91FD-9FFA-3E8F-7A31DB6B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747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41CD9C-B31E-1136-F370-3A47D12B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E48D8-E005-72EA-D286-E9C9E1678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28F50-537C-0EE4-A474-EDC0CACA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151F-5DB0-41F9-A0A2-96133768CBBE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1C02C-DAA0-FEAF-93E9-0510BFE8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A5522-8259-68ED-E4E7-AF34E666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677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D67628-6EA6-ECAF-5EFC-20477F7E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FA65A-D2C8-4378-1F3C-5E2D91003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12767-631E-C982-C831-293ADB34C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5151F-5DB0-41F9-A0A2-96133768CBBE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902EA-5C29-2A87-C7A1-172ADFF2E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D55EE-A703-D440-A990-C0EBF658B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201B0-4BD6-492A-A5C9-097BDD33D0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27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erver-png/download/265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jpeg"/><Relationship Id="rId5" Type="http://schemas.openxmlformats.org/officeDocument/2006/relationships/hyperlink" Target="https://pixabay.com/illustrations/pc-computer-pc-laptop-laptop-2468060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de/pack-box-karton-container-offen-148427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wdelthis/webappdemo.gi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cf.io/projects/containerd/?utm_source=chatgpt.com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wdelthis/demo/blob/main/docker-compose.yml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pleasantprogrammer.com/pages/projects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0450C2-A066-A03C-F129-580F476E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Docker: Containerization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2C6CD-195F-B211-190F-B02EFD70D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366083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463DA-3FB1-7369-A108-72A9C00A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43"/>
            <a:ext cx="10515600" cy="616448"/>
          </a:xfrm>
        </p:spPr>
        <p:txBody>
          <a:bodyPr>
            <a:normAutofit fontScale="90000"/>
          </a:bodyPr>
          <a:lstStyle/>
          <a:p>
            <a:r>
              <a:rPr lang="en-IN" dirty="0"/>
              <a:t>Running Applications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001FF1-B8FC-DCED-7793-10CB69DE5E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806998"/>
              </p:ext>
            </p:extLst>
          </p:nvPr>
        </p:nvGraphicFramePr>
        <p:xfrm>
          <a:off x="236306" y="719191"/>
          <a:ext cx="11702265" cy="585216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3137563">
                  <a:extLst>
                    <a:ext uri="{9D8B030D-6E8A-4147-A177-3AD203B41FA5}">
                      <a16:colId xmlns:a16="http://schemas.microsoft.com/office/drawing/2014/main" val="1315600018"/>
                    </a:ext>
                  </a:extLst>
                </a:gridCol>
                <a:gridCol w="8564702">
                  <a:extLst>
                    <a:ext uri="{9D8B030D-6E8A-4147-A177-3AD203B41FA5}">
                      <a16:colId xmlns:a16="http://schemas.microsoft.com/office/drawing/2014/main" val="4079220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Approach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Details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218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One server – One application (Early days)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time a business needed a new application, it needed to buy a new server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Result: Racks and racks of overpowered servers operating as low as 5-10% of their potential capacity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411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Virtualization - VMware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Allows running multiple business applications on a single server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Much better utilization of existing resources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Problems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VM needs its own OS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OS consumes CPU, RAM, other resources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VM and OS needs patching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VM and OS needs monitoring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101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Containerization using Docker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Every container shares the OS of the host on which it is running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Result: Single host can run more containers than VMs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/>
                        <a:t>Fast and more portable than VMs</a:t>
                      </a:r>
                      <a:endParaRPr lang="en-GB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564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119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DEE14-2711-86E4-58BD-40046827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Software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21269-E87A-0723-3368-F7656C0FA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Traditional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EE3CBB-C568-7FC8-E927-A9E83B7EBB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33833" y="2836357"/>
            <a:ext cx="1612208" cy="198222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183369-3C30-506C-08CA-A3A5377A3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noProof="0" dirty="0"/>
              <a:t>Container-based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462B5CC-DFFD-E6FF-299F-037FE078234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99519" y="2618091"/>
            <a:ext cx="3065993" cy="2200489"/>
          </a:xfr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751F93ED-70D0-CC7F-99AD-B0C5B4382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24696" y="2967482"/>
            <a:ext cx="1612208" cy="1982223"/>
          </a:xfrm>
          <a:prstGeom prst="rect">
            <a:avLst/>
          </a:prstGeom>
        </p:spPr>
      </p:pic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4219537C-1897-07CF-DDE4-464228402B90}"/>
              </a:ext>
            </a:extLst>
          </p:cNvPr>
          <p:cNvSpPr/>
          <p:nvPr/>
        </p:nvSpPr>
        <p:spPr>
          <a:xfrm>
            <a:off x="3102796" y="3616503"/>
            <a:ext cx="873303" cy="554805"/>
          </a:xfrm>
          <a:prstGeom prst="striped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FF6B9F-AF54-AD48-F698-4FBCF6ECBDAC}"/>
              </a:ext>
            </a:extLst>
          </p:cNvPr>
          <p:cNvSpPr txBox="1"/>
          <p:nvPr/>
        </p:nvSpPr>
        <p:spPr>
          <a:xfrm>
            <a:off x="255096" y="4949705"/>
            <a:ext cx="5488158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Client: Write code (.java, .</a:t>
            </a:r>
            <a:r>
              <a:rPr lang="en-US" sz="2000" b="1" noProof="0" dirty="0" err="1"/>
              <a:t>sql</a:t>
            </a:r>
            <a:r>
              <a:rPr lang="en-US" sz="2000" b="1" noProof="0" dirty="0"/>
              <a:t>)</a:t>
            </a:r>
          </a:p>
          <a:p>
            <a:r>
              <a:rPr lang="en-US" sz="2000" b="1" noProof="0" dirty="0"/>
              <a:t>Client: Compile, test on the client</a:t>
            </a:r>
          </a:p>
          <a:p>
            <a:r>
              <a:rPr lang="en-US" sz="2000" b="1" noProof="0" dirty="0"/>
              <a:t>Server: Install Java, MySQL, Spring Boot, …</a:t>
            </a:r>
          </a:p>
          <a:p>
            <a:r>
              <a:rPr lang="en-US" sz="2000" b="1" noProof="0" dirty="0"/>
              <a:t>Client: Copy .class/.jar/.war files and .</a:t>
            </a:r>
            <a:r>
              <a:rPr lang="en-US" sz="2000" b="1" noProof="0" dirty="0" err="1"/>
              <a:t>sql</a:t>
            </a:r>
            <a:r>
              <a:rPr lang="en-US" sz="2000" b="1" noProof="0" dirty="0"/>
              <a:t> files on the server</a:t>
            </a:r>
          </a:p>
          <a:p>
            <a:r>
              <a:rPr lang="en-US" sz="2000" b="1" noProof="0" dirty="0"/>
              <a:t>Server: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8C304-19F6-C1F6-3A26-89E05847F097}"/>
              </a:ext>
            </a:extLst>
          </p:cNvPr>
          <p:cNvSpPr txBox="1"/>
          <p:nvPr/>
        </p:nvSpPr>
        <p:spPr>
          <a:xfrm>
            <a:off x="839788" y="3174715"/>
            <a:ext cx="182121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Developer machine</a:t>
            </a:r>
          </a:p>
        </p:txBody>
      </p:sp>
      <p:pic>
        <p:nvPicPr>
          <p:cNvPr id="16" name="Content Placeholder 11">
            <a:extLst>
              <a:ext uri="{FF2B5EF4-FFF2-40B4-BE49-F238E27FC236}">
                <a16:creationId xmlns:a16="http://schemas.microsoft.com/office/drawing/2014/main" id="{B84DF418-6602-94AA-FDB6-762683113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194095" y="2618091"/>
            <a:ext cx="3065993" cy="22004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363AA8C-0661-9A35-EBBA-C8F459F8DCF2}"/>
              </a:ext>
            </a:extLst>
          </p:cNvPr>
          <p:cNvSpPr txBox="1"/>
          <p:nvPr/>
        </p:nvSpPr>
        <p:spPr>
          <a:xfrm>
            <a:off x="6249672" y="4949705"/>
            <a:ext cx="5003515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Client: Create microservices (.java, .</a:t>
            </a:r>
            <a:r>
              <a:rPr lang="en-US" sz="2000" b="1" noProof="0" dirty="0" err="1"/>
              <a:t>sql</a:t>
            </a:r>
            <a:r>
              <a:rPr lang="en-US" sz="2000" b="1" noProof="0" dirty="0"/>
              <a:t>)</a:t>
            </a:r>
          </a:p>
          <a:p>
            <a:r>
              <a:rPr lang="en-US" sz="2000" b="1" noProof="0" dirty="0"/>
              <a:t>Client: Compile, test on the client</a:t>
            </a:r>
          </a:p>
          <a:p>
            <a:r>
              <a:rPr lang="en-US" sz="2000" b="1" noProof="0" dirty="0"/>
              <a:t>Client: Create .jar/.war file and push Docker image</a:t>
            </a:r>
          </a:p>
          <a:p>
            <a:r>
              <a:rPr lang="en-US" sz="2000" b="1" noProof="0" dirty="0"/>
              <a:t>Server: Pull Docker image</a:t>
            </a:r>
          </a:p>
          <a:p>
            <a:r>
              <a:rPr lang="en-US" sz="2000" b="1" noProof="0" dirty="0"/>
              <a:t>Server: Run Docker image as a Container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3C7993-B1E0-1067-569F-235A872D5B53}"/>
              </a:ext>
            </a:extLst>
          </p:cNvPr>
          <p:cNvSpPr txBox="1"/>
          <p:nvPr/>
        </p:nvSpPr>
        <p:spPr>
          <a:xfrm>
            <a:off x="6834364" y="3174715"/>
            <a:ext cx="182121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Developer machine</a:t>
            </a:r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C9002A5D-A43C-0BCE-C8B2-0D8696DDF968}"/>
              </a:ext>
            </a:extLst>
          </p:cNvPr>
          <p:cNvSpPr/>
          <p:nvPr/>
        </p:nvSpPr>
        <p:spPr>
          <a:xfrm>
            <a:off x="3102796" y="2728099"/>
            <a:ext cx="791110" cy="778397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</a:rPr>
              <a:t>.java</a:t>
            </a:r>
          </a:p>
          <a:p>
            <a:pPr algn="ctr"/>
            <a:r>
              <a:rPr lang="en-US" b="1" noProof="0" dirty="0">
                <a:solidFill>
                  <a:schemeClr val="tx1"/>
                </a:solidFill>
              </a:rPr>
              <a:t>.</a:t>
            </a:r>
            <a:r>
              <a:rPr lang="en-US" b="1" noProof="0" dirty="0" err="1">
                <a:solidFill>
                  <a:schemeClr val="tx1"/>
                </a:solidFill>
              </a:rPr>
              <a:t>sql</a:t>
            </a:r>
            <a:endParaRPr lang="en-US" b="1" noProof="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05B9BED-337F-1040-5CEA-CFD701DEC23B}"/>
              </a:ext>
            </a:extLst>
          </p:cNvPr>
          <p:cNvCxnSpPr/>
          <p:nvPr/>
        </p:nvCxnSpPr>
        <p:spPr>
          <a:xfrm flipV="1">
            <a:off x="8522019" y="1513964"/>
            <a:ext cx="0" cy="99111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83C579-0648-CE2B-1130-D815578E3FF5}"/>
              </a:ext>
            </a:extLst>
          </p:cNvPr>
          <p:cNvCxnSpPr/>
          <p:nvPr/>
        </p:nvCxnSpPr>
        <p:spPr>
          <a:xfrm>
            <a:off x="8522019" y="1513964"/>
            <a:ext cx="51370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Folded Corner 25">
            <a:extLst>
              <a:ext uri="{FF2B5EF4-FFF2-40B4-BE49-F238E27FC236}">
                <a16:creationId xmlns:a16="http://schemas.microsoft.com/office/drawing/2014/main" id="{5D841AD5-CA36-A7B1-3946-D403B7B11852}"/>
              </a:ext>
            </a:extLst>
          </p:cNvPr>
          <p:cNvSpPr/>
          <p:nvPr/>
        </p:nvSpPr>
        <p:spPr>
          <a:xfrm>
            <a:off x="7323848" y="983872"/>
            <a:ext cx="1023546" cy="1011385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Docker image</a:t>
            </a:r>
          </a:p>
        </p:txBody>
      </p:sp>
      <p:pic>
        <p:nvPicPr>
          <p:cNvPr id="1026" name="Picture 2" descr="Docker Hub data breach exposes data of 190,000 users.">
            <a:extLst>
              <a:ext uri="{FF2B5EF4-FFF2-40B4-BE49-F238E27FC236}">
                <a16:creationId xmlns:a16="http://schemas.microsoft.com/office/drawing/2014/main" id="{386C2A08-3C0C-C9E7-269E-5BF35127A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656" y="574518"/>
            <a:ext cx="2500585" cy="13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5627898-DC35-FF21-8EC4-4C3569745BBF}"/>
              </a:ext>
            </a:extLst>
          </p:cNvPr>
          <p:cNvCxnSpPr/>
          <p:nvPr/>
        </p:nvCxnSpPr>
        <p:spPr>
          <a:xfrm>
            <a:off x="10726220" y="2009519"/>
            <a:ext cx="0" cy="9579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064F88C-ED7D-84EE-1AFC-5DC0BDA403C7}"/>
              </a:ext>
            </a:extLst>
          </p:cNvPr>
          <p:cNvSpPr txBox="1"/>
          <p:nvPr/>
        </p:nvSpPr>
        <p:spPr>
          <a:xfrm>
            <a:off x="8334339" y="406644"/>
            <a:ext cx="7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push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F3B5AB-94DC-AF90-4F7A-958733DABF51}"/>
              </a:ext>
            </a:extLst>
          </p:cNvPr>
          <p:cNvSpPr txBox="1"/>
          <p:nvPr/>
        </p:nvSpPr>
        <p:spPr>
          <a:xfrm>
            <a:off x="10758639" y="2179627"/>
            <a:ext cx="7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pull</a:t>
            </a:r>
          </a:p>
        </p:txBody>
      </p:sp>
    </p:spTree>
    <p:extLst>
      <p:ext uri="{BB962C8B-B14F-4D97-AF65-F5344CB8AC3E}">
        <p14:creationId xmlns:p14="http://schemas.microsoft.com/office/powerpoint/2010/main" val="2365323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1AFC7B-A758-5485-0B44-CD2BC4DEC12E}"/>
              </a:ext>
            </a:extLst>
          </p:cNvPr>
          <p:cNvSpPr/>
          <p:nvPr/>
        </p:nvSpPr>
        <p:spPr>
          <a:xfrm>
            <a:off x="8209908" y="474449"/>
            <a:ext cx="3143892" cy="35959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6A1D060-FA66-2442-74E5-BD8DCB2B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Docker?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9B785D-6F8A-A276-5F22-8393B87B8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noProof="0" dirty="0"/>
              <a:t>Docker: </a:t>
            </a:r>
            <a:r>
              <a:rPr lang="en-US" b="1" noProof="0" dirty="0">
                <a:solidFill>
                  <a:srgbClr val="FF0000"/>
                </a:solidFill>
              </a:rPr>
              <a:t>Container </a:t>
            </a:r>
            <a:r>
              <a:rPr lang="en-US" noProof="0" dirty="0"/>
              <a:t>technology</a:t>
            </a:r>
          </a:p>
          <a:p>
            <a:r>
              <a:rPr lang="en-US" noProof="0" dirty="0"/>
              <a:t>Container = Complete and isolated software</a:t>
            </a:r>
          </a:p>
          <a:p>
            <a:r>
              <a:rPr lang="en-US" noProof="0" dirty="0"/>
              <a:t>Runs an application in a sandbox</a:t>
            </a:r>
          </a:p>
          <a:p>
            <a:r>
              <a:rPr lang="en-US" noProof="0" dirty="0"/>
              <a:t>Portable</a:t>
            </a:r>
          </a:p>
          <a:p>
            <a:r>
              <a:rPr lang="en-US" noProof="0" dirty="0"/>
              <a:t>Contains all dependencies</a:t>
            </a:r>
          </a:p>
          <a:p>
            <a:r>
              <a:rPr lang="en-US" noProof="0" dirty="0"/>
              <a:t>We can run several containers on a machine at the same time</a:t>
            </a:r>
          </a:p>
          <a:p>
            <a:r>
              <a:rPr lang="en-US" noProof="0" dirty="0"/>
              <a:t>Self-contained: Do not alter the host system they run on</a:t>
            </a:r>
          </a:p>
          <a:p>
            <a:r>
              <a:rPr lang="en-US" noProof="0" dirty="0"/>
              <a:t>Docker is light-weight, unlike VM</a:t>
            </a:r>
          </a:p>
          <a:p>
            <a:r>
              <a:rPr lang="en-US" noProof="0" dirty="0"/>
              <a:t>If something works in Development, it will work in Production, too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7DC1835-8C28-10B5-CB26-6B255A327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204" y="3235611"/>
            <a:ext cx="2242974" cy="54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Docker and why it is used?">
            <a:extLst>
              <a:ext uri="{FF2B5EF4-FFF2-40B4-BE49-F238E27FC236}">
                <a16:creationId xmlns:a16="http://schemas.microsoft.com/office/drawing/2014/main" id="{C08AD15E-10FA-B3AE-D431-A4DB529CC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425" y="2074394"/>
            <a:ext cx="1240801" cy="102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n ultimate guide to Java Runtime Environment | TechGig">
            <a:extLst>
              <a:ext uri="{FF2B5EF4-FFF2-40B4-BE49-F238E27FC236}">
                <a16:creationId xmlns:a16="http://schemas.microsoft.com/office/drawing/2014/main" id="{C52AC06B-9320-383A-FD63-7A0CE4368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552" y="1093854"/>
            <a:ext cx="1743182" cy="98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F1E453-0CFB-6F64-5F02-3CE21DC4C31F}"/>
              </a:ext>
            </a:extLst>
          </p:cNvPr>
          <p:cNvSpPr txBox="1"/>
          <p:nvPr/>
        </p:nvSpPr>
        <p:spPr>
          <a:xfrm>
            <a:off x="8874306" y="626262"/>
            <a:ext cx="1917626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>
                <a:solidFill>
                  <a:schemeClr val="bg1"/>
                </a:solidFill>
              </a:rPr>
              <a:t>HelloWorld.class</a:t>
            </a:r>
            <a:endParaRPr lang="en-US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243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62BA-E2B2-6C8D-5758-BAD98FCF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Image and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5A47E-28A4-5017-9A4F-3719F30D7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Build</a:t>
            </a:r>
            <a:r>
              <a:rPr lang="en-US" noProof="0" dirty="0"/>
              <a:t>: Create an </a:t>
            </a:r>
            <a:r>
              <a:rPr lang="en-US" b="1" noProof="0" dirty="0">
                <a:solidFill>
                  <a:srgbClr val="FF0000"/>
                </a:solidFill>
              </a:rPr>
              <a:t>image</a:t>
            </a:r>
          </a:p>
          <a:p>
            <a:r>
              <a:rPr lang="en-US" b="1" noProof="0" dirty="0"/>
              <a:t>Run</a:t>
            </a:r>
            <a:r>
              <a:rPr lang="en-US" noProof="0" dirty="0"/>
              <a:t>: Run the image as a </a:t>
            </a:r>
            <a:r>
              <a:rPr lang="en-US" b="1" noProof="0" dirty="0">
                <a:solidFill>
                  <a:srgbClr val="FF0000"/>
                </a:solidFill>
              </a:rPr>
              <a:t>container</a:t>
            </a:r>
          </a:p>
          <a:p>
            <a:endParaRPr lang="en-US" b="1" noProof="0" dirty="0">
              <a:solidFill>
                <a:srgbClr val="FF0000"/>
              </a:solidFill>
            </a:endParaRPr>
          </a:p>
          <a:p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07FEDC-5729-999D-EB7D-7707BE64A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457" y="1408066"/>
            <a:ext cx="3162741" cy="36200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24030A-F34A-5BA3-3BE0-32DDB5344CBB}"/>
              </a:ext>
            </a:extLst>
          </p:cNvPr>
          <p:cNvSpPr txBox="1"/>
          <p:nvPr/>
        </p:nvSpPr>
        <p:spPr>
          <a:xfrm>
            <a:off x="650930" y="34025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docker build </a:t>
            </a:r>
            <a:r>
              <a:rPr lang="en-US" sz="2000" noProof="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437E808-4348-802E-9AEC-D381C0A76A5C}"/>
              </a:ext>
            </a:extLst>
          </p:cNvPr>
          <p:cNvSpPr/>
          <p:nvPr/>
        </p:nvSpPr>
        <p:spPr>
          <a:xfrm>
            <a:off x="3166712" y="36479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835B861D-3DA3-26B3-6ECF-957DE349C907}"/>
              </a:ext>
            </a:extLst>
          </p:cNvPr>
          <p:cNvSpPr/>
          <p:nvPr/>
        </p:nvSpPr>
        <p:spPr>
          <a:xfrm>
            <a:off x="3859731" y="3241522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Image</a:t>
            </a: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6A505BBD-7D5B-56C5-C46B-6267703E564C}"/>
              </a:ext>
            </a:extLst>
          </p:cNvPr>
          <p:cNvSpPr/>
          <p:nvPr/>
        </p:nvSpPr>
        <p:spPr>
          <a:xfrm>
            <a:off x="838200" y="5635500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0215F-B3D4-77AB-F9A3-1910C24B82D1}"/>
              </a:ext>
            </a:extLst>
          </p:cNvPr>
          <p:cNvSpPr txBox="1"/>
          <p:nvPr/>
        </p:nvSpPr>
        <p:spPr>
          <a:xfrm>
            <a:off x="3166712" y="58483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docker run </a:t>
            </a:r>
            <a:r>
              <a:rPr lang="en-US" sz="2000" noProof="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78A1A6-68C7-2E71-45E2-D7B878F953EA}"/>
              </a:ext>
            </a:extLst>
          </p:cNvPr>
          <p:cNvSpPr/>
          <p:nvPr/>
        </p:nvSpPr>
        <p:spPr>
          <a:xfrm>
            <a:off x="5682494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9274187-CC3A-B156-56A0-0F2A7BEFC5BD}"/>
              </a:ext>
            </a:extLst>
          </p:cNvPr>
          <p:cNvSpPr/>
          <p:nvPr/>
        </p:nvSpPr>
        <p:spPr>
          <a:xfrm>
            <a:off x="2422949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C562BF-2EBA-69E8-8831-FD3B66EC2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279770" y="5381439"/>
            <a:ext cx="1622543" cy="14246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4FD265-E5E6-DB65-61D1-29000CC0212B}"/>
              </a:ext>
            </a:extLst>
          </p:cNvPr>
          <p:cNvSpPr txBox="1"/>
          <p:nvPr/>
        </p:nvSpPr>
        <p:spPr>
          <a:xfrm>
            <a:off x="6533965" y="5607505"/>
            <a:ext cx="1114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Container</a:t>
            </a:r>
          </a:p>
        </p:txBody>
      </p:sp>
    </p:spTree>
    <p:extLst>
      <p:ext uri="{BB962C8B-B14F-4D97-AF65-F5344CB8AC3E}">
        <p14:creationId xmlns:p14="http://schemas.microsoft.com/office/powerpoint/2010/main" val="147165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301B-66A5-768C-1196-FE40D8B0C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Container versus Virtual Machine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8DF24B-323A-66E7-8C86-E3415209D0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73D0AF-86D4-251A-BECC-7263BEBCF5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noProof="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4AD2A77-6E16-6548-DC3D-425787CD6CBD}"/>
              </a:ext>
            </a:extLst>
          </p:cNvPr>
          <p:cNvGrpSpPr/>
          <p:nvPr/>
        </p:nvGrpSpPr>
        <p:grpSpPr>
          <a:xfrm>
            <a:off x="548640" y="2387065"/>
            <a:ext cx="5245768" cy="4062651"/>
            <a:chOff x="548640" y="2387065"/>
            <a:chExt cx="5245768" cy="406265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A119987-334B-E094-3A97-BEAAC27D1A92}"/>
                </a:ext>
              </a:extLst>
            </p:cNvPr>
            <p:cNvSpPr txBox="1"/>
            <p:nvPr/>
          </p:nvSpPr>
          <p:spPr>
            <a:xfrm>
              <a:off x="548640" y="2387065"/>
              <a:ext cx="5245768" cy="406265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FF0000"/>
                  </a:solidFill>
                </a:rPr>
                <a:t>Containers</a:t>
              </a:r>
              <a:endParaRPr lang="en-US" b="1" noProof="0" dirty="0">
                <a:solidFill>
                  <a:srgbClr val="FF0000"/>
                </a:solidFill>
              </a:endParaRPr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9CEE7CA-5EF1-7F03-A06A-C0A059E2D5F1}"/>
                </a:ext>
              </a:extLst>
            </p:cNvPr>
            <p:cNvGrpSpPr/>
            <p:nvPr/>
          </p:nvGrpSpPr>
          <p:grpSpPr>
            <a:xfrm>
              <a:off x="762785" y="3091423"/>
              <a:ext cx="1566528" cy="1477328"/>
              <a:chOff x="1003417" y="2870041"/>
              <a:chExt cx="1566528" cy="1477328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B371D2-401B-ED49-C8B8-34FBEF29D924}"/>
                  </a:ext>
                </a:extLst>
              </p:cNvPr>
              <p:cNvSpPr txBox="1"/>
              <p:nvPr/>
            </p:nvSpPr>
            <p:spPr>
              <a:xfrm>
                <a:off x="1003417" y="2870041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Container A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D9B7C7-95A5-07C9-6194-AE1C134976D1}"/>
                  </a:ext>
                </a:extLst>
              </p:cNvPr>
              <p:cNvSpPr txBox="1"/>
              <p:nvPr/>
            </p:nvSpPr>
            <p:spPr>
              <a:xfrm>
                <a:off x="1185445" y="3379029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App A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086FC4-9F54-FB85-4DB7-7CE483950A1E}"/>
                  </a:ext>
                </a:extLst>
              </p:cNvPr>
              <p:cNvSpPr txBox="1"/>
              <p:nvPr/>
            </p:nvSpPr>
            <p:spPr>
              <a:xfrm>
                <a:off x="1185445" y="3880680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75454FE-113C-02FD-50B5-55B70529CE78}"/>
                </a:ext>
              </a:extLst>
            </p:cNvPr>
            <p:cNvGrpSpPr/>
            <p:nvPr/>
          </p:nvGrpSpPr>
          <p:grpSpPr>
            <a:xfrm>
              <a:off x="2368666" y="3091423"/>
              <a:ext cx="1566528" cy="1477328"/>
              <a:chOff x="1003417" y="2870041"/>
              <a:chExt cx="1566528" cy="147732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C6F9E7-DA85-FC1F-909D-C01E6CF6288A}"/>
                  </a:ext>
                </a:extLst>
              </p:cNvPr>
              <p:cNvSpPr txBox="1"/>
              <p:nvPr/>
            </p:nvSpPr>
            <p:spPr>
              <a:xfrm>
                <a:off x="1003417" y="2870041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Container B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DD2162-A708-A086-80FB-F5342BA5BE03}"/>
                  </a:ext>
                </a:extLst>
              </p:cNvPr>
              <p:cNvSpPr txBox="1"/>
              <p:nvPr/>
            </p:nvSpPr>
            <p:spPr>
              <a:xfrm>
                <a:off x="1185445" y="3379029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App B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F8AE59-356F-E859-6980-D20BA4ECAFF0}"/>
                  </a:ext>
                </a:extLst>
              </p:cNvPr>
              <p:cNvSpPr txBox="1"/>
              <p:nvPr/>
            </p:nvSpPr>
            <p:spPr>
              <a:xfrm>
                <a:off x="1185445" y="3880680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1C15796-0909-EF9F-4102-89AF7F7B6640}"/>
                </a:ext>
              </a:extLst>
            </p:cNvPr>
            <p:cNvGrpSpPr/>
            <p:nvPr/>
          </p:nvGrpSpPr>
          <p:grpSpPr>
            <a:xfrm>
              <a:off x="4004534" y="3091423"/>
              <a:ext cx="1566528" cy="1477328"/>
              <a:chOff x="1003417" y="2870041"/>
              <a:chExt cx="1566528" cy="1477328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008B8C-A805-1818-BAB5-0D233B38070E}"/>
                  </a:ext>
                </a:extLst>
              </p:cNvPr>
              <p:cNvSpPr txBox="1"/>
              <p:nvPr/>
            </p:nvSpPr>
            <p:spPr>
              <a:xfrm>
                <a:off x="1003417" y="2870041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Container C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2260BF-ABF8-BA6D-FF11-F3F4FE787AE3}"/>
                  </a:ext>
                </a:extLst>
              </p:cNvPr>
              <p:cNvSpPr txBox="1"/>
              <p:nvPr/>
            </p:nvSpPr>
            <p:spPr>
              <a:xfrm>
                <a:off x="1185445" y="3379029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App C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722EBCE-1F4D-A8E8-0B8B-37DB915E7526}"/>
                  </a:ext>
                </a:extLst>
              </p:cNvPr>
              <p:cNvSpPr txBox="1"/>
              <p:nvPr/>
            </p:nvSpPr>
            <p:spPr>
              <a:xfrm>
                <a:off x="1185445" y="3880680"/>
                <a:ext cx="1202472" cy="369332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CA2763A-C686-57B1-1EF1-394E8733A6FC}"/>
                </a:ext>
              </a:extLst>
            </p:cNvPr>
            <p:cNvSpPr txBox="1"/>
            <p:nvPr/>
          </p:nvSpPr>
          <p:spPr>
            <a:xfrm>
              <a:off x="762785" y="4668255"/>
              <a:ext cx="4808277" cy="369332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Docker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1ACA9DE-B52F-8AA5-FB79-4CB3EE010FBF}"/>
                </a:ext>
              </a:extLst>
            </p:cNvPr>
            <p:cNvSpPr txBox="1"/>
            <p:nvPr/>
          </p:nvSpPr>
          <p:spPr>
            <a:xfrm>
              <a:off x="762785" y="5127109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Host Operating System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F0F8D0B-1004-FDCF-12E0-E3566190E408}"/>
                </a:ext>
              </a:extLst>
            </p:cNvPr>
            <p:cNvSpPr txBox="1"/>
            <p:nvPr/>
          </p:nvSpPr>
          <p:spPr>
            <a:xfrm>
              <a:off x="747791" y="5584592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Hardware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4A984B9-C2A4-D434-15B4-EAE19282A9E0}"/>
              </a:ext>
            </a:extLst>
          </p:cNvPr>
          <p:cNvGrpSpPr/>
          <p:nvPr/>
        </p:nvGrpSpPr>
        <p:grpSpPr>
          <a:xfrm>
            <a:off x="6172200" y="2387064"/>
            <a:ext cx="5245768" cy="4062651"/>
            <a:chOff x="6172200" y="2387064"/>
            <a:chExt cx="5245768" cy="406265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9B798AF-A833-A555-B9B0-7C819926A819}"/>
                </a:ext>
              </a:extLst>
            </p:cNvPr>
            <p:cNvSpPr txBox="1"/>
            <p:nvPr/>
          </p:nvSpPr>
          <p:spPr>
            <a:xfrm>
              <a:off x="6172200" y="2387064"/>
              <a:ext cx="5245768" cy="406265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FF0000"/>
                  </a:solidFill>
                </a:rPr>
                <a:t>Virtual Machines</a:t>
              </a: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sz="2400" b="1" noProof="0" dirty="0">
                <a:solidFill>
                  <a:srgbClr val="FF0000"/>
                </a:solidFill>
              </a:endParaRPr>
            </a:p>
            <a:p>
              <a:pPr algn="ctr"/>
              <a:endParaRPr lang="en-US" b="1" noProof="0" dirty="0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1D8D066-6A1F-1F21-2912-D5B125AC5E17}"/>
                </a:ext>
              </a:extLst>
            </p:cNvPr>
            <p:cNvGrpSpPr/>
            <p:nvPr/>
          </p:nvGrpSpPr>
          <p:grpSpPr>
            <a:xfrm>
              <a:off x="6386345" y="3091422"/>
              <a:ext cx="1566528" cy="1477328"/>
              <a:chOff x="6386345" y="3091422"/>
              <a:chExt cx="1566528" cy="1477328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EAB4BB3-7410-5430-401D-0E9E49DF3ED9}"/>
                  </a:ext>
                </a:extLst>
              </p:cNvPr>
              <p:cNvSpPr txBox="1"/>
              <p:nvPr/>
            </p:nvSpPr>
            <p:spPr>
              <a:xfrm>
                <a:off x="6386345" y="3091422"/>
                <a:ext cx="1566528" cy="147732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noProof="0" dirty="0"/>
                  <a:t>VM A</a:t>
                </a:r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  <a:p>
                <a:pPr algn="ctr"/>
                <a:endParaRPr lang="en-US" b="1" noProof="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FF7195B-17BD-0141-456F-83F22D4ECC27}"/>
                  </a:ext>
                </a:extLst>
              </p:cNvPr>
              <p:cNvSpPr txBox="1"/>
              <p:nvPr/>
            </p:nvSpPr>
            <p:spPr>
              <a:xfrm>
                <a:off x="6550889" y="3417973"/>
                <a:ext cx="1202472" cy="307777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noProof="0" dirty="0">
                    <a:solidFill>
                      <a:schemeClr val="bg1"/>
                    </a:solidFill>
                  </a:rPr>
                  <a:t>App A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E02DE35-E71C-5A6E-AC08-7C49C2EBF5FC}"/>
                  </a:ext>
                </a:extLst>
              </p:cNvPr>
              <p:cNvSpPr txBox="1"/>
              <p:nvPr/>
            </p:nvSpPr>
            <p:spPr>
              <a:xfrm>
                <a:off x="6543031" y="3811135"/>
                <a:ext cx="1202472" cy="307777"/>
              </a:xfrm>
              <a:prstGeom prst="rect">
                <a:avLst/>
              </a:prstGeom>
              <a:solidFill>
                <a:srgbClr val="7030A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noProof="0" dirty="0">
                    <a:solidFill>
                      <a:schemeClr val="bg1"/>
                    </a:solidFill>
                  </a:rPr>
                  <a:t>Libs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DCF4FE9-E90B-D3A7-090C-EC668916587B}"/>
                </a:ext>
              </a:extLst>
            </p:cNvPr>
            <p:cNvSpPr txBox="1"/>
            <p:nvPr/>
          </p:nvSpPr>
          <p:spPr>
            <a:xfrm>
              <a:off x="7992226" y="3091422"/>
              <a:ext cx="1566528" cy="147732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VM B</a:t>
              </a:r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ED220AD-9407-AA79-BA2C-07387F3C222C}"/>
                </a:ext>
              </a:extLst>
            </p:cNvPr>
            <p:cNvSpPr txBox="1"/>
            <p:nvPr/>
          </p:nvSpPr>
          <p:spPr>
            <a:xfrm>
              <a:off x="9628094" y="3091422"/>
              <a:ext cx="1566528" cy="147732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VM C</a:t>
              </a:r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  <a:p>
              <a:pPr algn="ctr"/>
              <a:endParaRPr lang="en-US" b="1" noProof="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E19087C-EF74-387D-2B70-F7753E4EE896}"/>
                </a:ext>
              </a:extLst>
            </p:cNvPr>
            <p:cNvSpPr txBox="1"/>
            <p:nvPr/>
          </p:nvSpPr>
          <p:spPr>
            <a:xfrm>
              <a:off x="6386345" y="4668254"/>
              <a:ext cx="4808277" cy="369332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Hypervisor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E7D3391-DC3A-DACB-2AA8-F0891D0E2F93}"/>
                </a:ext>
              </a:extLst>
            </p:cNvPr>
            <p:cNvSpPr txBox="1"/>
            <p:nvPr/>
          </p:nvSpPr>
          <p:spPr>
            <a:xfrm>
              <a:off x="6386345" y="5127108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Host Operating System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3D1EAB8-0061-C2BC-775E-79A05C00C032}"/>
                </a:ext>
              </a:extLst>
            </p:cNvPr>
            <p:cNvSpPr txBox="1"/>
            <p:nvPr/>
          </p:nvSpPr>
          <p:spPr>
            <a:xfrm>
              <a:off x="6371351" y="5584591"/>
              <a:ext cx="4808277" cy="36933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>
                  <a:solidFill>
                    <a:schemeClr val="bg1"/>
                  </a:solidFill>
                </a:rPr>
                <a:t>Hardware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1CB59BC0-17C1-FF95-29E4-AF67ECC0D564}"/>
              </a:ext>
            </a:extLst>
          </p:cNvPr>
          <p:cNvSpPr txBox="1"/>
          <p:nvPr/>
        </p:nvSpPr>
        <p:spPr>
          <a:xfrm>
            <a:off x="6564966" y="4185308"/>
            <a:ext cx="1202472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Guest OS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27D062-18AA-529B-A1AE-688D44C9AED3}"/>
              </a:ext>
            </a:extLst>
          </p:cNvPr>
          <p:cNvSpPr txBox="1"/>
          <p:nvPr/>
        </p:nvSpPr>
        <p:spPr>
          <a:xfrm>
            <a:off x="8194466" y="3417973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App 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E41FE1-C379-1B4F-F470-C4873D16A324}"/>
              </a:ext>
            </a:extLst>
          </p:cNvPr>
          <p:cNvSpPr txBox="1"/>
          <p:nvPr/>
        </p:nvSpPr>
        <p:spPr>
          <a:xfrm>
            <a:off x="8186608" y="3811135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Libs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32EB63-4E57-B07B-ED71-37637FBCCA82}"/>
              </a:ext>
            </a:extLst>
          </p:cNvPr>
          <p:cNvSpPr txBox="1"/>
          <p:nvPr/>
        </p:nvSpPr>
        <p:spPr>
          <a:xfrm>
            <a:off x="8208543" y="4185308"/>
            <a:ext cx="1202472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Guest OS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BF0B89-4DEF-FFE5-9597-FABFF6743F3E}"/>
              </a:ext>
            </a:extLst>
          </p:cNvPr>
          <p:cNvSpPr txBox="1"/>
          <p:nvPr/>
        </p:nvSpPr>
        <p:spPr>
          <a:xfrm>
            <a:off x="9831192" y="3425165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App C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0A2503-3439-8959-F7F7-D77BCB2E9E88}"/>
              </a:ext>
            </a:extLst>
          </p:cNvPr>
          <p:cNvSpPr txBox="1"/>
          <p:nvPr/>
        </p:nvSpPr>
        <p:spPr>
          <a:xfrm>
            <a:off x="9823334" y="3818327"/>
            <a:ext cx="120247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Libs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AC8395-6174-86D0-99C7-DE73BD1EFD5A}"/>
              </a:ext>
            </a:extLst>
          </p:cNvPr>
          <p:cNvSpPr txBox="1"/>
          <p:nvPr/>
        </p:nvSpPr>
        <p:spPr>
          <a:xfrm>
            <a:off x="9845269" y="4192500"/>
            <a:ext cx="1202472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Guest OS</a:t>
            </a:r>
          </a:p>
        </p:txBody>
      </p:sp>
    </p:spTree>
    <p:extLst>
      <p:ext uri="{BB962C8B-B14F-4D97-AF65-F5344CB8AC3E}">
        <p14:creationId xmlns:p14="http://schemas.microsoft.com/office/powerpoint/2010/main" val="2410751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64FB5-EA64-EA54-70D3-0A322DFFE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and Windows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C5AE4-F474-FEE1-FC7F-F4BD0CA94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Microsoft tried hard to bring Docker containers to Windows platform</a:t>
            </a:r>
          </a:p>
          <a:p>
            <a:r>
              <a:rPr lang="en-IN" dirty="0"/>
              <a:t>Currently, Windows supports (a) Windows and (b) Linux containers</a:t>
            </a:r>
          </a:p>
          <a:p>
            <a:r>
              <a:rPr lang="en-IN" dirty="0"/>
              <a:t>Windows containers: Run Windows apps and require a host system with Windows kernel</a:t>
            </a:r>
          </a:p>
          <a:p>
            <a:r>
              <a:rPr lang="en-IN" dirty="0"/>
              <a:t>Linux containers: Can run on Windows using WSL (Windows Subsystem for Linux) 2</a:t>
            </a:r>
          </a:p>
          <a:p>
            <a:r>
              <a:rPr lang="en-IN" dirty="0"/>
              <a:t>Practically, almost all containers are Linux containers</a:t>
            </a:r>
          </a:p>
          <a:p>
            <a:r>
              <a:rPr lang="en-IN" dirty="0"/>
              <a:t>Mac: There are no Mac containers, but Linux containers run on Mac using Docker Desktop software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8248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0025C-CA07-D696-2C41-53A5B3635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Container-related Standards and Projects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8BEC76-AE31-3DC3-8ABA-1BA11EB928D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898174"/>
          <a:ext cx="10986180" cy="3657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786060">
                  <a:extLst>
                    <a:ext uri="{9D8B030D-6E8A-4147-A177-3AD203B41FA5}">
                      <a16:colId xmlns:a16="http://schemas.microsoft.com/office/drawing/2014/main" val="1926373861"/>
                    </a:ext>
                  </a:extLst>
                </a:gridCol>
                <a:gridCol w="2187756">
                  <a:extLst>
                    <a:ext uri="{9D8B030D-6E8A-4147-A177-3AD203B41FA5}">
                      <a16:colId xmlns:a16="http://schemas.microsoft.com/office/drawing/2014/main" val="2814538605"/>
                    </a:ext>
                  </a:extLst>
                </a:gridCol>
                <a:gridCol w="2384653">
                  <a:extLst>
                    <a:ext uri="{9D8B030D-6E8A-4147-A177-3AD203B41FA5}">
                      <a16:colId xmlns:a16="http://schemas.microsoft.com/office/drawing/2014/main" val="2382030387"/>
                    </a:ext>
                  </a:extLst>
                </a:gridCol>
                <a:gridCol w="2430475">
                  <a:extLst>
                    <a:ext uri="{9D8B030D-6E8A-4147-A177-3AD203B41FA5}">
                      <a16:colId xmlns:a16="http://schemas.microsoft.com/office/drawing/2014/main" val="1326417317"/>
                    </a:ext>
                  </a:extLst>
                </a:gridCol>
                <a:gridCol w="2197236">
                  <a:extLst>
                    <a:ext uri="{9D8B030D-6E8A-4147-A177-3AD203B41FA5}">
                      <a16:colId xmlns:a16="http://schemas.microsoft.com/office/drawing/2014/main" val="2207286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Full 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It 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Main 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 / Key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354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OCI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Open Container Initiative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 open standard for container formats and runtimes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Ensures containers run consistently across platforms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Defines </a:t>
                      </a:r>
                      <a:r>
                        <a:rPr lang="en-GB" b="1"/>
                        <a:t>container image format</a:t>
                      </a:r>
                      <a:r>
                        <a:rPr lang="en-GB"/>
                        <a:t> and </a:t>
                      </a:r>
                      <a:r>
                        <a:rPr lang="en-GB" b="1"/>
                        <a:t>runtime specifications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365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CNCF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Cloud Native Computing Foundation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 organization that hosts and promotes cloud-native open-source projects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Supports technologies like containers, orchestration, and microservices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Home of Kubernetes, Prometheus, and Envoy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09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Moby Project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Open-source project created by Docker, Inc.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modular components to build container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Forms the open-source base behind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566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603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4D05-1CBF-60AE-DF13-3220941A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Docker on Ubuntu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A9A590-D052-E12B-9A21-6F41E97AB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308605"/>
              </p:ext>
            </p:extLst>
          </p:nvPr>
        </p:nvGraphicFramePr>
        <p:xfrm>
          <a:off x="410966" y="1852454"/>
          <a:ext cx="11445412" cy="4572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449545">
                  <a:extLst>
                    <a:ext uri="{9D8B030D-6E8A-4147-A177-3AD203B41FA5}">
                      <a16:colId xmlns:a16="http://schemas.microsoft.com/office/drawing/2014/main" val="3123818881"/>
                    </a:ext>
                  </a:extLst>
                </a:gridCol>
                <a:gridCol w="9995867">
                  <a:extLst>
                    <a:ext uri="{9D8B030D-6E8A-4147-A177-3AD203B41FA5}">
                      <a16:colId xmlns:a16="http://schemas.microsoft.com/office/drawing/2014/main" val="15911585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Command /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061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Go to https://docs.docker.com/engine/install/ubuntu/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405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Copy all commands together from </a:t>
                      </a:r>
                      <a:r>
                        <a:rPr lang="en-US" sz="2800" b="1" dirty="0"/>
                        <a:t>“1. Set up Docker's apt repository”</a:t>
                      </a:r>
                      <a:r>
                        <a:rPr lang="en-US" sz="2800" dirty="0"/>
                        <a:t> and run in terminal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7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Copy the command from </a:t>
                      </a:r>
                      <a:r>
                        <a:rPr lang="en-US" sz="2800" b="1"/>
                        <a:t>“2. Install the Docker packages”</a:t>
                      </a:r>
                      <a:r>
                        <a:rPr lang="en-US" sz="2800"/>
                        <a:t> and 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96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 err="1"/>
                        <a:t>sudo</a:t>
                      </a:r>
                      <a:r>
                        <a:rPr lang="en-IN" sz="2800" b="1" dirty="0"/>
                        <a:t>    </a:t>
                      </a:r>
                      <a:r>
                        <a:rPr lang="en-IN" sz="2800" b="1" dirty="0" err="1"/>
                        <a:t>groupadd</a:t>
                      </a:r>
                      <a:r>
                        <a:rPr lang="en-IN" sz="2800" b="1" dirty="0"/>
                        <a:t>   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77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800" b="1" dirty="0"/>
                        <a:t>sudo     usermod    -aG    docker    $(whoami)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806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 err="1"/>
                        <a:t>sudo</a:t>
                      </a:r>
                      <a:r>
                        <a:rPr lang="en-IN" sz="2800" b="1" dirty="0"/>
                        <a:t>     reboot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730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</a:t>
                      </a:r>
                      <a:r>
                        <a:rPr lang="en-IN" sz="2800" b="1" dirty="0" err="1"/>
                        <a:t>ps</a:t>
                      </a:r>
                      <a:endParaRPr lang="en-IN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824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668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6F129-0E78-2ED9-A8EE-34F700C3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485"/>
            <a:ext cx="10515600" cy="628213"/>
          </a:xfrm>
        </p:spPr>
        <p:txBody>
          <a:bodyPr>
            <a:normAutofit fontScale="90000"/>
          </a:bodyPr>
          <a:lstStyle/>
          <a:p>
            <a:r>
              <a:rPr lang="en-IN" dirty="0"/>
              <a:t>Alternative: Installing Docker on Ubuntu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7E6D33-006A-9003-D82B-309BCBA95FA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8611" y="949301"/>
          <a:ext cx="11370669" cy="578320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44452">
                  <a:extLst>
                    <a:ext uri="{9D8B030D-6E8A-4147-A177-3AD203B41FA5}">
                      <a16:colId xmlns:a16="http://schemas.microsoft.com/office/drawing/2014/main" val="298903630"/>
                    </a:ext>
                  </a:extLst>
                </a:gridCol>
                <a:gridCol w="4941948">
                  <a:extLst>
                    <a:ext uri="{9D8B030D-6E8A-4147-A177-3AD203B41FA5}">
                      <a16:colId xmlns:a16="http://schemas.microsoft.com/office/drawing/2014/main" val="2028769810"/>
                    </a:ext>
                  </a:extLst>
                </a:gridCol>
                <a:gridCol w="5884269">
                  <a:extLst>
                    <a:ext uri="{9D8B030D-6E8A-4147-A177-3AD203B41FA5}">
                      <a16:colId xmlns:a16="http://schemas.microsoft.com/office/drawing/2014/main" val="1291097529"/>
                    </a:ext>
                  </a:extLst>
                </a:gridCol>
              </a:tblGrid>
              <a:tr h="269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Step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Command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Explanation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1127732"/>
                  </a:ext>
                </a:extLst>
              </a:tr>
              <a:tr h="875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   snap    install    docker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Installs Docker using the Ubuntu Snap package manager  - Installs both the Docker client and daemon service.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28374"/>
                  </a:ext>
                </a:extLst>
              </a:tr>
              <a:tr h="673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  docker    --version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Verifies that Docker has been installed successfully and displays the installed version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702597"/>
                  </a:ext>
                </a:extLst>
              </a:tr>
              <a:tr h="1078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 </a:t>
                      </a:r>
                      <a:r>
                        <a:rPr lang="en-GB" sz="2400" b="1" dirty="0" err="1"/>
                        <a:t>groupadd</a:t>
                      </a:r>
                      <a:r>
                        <a:rPr lang="en-GB" sz="2400" b="1" dirty="0"/>
                        <a:t>   docker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Creates a docker group so non-root users can run Docker commands without using </a:t>
                      </a:r>
                      <a:r>
                        <a:rPr lang="en-US" sz="1800" dirty="0" err="1"/>
                        <a:t>sudo</a:t>
                      </a:r>
                      <a:r>
                        <a:rPr lang="en-US" sz="1800" dirty="0"/>
                        <a:t> - If the group already exists, this step may return a harmless message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890928"/>
                  </a:ext>
                </a:extLst>
              </a:tr>
              <a:tr h="875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b="1" dirty="0"/>
                        <a:t>sudo usermod -aG docker $(whoami)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Adds the current logged-in user to the docker group, -</a:t>
                      </a:r>
                      <a:r>
                        <a:rPr lang="en-US" sz="1800" dirty="0" err="1"/>
                        <a:t>aG</a:t>
                      </a:r>
                      <a:r>
                        <a:rPr lang="en-US" sz="1800" dirty="0"/>
                        <a:t> means append the user to the group without removing existing groups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8672961"/>
                  </a:ext>
                </a:extLst>
              </a:tr>
              <a:tr h="875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reboot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Restarts the system so that the new group membership takes effect properly - This is the most reliable way to refresh permissions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610362"/>
                  </a:ext>
                </a:extLst>
              </a:tr>
              <a:tr h="1078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6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/>
                        <a:t>docker </a:t>
                      </a:r>
                      <a:r>
                        <a:rPr lang="en-GB" sz="2400" b="1" dirty="0" err="1"/>
                        <a:t>ps</a:t>
                      </a:r>
                      <a:endParaRPr lang="en-GB" sz="2400" b="1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Verifies that Docker is running correctly and that the user can access the Docker daemon without </a:t>
                      </a:r>
                      <a:r>
                        <a:rPr lang="en-US" sz="1800" dirty="0" err="1"/>
                        <a:t>sudo</a:t>
                      </a:r>
                      <a:r>
                        <a:rPr lang="en-US" sz="1800" dirty="0"/>
                        <a:t> - It lists running containers (if any)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317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624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63AE-B811-0710-A045-F49B54828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467669"/>
          </a:xfrm>
        </p:spPr>
        <p:txBody>
          <a:bodyPr>
            <a:normAutofit fontScale="90000"/>
          </a:bodyPr>
          <a:lstStyle/>
          <a:p>
            <a:r>
              <a:rPr lang="en-IN" dirty="0"/>
              <a:t>The “Ops” 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AEE1A-6071-EA5A-0F44-73EAD8E09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277" y="537472"/>
            <a:ext cx="11917445" cy="5639491"/>
          </a:xfrm>
        </p:spPr>
        <p:txBody>
          <a:bodyPr/>
          <a:lstStyle/>
          <a:p>
            <a:r>
              <a:rPr lang="en-IN" dirty="0"/>
              <a:t>Focus: Starting, stopping, deleting containers and executing commands inside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D93597-0522-F3C1-BA1C-31F358E84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157181"/>
              </p:ext>
            </p:extLst>
          </p:nvPr>
        </p:nvGraphicFramePr>
        <p:xfrm>
          <a:off x="376927" y="896535"/>
          <a:ext cx="11677795" cy="5891662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654801">
                  <a:extLst>
                    <a:ext uri="{9D8B030D-6E8A-4147-A177-3AD203B41FA5}">
                      <a16:colId xmlns:a16="http://schemas.microsoft.com/office/drawing/2014/main" val="3025595092"/>
                    </a:ext>
                  </a:extLst>
                </a:gridCol>
                <a:gridCol w="3931159">
                  <a:extLst>
                    <a:ext uri="{9D8B030D-6E8A-4147-A177-3AD203B41FA5}">
                      <a16:colId xmlns:a16="http://schemas.microsoft.com/office/drawing/2014/main" val="1676122052"/>
                    </a:ext>
                  </a:extLst>
                </a:gridCol>
                <a:gridCol w="7091835">
                  <a:extLst>
                    <a:ext uri="{9D8B030D-6E8A-4147-A177-3AD203B41FA5}">
                      <a16:colId xmlns:a16="http://schemas.microsoft.com/office/drawing/2014/main" val="380371303"/>
                    </a:ext>
                  </a:extLst>
                </a:gridCol>
              </a:tblGrid>
              <a:tr h="263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Step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Task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Command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955883"/>
                  </a:ext>
                </a:extLst>
              </a:tr>
              <a:tr h="532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Check if Docker is working fine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  version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475747"/>
                  </a:ext>
                </a:extLst>
              </a:tr>
              <a:tr h="85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Download an image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 images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pull    </a:t>
                      </a:r>
                      <a:r>
                        <a:rPr lang="en-IN" sz="2400" b="1" dirty="0" err="1"/>
                        <a:t>nginx:latest</a:t>
                      </a:r>
                      <a:endParaRPr lang="en-IN" sz="2400" b="1" dirty="0"/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images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910893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Start a container from the image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run   --name   test  -d  -p  8080:80   </a:t>
                      </a:r>
                      <a:r>
                        <a:rPr lang="en-IN" sz="2400" b="1" dirty="0" err="1"/>
                        <a:t>nginx:latest</a:t>
                      </a:r>
                      <a:endParaRPr lang="en-IN" sz="2400" b="1" dirty="0"/>
                    </a:p>
                    <a:p>
                      <a:pPr>
                        <a:buNone/>
                      </a:pPr>
                      <a:r>
                        <a:rPr lang="en-IN" sz="2400" b="0" i="1" dirty="0"/>
                        <a:t>Then in the browser: </a:t>
                      </a:r>
                      <a:r>
                        <a:rPr lang="en-IN" sz="2400" b="1" dirty="0"/>
                        <a:t>localhost:8080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</a:t>
                      </a:r>
                      <a:r>
                        <a:rPr lang="en-IN" sz="2400" b="1" dirty="0" err="1"/>
                        <a:t>ps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018665"/>
                  </a:ext>
                </a:extLst>
              </a:tr>
              <a:tr h="85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Execute a command inside the container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 exec   -it   test    /bin/bash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ls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exit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278768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Delete the container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   </a:t>
                      </a:r>
                      <a:r>
                        <a:rPr lang="en-IN" sz="2400" b="1" dirty="0" err="1"/>
                        <a:t>ps</a:t>
                      </a:r>
                      <a:endParaRPr lang="en-IN" sz="2400" b="1" dirty="0"/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stop   test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rm   test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</a:t>
                      </a:r>
                      <a:r>
                        <a:rPr lang="en-IN" sz="2400" b="1" dirty="0" err="1"/>
                        <a:t>ps</a:t>
                      </a:r>
                      <a:r>
                        <a:rPr lang="en-IN" sz="2400" b="1" dirty="0"/>
                        <a:t>   -a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4267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2906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4E55-C069-B2D1-C86D-082D35F7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65078"/>
          </a:xfrm>
        </p:spPr>
        <p:txBody>
          <a:bodyPr>
            <a:normAutofit fontScale="90000"/>
          </a:bodyPr>
          <a:lstStyle/>
          <a:p>
            <a:r>
              <a:rPr lang="en-IN" dirty="0"/>
              <a:t>Commands on the Previous Slide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75EDCD-3756-AD4B-D519-A80B9CD9E3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7258426"/>
              </p:ext>
            </p:extLst>
          </p:nvPr>
        </p:nvGraphicFramePr>
        <p:xfrm>
          <a:off x="280827" y="487679"/>
          <a:ext cx="11630346" cy="63703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769440">
                  <a:extLst>
                    <a:ext uri="{9D8B030D-6E8A-4147-A177-3AD203B41FA5}">
                      <a16:colId xmlns:a16="http://schemas.microsoft.com/office/drawing/2014/main" val="3235759704"/>
                    </a:ext>
                  </a:extLst>
                </a:gridCol>
                <a:gridCol w="6860906">
                  <a:extLst>
                    <a:ext uri="{9D8B030D-6E8A-4147-A177-3AD203B41FA5}">
                      <a16:colId xmlns:a16="http://schemas.microsoft.com/office/drawing/2014/main" val="4229845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Command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Description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774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docker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List all Docker images available on your 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337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pull nginx:latest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Download the latest Nginx image from Docker 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2113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run ... nginx:latest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Create and start a container using the Nginx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2747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docker exec -it &lt;container_name&gt; /bin/bash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Open an interactive terminal inside a running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912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Show all currently running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6304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stop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Stop the container named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12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rm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Remove the container named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828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docker ps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Show all containers (running + stopped)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204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253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D9C19-810F-4FAC-FA43-B5713BDB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20D4-A590-5390-4800-A696946F0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611234"/>
          </a:xfrm>
        </p:spPr>
        <p:txBody>
          <a:bodyPr>
            <a:normAutofit fontScale="90000"/>
          </a:bodyPr>
          <a:lstStyle/>
          <a:p>
            <a:r>
              <a:rPr lang="en-IN" dirty="0"/>
              <a:t>The “Dev” 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8E9CA-7692-835E-BCAE-6A2AC3FBE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0837"/>
            <a:ext cx="10515600" cy="5416126"/>
          </a:xfrm>
        </p:spPr>
        <p:txBody>
          <a:bodyPr/>
          <a:lstStyle/>
          <a:p>
            <a:r>
              <a:rPr lang="en-IN" dirty="0"/>
              <a:t>Focus: Clone an app from a GitHub repository, inspect its </a:t>
            </a:r>
            <a:r>
              <a:rPr lang="en-IN" dirty="0" err="1"/>
              <a:t>Dockerfile</a:t>
            </a:r>
            <a:r>
              <a:rPr lang="en-IN" dirty="0"/>
              <a:t>, containerize the app, Run the app as a container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E8072C-C316-ECDF-12FF-AF625A917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684748"/>
              </p:ext>
            </p:extLst>
          </p:nvPr>
        </p:nvGraphicFramePr>
        <p:xfrm>
          <a:off x="404849" y="1589366"/>
          <a:ext cx="11677795" cy="4686962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654801">
                  <a:extLst>
                    <a:ext uri="{9D8B030D-6E8A-4147-A177-3AD203B41FA5}">
                      <a16:colId xmlns:a16="http://schemas.microsoft.com/office/drawing/2014/main" val="3025595092"/>
                    </a:ext>
                  </a:extLst>
                </a:gridCol>
                <a:gridCol w="2844530">
                  <a:extLst>
                    <a:ext uri="{9D8B030D-6E8A-4147-A177-3AD203B41FA5}">
                      <a16:colId xmlns:a16="http://schemas.microsoft.com/office/drawing/2014/main" val="1676122052"/>
                    </a:ext>
                  </a:extLst>
                </a:gridCol>
                <a:gridCol w="8178464">
                  <a:extLst>
                    <a:ext uri="{9D8B030D-6E8A-4147-A177-3AD203B41FA5}">
                      <a16:colId xmlns:a16="http://schemas.microsoft.com/office/drawing/2014/main" val="380371303"/>
                    </a:ext>
                  </a:extLst>
                </a:gridCol>
              </a:tblGrid>
              <a:tr h="263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Step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Task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Command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955883"/>
                  </a:ext>
                </a:extLst>
              </a:tr>
              <a:tr h="532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Clone an app from a GitHub repo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cd    ~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git   clone   </a:t>
                      </a:r>
                      <a:r>
                        <a:rPr lang="en-IN" sz="2400" b="1" dirty="0">
                          <a:hlinkClick r:id="rId2"/>
                        </a:rPr>
                        <a:t>https://github.com/newdelthis/webappdemo.git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475747"/>
                  </a:ext>
                </a:extLst>
              </a:tr>
              <a:tr h="85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Inspect the app’s </a:t>
                      </a:r>
                      <a:r>
                        <a:rPr lang="en-GB" sz="1800" dirty="0" err="1"/>
                        <a:t>Dockerfile</a:t>
                      </a:r>
                      <a:endParaRPr lang="en-GB" sz="180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cd    </a:t>
                      </a:r>
                      <a:r>
                        <a:rPr lang="en-IN" sz="2400" b="1" dirty="0" err="1"/>
                        <a:t>webappdemo</a:t>
                      </a:r>
                      <a:endParaRPr lang="en-IN" sz="2400" b="1" dirty="0"/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cat   </a:t>
                      </a:r>
                      <a:r>
                        <a:rPr lang="en-IN" sz="2400" b="1" dirty="0" err="1"/>
                        <a:t>Dockerfile</a:t>
                      </a:r>
                      <a:endParaRPr lang="en-IN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910893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Containerize the app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build   -t   test:1.0    .</a:t>
                      </a:r>
                    </a:p>
                    <a:p>
                      <a:pPr>
                        <a:buNone/>
                      </a:pPr>
                      <a:r>
                        <a:rPr lang="en-IN" sz="2400" b="1" dirty="0"/>
                        <a:t>docker    images</a:t>
                      </a:r>
                      <a:endParaRPr lang="en-GB" sz="2400" b="1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018665"/>
                  </a:ext>
                </a:extLst>
              </a:tr>
              <a:tr h="857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Run the app as a container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docker   run   -d  --name  web-1  -p  9999:8080  test:1.0</a:t>
                      </a:r>
                    </a:p>
                    <a:p>
                      <a:pPr>
                        <a:buNone/>
                      </a:pPr>
                      <a:r>
                        <a:rPr lang="en-IN" sz="2400" b="0" i="1" dirty="0"/>
                        <a:t>In the browser: </a:t>
                      </a:r>
                      <a:r>
                        <a:rPr lang="en-IN" sz="2400" b="1" i="1" dirty="0"/>
                        <a:t>localhost:9999</a:t>
                      </a:r>
                    </a:p>
                    <a:p>
                      <a:pPr>
                        <a:buNone/>
                      </a:pPr>
                      <a:r>
                        <a:rPr lang="en-IN" sz="2400" b="1" i="0" dirty="0"/>
                        <a:t>docker   </a:t>
                      </a:r>
                      <a:r>
                        <a:rPr lang="en-IN" sz="2400" b="1" i="0" dirty="0" err="1"/>
                        <a:t>ps</a:t>
                      </a:r>
                      <a:endParaRPr lang="en-IN" sz="2400" b="1" i="0" dirty="0"/>
                    </a:p>
                    <a:p>
                      <a:pPr>
                        <a:buNone/>
                      </a:pPr>
                      <a:r>
                        <a:rPr lang="en-IN" sz="2400" b="1" i="0" dirty="0"/>
                        <a:t>docker   rm    web1    -f</a:t>
                      </a:r>
                    </a:p>
                    <a:p>
                      <a:pPr>
                        <a:buNone/>
                      </a:pPr>
                      <a:r>
                        <a:rPr lang="en-IN" sz="2400" b="1" i="0" dirty="0"/>
                        <a:t>docker    </a:t>
                      </a:r>
                      <a:r>
                        <a:rPr lang="en-IN" sz="2400" b="1" i="0" dirty="0" err="1"/>
                        <a:t>rmi</a:t>
                      </a:r>
                      <a:r>
                        <a:rPr lang="en-IN" sz="2400" b="1" i="0" dirty="0"/>
                        <a:t>   test:1.0</a:t>
                      </a:r>
                      <a:endParaRPr lang="en-GB" sz="2400" b="1" i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278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282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2EA46-5C45-3ABD-9A2C-E3F357F0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Docker Engine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17FC-A563-51CB-A9AC-D625C8B8A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Docker Engine = Server-side components of Docker that run and manage containers</a:t>
            </a:r>
          </a:p>
          <a:p>
            <a:r>
              <a:rPr lang="en-IN" dirty="0"/>
              <a:t>Original architecture</a:t>
            </a:r>
          </a:p>
          <a:p>
            <a:r>
              <a:rPr lang="en-IN" dirty="0"/>
              <a:t>Monolithic</a:t>
            </a:r>
          </a:p>
          <a:p>
            <a:r>
              <a:rPr lang="en-IN" dirty="0"/>
              <a:t>Everything in daemon</a:t>
            </a:r>
          </a:p>
          <a:p>
            <a:r>
              <a:rPr lang="en-IN" dirty="0"/>
              <a:t>Now split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F5461-E1E8-1147-1C8A-683076B3E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10" y="2455124"/>
            <a:ext cx="7449590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2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D03D-0EF9-9BFA-9D0F-45C049AE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containerd</a:t>
            </a:r>
            <a:r>
              <a:rPr lang="en-IN" dirty="0"/>
              <a:t> (“Container-d”)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71D351-D949-A3B2-CE46-4B7E8E4C746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83718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444310">
                  <a:extLst>
                    <a:ext uri="{9D8B030D-6E8A-4147-A177-3AD203B41FA5}">
                      <a16:colId xmlns:a16="http://schemas.microsoft.com/office/drawing/2014/main" val="874214916"/>
                    </a:ext>
                  </a:extLst>
                </a:gridCol>
                <a:gridCol w="9071290">
                  <a:extLst>
                    <a:ext uri="{9D8B030D-6E8A-4147-A177-3AD203B41FA5}">
                      <a16:colId xmlns:a16="http://schemas.microsoft.com/office/drawing/2014/main" val="1779920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Topic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618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Definition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containerd</a:t>
                      </a:r>
                      <a:r>
                        <a:rPr lang="en-US" b="1" dirty="0"/>
                        <a:t> </a:t>
                      </a:r>
                      <a:r>
                        <a:rPr lang="en-US" dirty="0"/>
                        <a:t>is a </a:t>
                      </a:r>
                      <a:r>
                        <a:rPr lang="en-US" b="1" dirty="0"/>
                        <a:t>core container runtime</a:t>
                      </a:r>
                      <a:r>
                        <a:rPr lang="en-US" dirty="0"/>
                        <a:t> that manages the complete lifecycle of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060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Role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Pulls images, creates containers, starts, stops, pauses, and deletes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861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Origin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Originally developed by Docker, Inc. and later donated to Cloud Native Computing Foundation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3795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Used By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Docker, Kubernetes, cloud-native platforms (</a:t>
                      </a:r>
                      <a:r>
                        <a:rPr lang="en-GB" dirty="0">
                          <a:hlinkClick r:id="rId2" tooltip="containerd | CNCF"/>
                        </a:rPr>
                        <a:t>CNCF</a:t>
                      </a:r>
                      <a:r>
                        <a:rPr lang="en-GB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171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4FAA2F-314B-ED1C-771D-F74584252C4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483367"/>
          <a:ext cx="10515600" cy="21945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259150">
                  <a:extLst>
                    <a:ext uri="{9D8B030D-6E8A-4147-A177-3AD203B41FA5}">
                      <a16:colId xmlns:a16="http://schemas.microsoft.com/office/drawing/2014/main" val="383841536"/>
                    </a:ext>
                  </a:extLst>
                </a:gridCol>
                <a:gridCol w="7256450">
                  <a:extLst>
                    <a:ext uri="{9D8B030D-6E8A-4147-A177-3AD203B41FA5}">
                      <a16:colId xmlns:a16="http://schemas.microsoft.com/office/drawing/2014/main" val="36302654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918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Lightweight runtime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Runs containers without full Docker CLI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10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High performance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Faster and more efficient for production workloads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6023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Kubernetes support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Preferred runtime for Kubernetes worker nodes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996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Image management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Pull, push, store, and manage OCI-compliant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446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Lifecycle control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Create, run, stop, and remove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737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981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DB18E-7568-2393-96C8-8E94175FB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Starting a New Container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F25B0-4FC8-1359-7A9E-FF3494F39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docker  run  -d   --name  ctr1    nginx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40419-9E30-B46B-62CD-21BE59F77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04" y="2280803"/>
            <a:ext cx="6582283" cy="433387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0527C8-302A-C6F2-382F-5DF428F39B4D}"/>
              </a:ext>
            </a:extLst>
          </p:cNvPr>
          <p:cNvGraphicFramePr>
            <a:graphicFrameLocks noGrp="1"/>
          </p:cNvGraphicFramePr>
          <p:nvPr/>
        </p:nvGraphicFramePr>
        <p:xfrm>
          <a:off x="6721887" y="79741"/>
          <a:ext cx="5330508" cy="669787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137765">
                  <a:extLst>
                    <a:ext uri="{9D8B030D-6E8A-4147-A177-3AD203B41FA5}">
                      <a16:colId xmlns:a16="http://schemas.microsoft.com/office/drawing/2014/main" val="230056074"/>
                    </a:ext>
                  </a:extLst>
                </a:gridCol>
                <a:gridCol w="1291328">
                  <a:extLst>
                    <a:ext uri="{9D8B030D-6E8A-4147-A177-3AD203B41FA5}">
                      <a16:colId xmlns:a16="http://schemas.microsoft.com/office/drawing/2014/main" val="1207207977"/>
                    </a:ext>
                  </a:extLst>
                </a:gridCol>
                <a:gridCol w="2901415">
                  <a:extLst>
                    <a:ext uri="{9D8B030D-6E8A-4147-A177-3AD203B41FA5}">
                      <a16:colId xmlns:a16="http://schemas.microsoft.com/office/drawing/2014/main" val="627786587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File / Executable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Component Name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Purpose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7761876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/usr/bin/dockerd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Docker Daemon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Main background service of Docker that receives CLI/API requests and manages images, networks, volumes, and containers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581550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/</a:t>
                      </a:r>
                      <a:r>
                        <a:rPr lang="en-GB" sz="1800" dirty="0" err="1"/>
                        <a:t>usr</a:t>
                      </a:r>
                      <a:r>
                        <a:rPr lang="en-GB" sz="1800" dirty="0"/>
                        <a:t>/bin/</a:t>
                      </a:r>
                      <a:r>
                        <a:rPr lang="en-GB" sz="1800" dirty="0" err="1"/>
                        <a:t>containerd</a:t>
                      </a:r>
                      <a:endParaRPr lang="en-GB" sz="180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containerd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Core container runtime responsible for image handling and container lifecycle management (start, stop, delete)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168944"/>
                  </a:ext>
                </a:extLst>
              </a:tr>
              <a:tr h="1243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/usr/bin/containerd-shim-runc-v2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Shim Process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Intermediate process that keeps the container running independently of the daemon and manages I/O, exit status, and lifecycle communication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610447"/>
                  </a:ext>
                </a:extLst>
              </a:tr>
              <a:tr h="777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/usr/bin/runc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OCI Runtime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Low-level runtime that actually creates and runs containers using Linux namespaces and </a:t>
                      </a:r>
                      <a:r>
                        <a:rPr lang="en-US" sz="1800" dirty="0" err="1"/>
                        <a:t>cgroups</a:t>
                      </a:r>
                      <a:endParaRPr lang="en-US" sz="180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238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926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7B50-FF2F-9EE7-443D-5EEB90F10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Ready Docker Images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069680-D39E-5B84-6ED3-48FF76D34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5368278"/>
              </p:ext>
            </p:extLst>
          </p:nvPr>
        </p:nvGraphicFramePr>
        <p:xfrm>
          <a:off x="663539" y="1543716"/>
          <a:ext cx="11151742" cy="35356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791434">
                  <a:extLst>
                    <a:ext uri="{9D8B030D-6E8A-4147-A177-3AD203B41FA5}">
                      <a16:colId xmlns:a16="http://schemas.microsoft.com/office/drawing/2014/main" val="2026088405"/>
                    </a:ext>
                  </a:extLst>
                </a:gridCol>
                <a:gridCol w="2168398">
                  <a:extLst>
                    <a:ext uri="{9D8B030D-6E8A-4147-A177-3AD203B41FA5}">
                      <a16:colId xmlns:a16="http://schemas.microsoft.com/office/drawing/2014/main" val="1747056632"/>
                    </a:ext>
                  </a:extLst>
                </a:gridCol>
                <a:gridCol w="7191910">
                  <a:extLst>
                    <a:ext uri="{9D8B030D-6E8A-4147-A177-3AD203B41FA5}">
                      <a16:colId xmlns:a16="http://schemas.microsoft.com/office/drawing/2014/main" val="25950978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Image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Use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Example Command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662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Base 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-it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219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Web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-d -p 80:80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333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 err="1"/>
                        <a:t>mysql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-d -e MYSQL_ROOT_PASSWORD=1234 </a:t>
                      </a:r>
                      <a:r>
                        <a:rPr lang="en-US" sz="2800" noProof="0" dirty="0" err="1"/>
                        <a:t>mysql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46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mongo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NoSQL 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-d -p 27017:27017 mongo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4558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Runtime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docker run -it 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509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040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9590E-F714-9987-8FA7-7848D1C9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Run a Container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C14919-6C22-92C9-E36B-0FF6F7DEB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011645"/>
              </p:ext>
            </p:extLst>
          </p:nvPr>
        </p:nvGraphicFramePr>
        <p:xfrm>
          <a:off x="256853" y="1463040"/>
          <a:ext cx="11568701" cy="502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373385">
                  <a:extLst>
                    <a:ext uri="{9D8B030D-6E8A-4147-A177-3AD203B41FA5}">
                      <a16:colId xmlns:a16="http://schemas.microsoft.com/office/drawing/2014/main" val="466853833"/>
                    </a:ext>
                  </a:extLst>
                </a:gridCol>
                <a:gridCol w="6195316">
                  <a:extLst>
                    <a:ext uri="{9D8B030D-6E8A-4147-A177-3AD203B41FA5}">
                      <a16:colId xmlns:a16="http://schemas.microsoft.com/office/drawing/2014/main" val="326105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Syntax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Description / Behavior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294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-d -it &lt;container name&gt;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a container in detached mode with interactive terminal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112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Starts a container but it immediately stops (no interactive process running)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985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Lists all currently running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605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-it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container in interactive mode; stays active until you exit the 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613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</a:t>
                      </a:r>
                      <a:r>
                        <a:rPr lang="en-US" sz="2400" b="1" noProof="0" dirty="0" err="1"/>
                        <a:t>dit</a:t>
                      </a:r>
                      <a:r>
                        <a:rPr lang="en-US" sz="2400" b="1" noProof="0" dirty="0"/>
                        <a:t>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container in background (detached mode); continues running even after exiting 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916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-it &lt;container id&gt; /bin/bash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Opens an interactive terminal inside a running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781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807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E46BF-C54C-4D5C-D36E-39BD20BD5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67819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 Container Lifecycle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4FF5A6-6A69-F75E-596A-EDB534714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281948"/>
              </p:ext>
            </p:extLst>
          </p:nvPr>
        </p:nvGraphicFramePr>
        <p:xfrm>
          <a:off x="243155" y="565079"/>
          <a:ext cx="11705689" cy="627925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349712">
                  <a:extLst>
                    <a:ext uri="{9D8B030D-6E8A-4147-A177-3AD203B41FA5}">
                      <a16:colId xmlns:a16="http://schemas.microsoft.com/office/drawing/2014/main" val="2732759339"/>
                    </a:ext>
                  </a:extLst>
                </a:gridCol>
                <a:gridCol w="3242323">
                  <a:extLst>
                    <a:ext uri="{9D8B030D-6E8A-4147-A177-3AD203B41FA5}">
                      <a16:colId xmlns:a16="http://schemas.microsoft.com/office/drawing/2014/main" val="59698115"/>
                    </a:ext>
                  </a:extLst>
                </a:gridCol>
                <a:gridCol w="4113654">
                  <a:extLst>
                    <a:ext uri="{9D8B030D-6E8A-4147-A177-3AD203B41FA5}">
                      <a16:colId xmlns:a16="http://schemas.microsoft.com/office/drawing/2014/main" val="385360713"/>
                    </a:ext>
                  </a:extLst>
                </a:gridCol>
              </a:tblGrid>
              <a:tr h="252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Syntax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2993899"/>
                  </a:ext>
                </a:extLst>
              </a:tr>
              <a:tr h="822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&lt;image&gt;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and stop a container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 run   ubuntu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docker   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900212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-it &lt;image&gt;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a container and directly open an interactive terminal in it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run    -it    ubuntu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exit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docker   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587428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</a:t>
                      </a:r>
                      <a:r>
                        <a:rPr lang="en-US" sz="2400" noProof="0" dirty="0" err="1"/>
                        <a:t>dit</a:t>
                      </a:r>
                      <a:r>
                        <a:rPr lang="en-US" sz="2400" noProof="0" dirty="0"/>
                        <a:t> &lt;image&gt;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in detached mode, so container is running in the background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-</a:t>
                      </a:r>
                      <a:r>
                        <a:rPr lang="en-US" sz="2400" b="1" noProof="0" dirty="0" err="1"/>
                        <a:t>dit</a:t>
                      </a:r>
                      <a:r>
                        <a:rPr lang="en-US" sz="2400" b="1" noProof="0" dirty="0"/>
                        <a:t> ubuntu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704680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exec -it &lt;</a:t>
                      </a:r>
                      <a:r>
                        <a:rPr lang="en-US" sz="2400" noProof="0" dirty="0" err="1"/>
                        <a:t>container_id</a:t>
                      </a:r>
                      <a:r>
                        <a:rPr lang="en-US" sz="2400" noProof="0" dirty="0"/>
                        <a:t>&gt; /bin/bash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Access container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-it b3 /bin/bash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673474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stop &lt;</a:t>
                      </a:r>
                      <a:r>
                        <a:rPr lang="en-US" sz="2400" noProof="0" dirty="0" err="1"/>
                        <a:t>container_id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 (by ID)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stop b3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399982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stop &lt;</a:t>
                      </a:r>
                      <a:r>
                        <a:rPr lang="en-US" sz="2400" noProof="0" dirty="0" err="1"/>
                        <a:t>container_name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 (by name)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stop </a:t>
                      </a:r>
                      <a:r>
                        <a:rPr lang="en-US" sz="2400" b="1" noProof="0" dirty="0" err="1"/>
                        <a:t>beautiful_joe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202185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ps</a:t>
                      </a:r>
                      <a:endParaRPr lang="en-US" sz="2400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running containers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endParaRPr lang="en-US" sz="2400" b="1" noProof="0" dirty="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874312"/>
                  </a:ext>
                </a:extLst>
              </a:tr>
              <a:tr h="442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ps</a:t>
                      </a:r>
                      <a:r>
                        <a:rPr lang="en-US" sz="2400" noProof="0" dirty="0"/>
                        <a:t> -a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all containers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</a:t>
                      </a:r>
                      <a:r>
                        <a:rPr lang="en-US" sz="2400" b="1" noProof="0" dirty="0" err="1"/>
                        <a:t>ps</a:t>
                      </a:r>
                      <a:r>
                        <a:rPr lang="en-US" sz="2400" b="1" noProof="0" dirty="0"/>
                        <a:t> -a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915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589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EC63-4179-62B7-6C31-761CBBBF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Image Commands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0C144E-4827-3635-D377-020B2BB80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929108"/>
              </p:ext>
            </p:extLst>
          </p:nvPr>
        </p:nvGraphicFramePr>
        <p:xfrm>
          <a:off x="838200" y="1444108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004335">
                  <a:extLst>
                    <a:ext uri="{9D8B030D-6E8A-4147-A177-3AD203B41FA5}">
                      <a16:colId xmlns:a16="http://schemas.microsoft.com/office/drawing/2014/main" val="1001396243"/>
                    </a:ext>
                  </a:extLst>
                </a:gridCol>
                <a:gridCol w="4479532">
                  <a:extLst>
                    <a:ext uri="{9D8B030D-6E8A-4147-A177-3AD203B41FA5}">
                      <a16:colId xmlns:a16="http://schemas.microsoft.com/office/drawing/2014/main" val="2416615505"/>
                    </a:ext>
                  </a:extLst>
                </a:gridCol>
                <a:gridCol w="3031733">
                  <a:extLst>
                    <a:ext uri="{9D8B030D-6E8A-4147-A177-3AD203B41FA5}">
                      <a16:colId xmlns:a16="http://schemas.microsoft.com/office/drawing/2014/main" val="977343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733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pull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Download image from Docker 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pull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037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all downloaded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02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rmi</a:t>
                      </a:r>
                      <a:r>
                        <a:rPr lang="en-US" sz="2400" noProof="0" dirty="0"/>
                        <a:t>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an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rmi</a:t>
                      </a:r>
                      <a:r>
                        <a:rPr lang="en-US" sz="2400" noProof="0" dirty="0"/>
                        <a:t>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497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244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EC5B-C361-9F7D-5715-A8A42C75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prune – Containers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02F8239-9C0E-6157-44BD-12997C408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443599"/>
              </p:ext>
            </p:extLst>
          </p:nvPr>
        </p:nvGraphicFramePr>
        <p:xfrm>
          <a:off x="458056" y="1690688"/>
          <a:ext cx="11449692" cy="35661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078593">
                  <a:extLst>
                    <a:ext uri="{9D8B030D-6E8A-4147-A177-3AD203B41FA5}">
                      <a16:colId xmlns:a16="http://schemas.microsoft.com/office/drawing/2014/main" val="2436726710"/>
                    </a:ext>
                  </a:extLst>
                </a:gridCol>
                <a:gridCol w="5336762">
                  <a:extLst>
                    <a:ext uri="{9D8B030D-6E8A-4147-A177-3AD203B41FA5}">
                      <a16:colId xmlns:a16="http://schemas.microsoft.com/office/drawing/2014/main" val="691696311"/>
                    </a:ext>
                  </a:extLst>
                </a:gridCol>
                <a:gridCol w="5034337">
                  <a:extLst>
                    <a:ext uri="{9D8B030D-6E8A-4147-A177-3AD203B41FA5}">
                      <a16:colId xmlns:a16="http://schemas.microsoft.com/office/drawing/2014/main" val="1673311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641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docker   run   -d  --name   c1  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Container c1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713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docker   run   -d  --name   c2  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Container c2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536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stop   c1   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Both containers stopped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622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</a:t>
                      </a:r>
                      <a:r>
                        <a:rPr lang="en-IN" sz="2800" b="1" dirty="0" err="1"/>
                        <a:t>ps</a:t>
                      </a:r>
                      <a:r>
                        <a:rPr lang="en-IN" sz="2800" b="1" dirty="0"/>
                        <a:t>  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Shows c1, c2 (stopped)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593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  container   prune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Deletes </a:t>
                      </a:r>
                      <a:r>
                        <a:rPr lang="en-IN" sz="2400" b="1" dirty="0"/>
                        <a:t>ALL stopped containers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13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docker   </a:t>
                      </a:r>
                      <a:r>
                        <a:rPr lang="en-IN" sz="2800" b="1" dirty="0" err="1"/>
                        <a:t>ps</a:t>
                      </a:r>
                      <a:r>
                        <a:rPr lang="en-IN" sz="2800" b="1" dirty="0"/>
                        <a:t>  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 stopped containers should appear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011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15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1A8CD-5FD8-095C-FA4B-3886D9B77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prune - Images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C65B73-351A-4B3C-27B8-5525D9B212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0789314"/>
              </p:ext>
            </p:extLst>
          </p:nvPr>
        </p:nvGraphicFramePr>
        <p:xfrm>
          <a:off x="684088" y="1474365"/>
          <a:ext cx="10515600" cy="3627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483759">
                  <a:extLst>
                    <a:ext uri="{9D8B030D-6E8A-4147-A177-3AD203B41FA5}">
                      <a16:colId xmlns:a16="http://schemas.microsoft.com/office/drawing/2014/main" val="3558047134"/>
                    </a:ext>
                  </a:extLst>
                </a:gridCol>
                <a:gridCol w="5198724">
                  <a:extLst>
                    <a:ext uri="{9D8B030D-6E8A-4147-A177-3AD203B41FA5}">
                      <a16:colId xmlns:a16="http://schemas.microsoft.com/office/drawing/2014/main" val="3481451199"/>
                    </a:ext>
                  </a:extLst>
                </a:gridCol>
                <a:gridCol w="3833117">
                  <a:extLst>
                    <a:ext uri="{9D8B030D-6E8A-4147-A177-3AD203B41FA5}">
                      <a16:colId xmlns:a16="http://schemas.microsoft.com/office/drawing/2014/main" val="1279145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50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pull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Image downloaded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34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run -</a:t>
                      </a:r>
                      <a:r>
                        <a:rPr lang="en-IN" sz="2800" b="1" dirty="0" err="1"/>
                        <a:t>dit</a:t>
                      </a:r>
                      <a:r>
                        <a:rPr lang="en-IN" sz="2800" b="1" dirty="0"/>
                        <a:t> --name t1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Container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253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stop 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Container stopped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592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rm 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Container removed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22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nginx image still present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998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docker image prune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Removes </a:t>
                      </a:r>
                      <a:r>
                        <a:rPr lang="en-IN" sz="2800" b="1" dirty="0"/>
                        <a:t>unused images</a:t>
                      </a:r>
                      <a:endParaRPr lang="en-I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004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655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EC63-4179-62B7-6C31-761CBBBF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43"/>
            <a:ext cx="10515600" cy="565077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Inspect a Container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889F33-441B-77E9-D02D-38F028513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550543"/>
              </p:ext>
            </p:extLst>
          </p:nvPr>
        </p:nvGraphicFramePr>
        <p:xfrm>
          <a:off x="365590" y="794192"/>
          <a:ext cx="11388047" cy="44805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847012">
                  <a:extLst>
                    <a:ext uri="{9D8B030D-6E8A-4147-A177-3AD203B41FA5}">
                      <a16:colId xmlns:a16="http://schemas.microsoft.com/office/drawing/2014/main" val="1153770023"/>
                    </a:ext>
                  </a:extLst>
                </a:gridCol>
                <a:gridCol w="1986122">
                  <a:extLst>
                    <a:ext uri="{9D8B030D-6E8A-4147-A177-3AD203B41FA5}">
                      <a16:colId xmlns:a16="http://schemas.microsoft.com/office/drawing/2014/main" val="3619957693"/>
                    </a:ext>
                  </a:extLst>
                </a:gridCol>
                <a:gridCol w="3359649">
                  <a:extLst>
                    <a:ext uri="{9D8B030D-6E8A-4147-A177-3AD203B41FA5}">
                      <a16:colId xmlns:a16="http://schemas.microsoft.com/office/drawing/2014/main" val="286921104"/>
                    </a:ext>
                  </a:extLst>
                </a:gridCol>
                <a:gridCol w="3195264">
                  <a:extLst>
                    <a:ext uri="{9D8B030D-6E8A-4147-A177-3AD203B41FA5}">
                      <a16:colId xmlns:a16="http://schemas.microsoft.com/office/drawing/2014/main" val="21913619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Description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2035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&lt;</a:t>
                      </a:r>
                      <a:r>
                        <a:rPr lang="en-US" sz="2400" noProof="0" dirty="0" err="1"/>
                        <a:t>container_id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Get detailed container 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Displays low-level JSON details (IP, mounts, config, status,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275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&lt;</a:t>
                      </a:r>
                      <a:r>
                        <a:rPr lang="en-US" sz="2400" noProof="0" dirty="0" err="1"/>
                        <a:t>container_name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Inspect by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Same as above, using container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</a:t>
                      </a:r>
                      <a:r>
                        <a:rPr lang="en-US" sz="2400" noProof="0" dirty="0" err="1"/>
                        <a:t>beautiful_joe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352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Inspect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Shows metadata about image (layers, config)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451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-f "&lt;format&gt;"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Filter specific 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Extract specific fields using Go template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inspect -f "{{.</a:t>
                      </a:r>
                      <a:r>
                        <a:rPr lang="en-US" sz="2400" noProof="0" dirty="0" err="1"/>
                        <a:t>NetworkSettings.IPAddress</a:t>
                      </a:r>
                      <a:r>
                        <a:rPr lang="en-US" sz="2400" noProof="0" dirty="0"/>
                        <a:t>}}" 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379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324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89670-435B-A8B5-BBD2-7F8FB6ADC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43"/>
            <a:ext cx="10515600" cy="578294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Naming a Docker Container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1C9C4A-00F6-9074-17B7-AB0E81DCE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142254"/>
              </p:ext>
            </p:extLst>
          </p:nvPr>
        </p:nvGraphicFramePr>
        <p:xfrm>
          <a:off x="622443" y="924697"/>
          <a:ext cx="11182564" cy="52120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795641">
                  <a:extLst>
                    <a:ext uri="{9D8B030D-6E8A-4147-A177-3AD203B41FA5}">
                      <a16:colId xmlns:a16="http://schemas.microsoft.com/office/drawing/2014/main" val="2432393928"/>
                    </a:ext>
                  </a:extLst>
                </a:gridCol>
                <a:gridCol w="2499831">
                  <a:extLst>
                    <a:ext uri="{9D8B030D-6E8A-4147-A177-3AD203B41FA5}">
                      <a16:colId xmlns:a16="http://schemas.microsoft.com/office/drawing/2014/main" val="1479809164"/>
                    </a:ext>
                  </a:extLst>
                </a:gridCol>
                <a:gridCol w="2774022">
                  <a:extLst>
                    <a:ext uri="{9D8B030D-6E8A-4147-A177-3AD203B41FA5}">
                      <a16:colId xmlns:a16="http://schemas.microsoft.com/office/drawing/2014/main" val="165514839"/>
                    </a:ext>
                  </a:extLst>
                </a:gridCol>
                <a:gridCol w="3113070">
                  <a:extLst>
                    <a:ext uri="{9D8B030D-6E8A-4147-A177-3AD203B41FA5}">
                      <a16:colId xmlns:a16="http://schemas.microsoft.com/office/drawing/2014/main" val="743095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Syntax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Description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797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--name &lt;name&gt;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Assign name while creating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Gives a custom name instead of random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-it --name </a:t>
                      </a:r>
                      <a:r>
                        <a:rPr lang="en-US" sz="2400" noProof="0" dirty="0" err="1"/>
                        <a:t>myubuntu</a:t>
                      </a:r>
                      <a:r>
                        <a:rPr lang="en-US" sz="2400" noProof="0" dirty="0"/>
                        <a:t>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148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</a:t>
                      </a:r>
                      <a:r>
                        <a:rPr lang="en-US" sz="2400" noProof="0" dirty="0" err="1"/>
                        <a:t>dit</a:t>
                      </a:r>
                      <a:r>
                        <a:rPr lang="en-US" sz="2400" noProof="0" dirty="0"/>
                        <a:t> --name &lt;name&gt; &lt;image&gt;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Name + detached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Runs container in background with a custom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</a:t>
                      </a:r>
                      <a:r>
                        <a:rPr lang="en-US" sz="2400" noProof="0" dirty="0" err="1"/>
                        <a:t>dit</a:t>
                      </a:r>
                      <a:r>
                        <a:rPr lang="en-US" sz="2400" noProof="0" dirty="0"/>
                        <a:t> --name webserver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1531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ps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container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Shows assigned container name in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</a:t>
                      </a:r>
                      <a:r>
                        <a:rPr lang="en-US" sz="2400" noProof="0" dirty="0" err="1"/>
                        <a:t>ps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759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rename &lt;</a:t>
                      </a:r>
                      <a:r>
                        <a:rPr lang="en-US" sz="2400" noProof="0" dirty="0" err="1"/>
                        <a:t>old_name</a:t>
                      </a:r>
                      <a:r>
                        <a:rPr lang="en-US" sz="2400" noProof="0" dirty="0"/>
                        <a:t>&gt; &lt;</a:t>
                      </a:r>
                      <a:r>
                        <a:rPr lang="en-US" sz="2400" noProof="0" dirty="0" err="1"/>
                        <a:t>new_name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Rename existing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Changes name of an already created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rename webserver </a:t>
                      </a:r>
                      <a:r>
                        <a:rPr lang="en-US" sz="2400" noProof="0" dirty="0" err="1"/>
                        <a:t>myweb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063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177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A042-744C-F417-8C09-5ADBA6588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565"/>
            <a:ext cx="10515600" cy="547472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 Logs Command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E34D15-7BD3-28CF-520F-D6BC77175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001354"/>
              </p:ext>
            </p:extLst>
          </p:nvPr>
        </p:nvGraphicFramePr>
        <p:xfrm>
          <a:off x="365588" y="824010"/>
          <a:ext cx="11655176" cy="49377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913794">
                  <a:extLst>
                    <a:ext uri="{9D8B030D-6E8A-4147-A177-3AD203B41FA5}">
                      <a16:colId xmlns:a16="http://schemas.microsoft.com/office/drawing/2014/main" val="2603205149"/>
                    </a:ext>
                  </a:extLst>
                </a:gridCol>
                <a:gridCol w="2913794">
                  <a:extLst>
                    <a:ext uri="{9D8B030D-6E8A-4147-A177-3AD203B41FA5}">
                      <a16:colId xmlns:a16="http://schemas.microsoft.com/office/drawing/2014/main" val="3813803651"/>
                    </a:ext>
                  </a:extLst>
                </a:gridCol>
                <a:gridCol w="2913794">
                  <a:extLst>
                    <a:ext uri="{9D8B030D-6E8A-4147-A177-3AD203B41FA5}">
                      <a16:colId xmlns:a16="http://schemas.microsoft.com/office/drawing/2014/main" val="3085071337"/>
                    </a:ext>
                  </a:extLst>
                </a:gridCol>
                <a:gridCol w="2913794">
                  <a:extLst>
                    <a:ext uri="{9D8B030D-6E8A-4147-A177-3AD203B41FA5}">
                      <a16:colId xmlns:a16="http://schemas.microsoft.com/office/drawing/2014/main" val="3259926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Syntax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Description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728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View container logs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Displays output (</a:t>
                      </a:r>
                      <a:r>
                        <a:rPr lang="en-US" sz="2400" noProof="0" dirty="0" err="1"/>
                        <a:t>stdout</a:t>
                      </a:r>
                      <a:r>
                        <a:rPr lang="en-US" sz="2400" noProof="0" dirty="0"/>
                        <a:t>/stderr) of a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</a:t>
                      </a:r>
                      <a:r>
                        <a:rPr lang="en-US" sz="2400" noProof="0" dirty="0" err="1"/>
                        <a:t>mycontainer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7184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&lt;</a:t>
                      </a:r>
                      <a:r>
                        <a:rPr lang="en-US" sz="2400" noProof="0" dirty="0" err="1"/>
                        <a:t>container_id</a:t>
                      </a:r>
                      <a:r>
                        <a:rPr lang="en-US" sz="2400" noProof="0" dirty="0"/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View logs by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Same as above using container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146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-f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Follow logs (live)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Streams logs in real-time (like tail -f)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-f </a:t>
                      </a:r>
                      <a:r>
                        <a:rPr lang="en-US" sz="2400" noProof="0" dirty="0" err="1"/>
                        <a:t>mycontainer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4771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--tail &lt;n&gt;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Show last N 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Displays only recent log entries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--tail 10 </a:t>
                      </a:r>
                      <a:r>
                        <a:rPr lang="en-US" sz="2400" noProof="0" dirty="0" err="1"/>
                        <a:t>mycontainer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02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-t &lt;container&gt;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Show timestamps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Adds timestamps to log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logs -t </a:t>
                      </a:r>
                      <a:r>
                        <a:rPr lang="en-US" sz="2400" noProof="0" dirty="0" err="1"/>
                        <a:t>mycontainer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3236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776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987B-9126-831F-4724-2419B4644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E6BCD-B1CC-EC14-8D69-BD5628C17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Suppose we run an nginx container: </a:t>
            </a:r>
            <a:r>
              <a:rPr lang="en-US" b="1" noProof="0" dirty="0"/>
              <a:t>docker    run   -</a:t>
            </a:r>
            <a:r>
              <a:rPr lang="en-US" b="1" noProof="0" dirty="0" err="1"/>
              <a:t>dit</a:t>
            </a:r>
            <a:r>
              <a:rPr lang="en-US" b="1" noProof="0" dirty="0"/>
              <a:t>   nginx</a:t>
            </a:r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endParaRPr lang="en-US" b="1" noProof="0" dirty="0"/>
          </a:p>
          <a:p>
            <a:r>
              <a:rPr lang="en-US" noProof="0" dirty="0"/>
              <a:t>Getting the container IP: </a:t>
            </a:r>
            <a:r>
              <a:rPr lang="en-US" b="1" noProof="0" dirty="0"/>
              <a:t>docker inspect &lt;container id/name&gt;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8A1ED4-9C28-7942-DD7B-2ECAC96C6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080295"/>
              </p:ext>
            </p:extLst>
          </p:nvPr>
        </p:nvGraphicFramePr>
        <p:xfrm>
          <a:off x="910119" y="2514600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572820">
                  <a:extLst>
                    <a:ext uri="{9D8B030D-6E8A-4147-A177-3AD203B41FA5}">
                      <a16:colId xmlns:a16="http://schemas.microsoft.com/office/drawing/2014/main" val="468846923"/>
                    </a:ext>
                  </a:extLst>
                </a:gridCol>
                <a:gridCol w="7942780">
                  <a:extLst>
                    <a:ext uri="{9D8B030D-6E8A-4147-A177-3AD203B41FA5}">
                      <a16:colId xmlns:a16="http://schemas.microsoft.com/office/drawing/2014/main" val="2206310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Concept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Explanation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924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Default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Containers run in </a:t>
                      </a:r>
                      <a:r>
                        <a:rPr lang="en-US" sz="2400" b="1" noProof="0" dirty="0"/>
                        <a:t>bridge mode</a:t>
                      </a:r>
                      <a:r>
                        <a:rPr lang="en-US" sz="2400" noProof="0" dirty="0"/>
                        <a:t> by 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0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IP 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Each container gets a </a:t>
                      </a:r>
                      <a:r>
                        <a:rPr lang="en-US" sz="2400" b="1" noProof="0" dirty="0"/>
                        <a:t>private IP</a:t>
                      </a:r>
                      <a:r>
                        <a:rPr lang="en-US" sz="2400" noProof="0" dirty="0"/>
                        <a:t> (e.g., 172.17.0.2)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512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Internal 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NGINX listens on </a:t>
                      </a:r>
                      <a:r>
                        <a:rPr lang="en-US" sz="2400" b="1" noProof="0" dirty="0"/>
                        <a:t>port 80 inside container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30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Isolation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Each container has its own network namespace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70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742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6EA21-BB7F-6445-304A-ED3564D31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Port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034DA-3B16-4107-52EE-DFA2B87A5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94" y="1690688"/>
            <a:ext cx="10515600" cy="4351338"/>
          </a:xfrm>
        </p:spPr>
        <p:txBody>
          <a:bodyPr/>
          <a:lstStyle/>
          <a:p>
            <a:r>
              <a:rPr lang="en-US" noProof="0" dirty="0"/>
              <a:t>A container runs inside its own network</a:t>
            </a:r>
          </a:p>
          <a:p>
            <a:r>
              <a:rPr lang="en-US" noProof="0" dirty="0"/>
              <a:t>Its ports (like 80) are not directly accessible from our computer</a:t>
            </a:r>
          </a:p>
          <a:p>
            <a:r>
              <a:rPr lang="en-US" noProof="0" dirty="0"/>
              <a:t>So we use port mapping to connect: </a:t>
            </a:r>
          </a:p>
          <a:p>
            <a:pPr marL="0" indent="0">
              <a:buNone/>
            </a:pPr>
            <a:r>
              <a:rPr lang="en-US" noProof="0" dirty="0"/>
              <a:t>	Our Computer (Host) → Container</a:t>
            </a:r>
          </a:p>
          <a:p>
            <a:r>
              <a:rPr lang="en-US" noProof="0" dirty="0"/>
              <a:t>Port mapping = Making a container service visible outside</a:t>
            </a:r>
          </a:p>
          <a:p>
            <a:endParaRPr lang="en-US" noProof="0" dirty="0"/>
          </a:p>
          <a:p>
            <a:r>
              <a:rPr lang="en-US" noProof="0" dirty="0"/>
              <a:t>Example: </a:t>
            </a:r>
            <a:r>
              <a:rPr lang="en-US" b="1" noProof="0" dirty="0"/>
              <a:t>docker   run   -d   -p   8080:80  nginx</a:t>
            </a:r>
          </a:p>
          <a:p>
            <a:pPr lvl="1"/>
            <a:r>
              <a:rPr lang="en-US" noProof="0" dirty="0"/>
              <a:t>We type http://localhost:8080</a:t>
            </a:r>
          </a:p>
          <a:p>
            <a:pPr lvl="1"/>
            <a:r>
              <a:rPr lang="en-US" noProof="0" dirty="0"/>
              <a:t>It goes to Container → port 80 → NGINX</a:t>
            </a:r>
          </a:p>
          <a:p>
            <a:pPr marL="0" indent="0"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25099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F34DD-6003-71AD-A4F8-46EC2B52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DC06-7C44-3FAD-10B0-D604AA092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Bridge Networks Comparison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3179FE-240E-46A4-BA68-B0D8EE80A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663211"/>
              </p:ext>
            </p:extLst>
          </p:nvPr>
        </p:nvGraphicFramePr>
        <p:xfrm>
          <a:off x="375862" y="1583271"/>
          <a:ext cx="11521611" cy="502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254322">
                  <a:extLst>
                    <a:ext uri="{9D8B030D-6E8A-4147-A177-3AD203B41FA5}">
                      <a16:colId xmlns:a16="http://schemas.microsoft.com/office/drawing/2014/main" val="1969662107"/>
                    </a:ext>
                  </a:extLst>
                </a:gridCol>
                <a:gridCol w="3801438">
                  <a:extLst>
                    <a:ext uri="{9D8B030D-6E8A-4147-A177-3AD203B41FA5}">
                      <a16:colId xmlns:a16="http://schemas.microsoft.com/office/drawing/2014/main" val="526308041"/>
                    </a:ext>
                  </a:extLst>
                </a:gridCol>
                <a:gridCol w="5465851">
                  <a:extLst>
                    <a:ext uri="{9D8B030D-6E8A-4147-A177-3AD203B41FA5}">
                      <a16:colId xmlns:a16="http://schemas.microsoft.com/office/drawing/2014/main" val="1407697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Aspect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Default Bridge Network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User-Defined Bridge Network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909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Creation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Automatically created by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Manually created (docker network create </a:t>
                      </a:r>
                      <a:r>
                        <a:rPr lang="en-US" sz="2400" noProof="0" dirty="0" err="1"/>
                        <a:t>mynet</a:t>
                      </a:r>
                      <a:r>
                        <a:rPr lang="en-US" sz="2400" noProof="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2147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Container Communication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Uses </a:t>
                      </a:r>
                      <a:r>
                        <a:rPr lang="en-US" sz="2400" b="1" noProof="0" dirty="0"/>
                        <a:t>IP addresses</a:t>
                      </a:r>
                      <a:r>
                        <a:rPr lang="en-US" sz="2400" noProof="0" dirty="0"/>
                        <a:t> (less convenient)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Uses </a:t>
                      </a:r>
                      <a:r>
                        <a:rPr lang="en-US" sz="2400" b="1" noProof="0" dirty="0"/>
                        <a:t>container names (DNS)</a:t>
                      </a:r>
                      <a:r>
                        <a:rPr lang="en-US" sz="2400" noProof="0" dirty="0"/>
                        <a:t> (easy &amp; reliable)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974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Isolation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All containers share same network (low isolation)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Strong isolation from other 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649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Security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Any container can talk to any other →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Only containers in same network communicate →  safer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0579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Flexibility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Limited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Full control (custom networks, aliases,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46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Use Case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Quick testing, simple setups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Production, multi-container apps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1809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805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81D42D3-3AD7-47AC-3987-D8FEA9E6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5354"/>
            <a:ext cx="10515600" cy="647271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 Networking Hands-on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7DF337-4736-0C65-4B01-9BBE015A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672"/>
            <a:ext cx="10515600" cy="4615292"/>
          </a:xfrm>
        </p:spPr>
        <p:txBody>
          <a:bodyPr>
            <a:normAutofit/>
          </a:bodyPr>
          <a:lstStyle/>
          <a:p>
            <a:r>
              <a:rPr lang="en-US" noProof="0" dirty="0" err="1"/>
              <a:t>BusyBox</a:t>
            </a:r>
            <a:r>
              <a:rPr lang="en-US" noProof="0" dirty="0"/>
              <a:t>: Tiny open-source software that packages many common UNIX utilities into one executable binary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917ED5-28B5-7F93-3432-35BBB5D80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583908"/>
              </p:ext>
            </p:extLst>
          </p:nvPr>
        </p:nvGraphicFramePr>
        <p:xfrm>
          <a:off x="838200" y="2803374"/>
          <a:ext cx="10515600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65289">
                  <a:extLst>
                    <a:ext uri="{9D8B030D-6E8A-4147-A177-3AD203B41FA5}">
                      <a16:colId xmlns:a16="http://schemas.microsoft.com/office/drawing/2014/main" val="3767097821"/>
                    </a:ext>
                  </a:extLst>
                </a:gridCol>
                <a:gridCol w="7850311">
                  <a:extLst>
                    <a:ext uri="{9D8B030D-6E8A-4147-A177-3AD203B41FA5}">
                      <a16:colId xmlns:a16="http://schemas.microsoft.com/office/drawing/2014/main" val="27521235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607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container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run   -it   </a:t>
                      </a:r>
                      <a:r>
                        <a:rPr lang="en-US" sz="2400" noProof="0" dirty="0" err="1"/>
                        <a:t>busybox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208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container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run    -it  </a:t>
                      </a:r>
                      <a:r>
                        <a:rPr lang="en-US" sz="2400" noProof="0" dirty="0" err="1"/>
                        <a:t>busybox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83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131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A13F5-7948-1928-8349-7E742AD20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F77211-DA87-0E5A-4C32-93696A7F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113"/>
            <a:ext cx="10515600" cy="647271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 Networking Hands-on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20566F-65F4-FE3B-6C6D-5DFA9EAA2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430"/>
            <a:ext cx="10515600" cy="5036533"/>
          </a:xfrm>
        </p:spPr>
        <p:txBody>
          <a:bodyPr>
            <a:normAutofit fontScale="92500" lnSpcReduction="10000"/>
          </a:bodyPr>
          <a:lstStyle/>
          <a:p>
            <a:r>
              <a:rPr lang="en-US" noProof="0" dirty="0"/>
              <a:t>Check IP addresses and host names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Communication in default bridge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Conclusion: Only IP-based communication works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B4CB14-34A5-1689-C2AA-67F29FE15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250766"/>
              </p:ext>
            </p:extLst>
          </p:nvPr>
        </p:nvGraphicFramePr>
        <p:xfrm>
          <a:off x="838200" y="1714373"/>
          <a:ext cx="10515600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706385">
                  <a:extLst>
                    <a:ext uri="{9D8B030D-6E8A-4147-A177-3AD203B41FA5}">
                      <a16:colId xmlns:a16="http://schemas.microsoft.com/office/drawing/2014/main" val="2072429288"/>
                    </a:ext>
                  </a:extLst>
                </a:gridCol>
                <a:gridCol w="7809215">
                  <a:extLst>
                    <a:ext uri="{9D8B030D-6E8A-4147-A177-3AD203B41FA5}">
                      <a16:colId xmlns:a16="http://schemas.microsoft.com/office/drawing/2014/main" val="4160748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1707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Get IP 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hostname -</a:t>
                      </a:r>
                      <a:r>
                        <a:rPr lang="en-US" sz="2400" noProof="0" dirty="0" err="1"/>
                        <a:t>i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349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Get hostname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hostname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64103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BFA2C8-093B-7D1B-6586-E89A5E4D2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280436"/>
              </p:ext>
            </p:extLst>
          </p:nvPr>
        </p:nvGraphicFramePr>
        <p:xfrm>
          <a:off x="838200" y="3772028"/>
          <a:ext cx="10515600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096802">
                  <a:extLst>
                    <a:ext uri="{9D8B030D-6E8A-4147-A177-3AD203B41FA5}">
                      <a16:colId xmlns:a16="http://schemas.microsoft.com/office/drawing/2014/main" val="2172032317"/>
                    </a:ext>
                  </a:extLst>
                </a:gridCol>
                <a:gridCol w="7418798">
                  <a:extLst>
                    <a:ext uri="{9D8B030D-6E8A-4147-A177-3AD203B41FA5}">
                      <a16:colId xmlns:a16="http://schemas.microsoft.com/office/drawing/2014/main" val="39421939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Test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Result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8632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hostname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394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094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0403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87354-5CC7-3DEF-853C-0876F59D1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Create Custom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60A08-ADC1-5F30-6639-EF405855E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011"/>
            <a:ext cx="10515600" cy="4789952"/>
          </a:xfrm>
        </p:spPr>
        <p:txBody>
          <a:bodyPr/>
          <a:lstStyle/>
          <a:p>
            <a:r>
              <a:rPr lang="en-US" noProof="0" dirty="0"/>
              <a:t>Creating and inspecting a custom bridge network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Run containers inside the custom bridge network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C120C1-DBE5-CF75-D5B4-FD93F136C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68490"/>
              </p:ext>
            </p:extLst>
          </p:nvPr>
        </p:nvGraphicFramePr>
        <p:xfrm>
          <a:off x="838200" y="1910970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617378">
                  <a:extLst>
                    <a:ext uri="{9D8B030D-6E8A-4147-A177-3AD203B41FA5}">
                      <a16:colId xmlns:a16="http://schemas.microsoft.com/office/drawing/2014/main" val="3877461111"/>
                    </a:ext>
                  </a:extLst>
                </a:gridCol>
                <a:gridCol w="5898222">
                  <a:extLst>
                    <a:ext uri="{9D8B030D-6E8A-4147-A177-3AD203B41FA5}">
                      <a16:colId xmlns:a16="http://schemas.microsoft.com/office/drawing/2014/main" val="1384070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408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network create 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new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859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network 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243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network inspect 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View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30274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D8309E-9B0F-CFCD-0F68-3480484F1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839324"/>
              </p:ext>
            </p:extLst>
          </p:nvPr>
        </p:nvGraphicFramePr>
        <p:xfrm>
          <a:off x="745733" y="4419429"/>
          <a:ext cx="10515600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699625">
                  <a:extLst>
                    <a:ext uri="{9D8B030D-6E8A-4147-A177-3AD203B41FA5}">
                      <a16:colId xmlns:a16="http://schemas.microsoft.com/office/drawing/2014/main" val="2475108700"/>
                    </a:ext>
                  </a:extLst>
                </a:gridCol>
                <a:gridCol w="2815975">
                  <a:extLst>
                    <a:ext uri="{9D8B030D-6E8A-4147-A177-3AD203B41FA5}">
                      <a16:colId xmlns:a16="http://schemas.microsoft.com/office/drawing/2014/main" val="3693866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5001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-it --network custom --name busybox1 </a:t>
                      </a:r>
                      <a:r>
                        <a:rPr lang="en-US" sz="2400" noProof="0" dirty="0" err="1"/>
                        <a:t>busybox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container 1 in custom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696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-it --network custom --name busybox2 </a:t>
                      </a:r>
                      <a:r>
                        <a:rPr lang="en-US" sz="2400" noProof="0" dirty="0" err="1"/>
                        <a:t>busybox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container 2 in custom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407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121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D927B-B4F0-7CA6-6877-91DDB3E9C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Communication in Custom Bridge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CF595-7459-245D-E177-87F39236F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Try pinging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Conclusion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348752-B782-DD88-1774-FF184254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464489"/>
              </p:ext>
            </p:extLst>
          </p:nvPr>
        </p:nvGraphicFramePr>
        <p:xfrm>
          <a:off x="920393" y="2443732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531685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87234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Test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Result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44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IP 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84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host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058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Ping using custom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2126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919B1E-8522-04C6-552A-D89680858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495692"/>
              </p:ext>
            </p:extLst>
          </p:nvPr>
        </p:nvGraphicFramePr>
        <p:xfrm>
          <a:off x="879297" y="4950574"/>
          <a:ext cx="10515600" cy="1371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3351019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38207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Network Type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Communication Method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753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Default bridge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IP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417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Custom bridge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IP + hostname + container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597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207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4DFE-982D-ECDB-AC67-D70672E1E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62336"/>
          </a:xfrm>
        </p:spPr>
        <p:txBody>
          <a:bodyPr>
            <a:normAutofit fontScale="90000"/>
          </a:bodyPr>
          <a:lstStyle/>
          <a:p>
            <a:r>
              <a:rPr lang="en-IN" dirty="0"/>
              <a:t>Docker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31856-29A9-38E9-E20C-4C3094C89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2338"/>
            <a:ext cx="10515600" cy="629805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Browser -&gt; </a:t>
            </a:r>
            <a:r>
              <a:rPr lang="en-IN" b="1" dirty="0"/>
              <a:t>https://github.com/newdelthis/docker_networking.git</a:t>
            </a:r>
          </a:p>
          <a:p>
            <a:r>
              <a:rPr lang="en-IN" dirty="0"/>
              <a:t>Fork the repository and come to the terminal</a:t>
            </a:r>
          </a:p>
          <a:p>
            <a:r>
              <a:rPr lang="en-IN" dirty="0"/>
              <a:t>cd       ~</a:t>
            </a:r>
          </a:p>
          <a:p>
            <a:r>
              <a:rPr lang="en-IN" dirty="0"/>
              <a:t>git   clone   https://github.com/</a:t>
            </a:r>
            <a:r>
              <a:rPr lang="en-IN" dirty="0">
                <a:highlight>
                  <a:srgbClr val="FFFF00"/>
                </a:highlight>
              </a:rPr>
              <a:t>newdelthis</a:t>
            </a:r>
            <a:r>
              <a:rPr lang="en-IN" dirty="0"/>
              <a:t>/docker_networking.git</a:t>
            </a:r>
          </a:p>
          <a:p>
            <a:r>
              <a:rPr lang="en-IN" dirty="0">
                <a:solidFill>
                  <a:srgbClr val="FF0000"/>
                </a:solidFill>
              </a:rPr>
              <a:t>Note: Change the user id above to 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YOUR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github</a:t>
            </a:r>
            <a:r>
              <a:rPr lang="en-IN" dirty="0">
                <a:solidFill>
                  <a:srgbClr val="FF0000"/>
                </a:solidFill>
              </a:rPr>
              <a:t> id</a:t>
            </a:r>
          </a:p>
          <a:p>
            <a:r>
              <a:rPr lang="en-IN" dirty="0"/>
              <a:t>Run MySQL container … </a:t>
            </a:r>
          </a:p>
          <a:p>
            <a:pPr lvl="1"/>
            <a:r>
              <a:rPr lang="en-IN" b="1" dirty="0"/>
              <a:t>docker   run   -d     --name </a:t>
            </a:r>
            <a:r>
              <a:rPr lang="en-IN" b="1" dirty="0" err="1"/>
              <a:t>mysql-db</a:t>
            </a:r>
            <a:r>
              <a:rPr lang="en-IN" b="1" dirty="0"/>
              <a:t>     -e    MYSQL_ROOT_PASSWORD=root   -e   MYSQL_DATABASE=school     -p 3306:3306   mysql:8</a:t>
            </a:r>
          </a:p>
          <a:p>
            <a:r>
              <a:rPr lang="en-IN" dirty="0"/>
              <a:t>Build and run</a:t>
            </a:r>
          </a:p>
          <a:p>
            <a:pPr lvl="1"/>
            <a:r>
              <a:rPr lang="en-IN" b="1" dirty="0"/>
              <a:t>cd   </a:t>
            </a:r>
            <a:r>
              <a:rPr lang="en-IN" b="1" dirty="0" err="1"/>
              <a:t>docker_networking</a:t>
            </a:r>
            <a:endParaRPr lang="en-IN" b="1" dirty="0"/>
          </a:p>
          <a:p>
            <a:pPr lvl="1"/>
            <a:r>
              <a:rPr lang="en-IN" b="1" dirty="0"/>
              <a:t>docker     build     -t     student-app     .</a:t>
            </a:r>
          </a:p>
          <a:p>
            <a:pPr lvl="1"/>
            <a:r>
              <a:rPr lang="en-IN" b="1" dirty="0"/>
              <a:t>docker     run     --name     app     student-app                  </a:t>
            </a:r>
            <a:r>
              <a:rPr lang="en-IN" b="1" dirty="0">
                <a:solidFill>
                  <a:srgbClr val="FF0000"/>
                </a:solidFill>
              </a:rPr>
              <a:t>Error!!!</a:t>
            </a:r>
          </a:p>
          <a:p>
            <a:pPr lvl="1"/>
            <a:r>
              <a:rPr lang="en-IN" b="1" dirty="0"/>
              <a:t>docker     stop    app</a:t>
            </a:r>
          </a:p>
          <a:p>
            <a:pPr lvl="1"/>
            <a:r>
              <a:rPr lang="en-IN" b="1" dirty="0"/>
              <a:t>docker     stop    </a:t>
            </a:r>
            <a:r>
              <a:rPr lang="en-IN" b="1" dirty="0" err="1"/>
              <a:t>mysql-db</a:t>
            </a:r>
            <a:endParaRPr lang="en-IN" b="1" dirty="0"/>
          </a:p>
          <a:p>
            <a:pPr lvl="1"/>
            <a:r>
              <a:rPr lang="en-IN" b="1" dirty="0"/>
              <a:t>docker     container    prune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612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623D-08E5-D3BC-4C53-C8C310489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Networking - app.py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EC694-AAD8-A671-9949-4F344CAF3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mysql.connector</a:t>
            </a:r>
            <a:endParaRPr lang="en-IN" dirty="0"/>
          </a:p>
          <a:p>
            <a:endParaRPr lang="en-IN" dirty="0"/>
          </a:p>
          <a:p>
            <a:r>
              <a:rPr lang="en-IN" dirty="0"/>
              <a:t>conn = </a:t>
            </a:r>
            <a:r>
              <a:rPr lang="en-IN" dirty="0" err="1"/>
              <a:t>mysql.connector.connect</a:t>
            </a:r>
            <a:r>
              <a:rPr lang="en-IN" dirty="0"/>
              <a:t>(</a:t>
            </a:r>
          </a:p>
          <a:p>
            <a:r>
              <a:rPr lang="en-IN" dirty="0"/>
              <a:t>    host="localhost",   # wrong in Docker</a:t>
            </a:r>
          </a:p>
          <a:p>
            <a:r>
              <a:rPr lang="en-IN" dirty="0"/>
              <a:t>    user="root",</a:t>
            </a:r>
          </a:p>
          <a:p>
            <a:r>
              <a:rPr lang="en-IN" dirty="0"/>
              <a:t>    password="root",</a:t>
            </a:r>
          </a:p>
          <a:p>
            <a:r>
              <a:rPr lang="en-IN" dirty="0"/>
              <a:t>    database="school"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cursor = </a:t>
            </a:r>
            <a:r>
              <a:rPr lang="en-IN" dirty="0" err="1"/>
              <a:t>conn.cursor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 err="1"/>
              <a:t>cursor.execute</a:t>
            </a:r>
            <a:r>
              <a:rPr lang="en-IN" dirty="0"/>
              <a:t>("CREATE TABLE IF NOT EXISTS students (name VARCHAR(50), age INT)")</a:t>
            </a:r>
          </a:p>
          <a:p>
            <a:r>
              <a:rPr lang="en-IN" dirty="0" err="1"/>
              <a:t>cursor.execute</a:t>
            </a:r>
            <a:r>
              <a:rPr lang="en-IN" dirty="0"/>
              <a:t>("INSERT INTO students VALUES ('Alice', 20)")</a:t>
            </a:r>
          </a:p>
          <a:p>
            <a:endParaRPr lang="en-IN" dirty="0"/>
          </a:p>
          <a:p>
            <a:r>
              <a:rPr lang="en-IN" dirty="0" err="1"/>
              <a:t>conn.commit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print("Inserted!")</a:t>
            </a:r>
          </a:p>
          <a:p>
            <a:endParaRPr lang="en-IN" dirty="0"/>
          </a:p>
          <a:p>
            <a:r>
              <a:rPr lang="en-IN" dirty="0" err="1"/>
              <a:t>cursor.close</a:t>
            </a:r>
            <a:r>
              <a:rPr lang="en-IN" dirty="0"/>
              <a:t>()</a:t>
            </a:r>
          </a:p>
          <a:p>
            <a:r>
              <a:rPr lang="en-IN" dirty="0" err="1"/>
              <a:t>conn.close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37138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4EEB-C176-5D24-0738-AA07CB54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Dockerfile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71AAF-0B12-B285-F8EF-7434AB82D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FROM     python:3.9</a:t>
            </a:r>
          </a:p>
          <a:p>
            <a:r>
              <a:rPr lang="en-IN" dirty="0"/>
              <a:t>WORKDIR    /app</a:t>
            </a:r>
          </a:p>
          <a:p>
            <a:r>
              <a:rPr lang="en-IN" dirty="0"/>
              <a:t>COPY    app_old.py    .</a:t>
            </a:r>
          </a:p>
          <a:p>
            <a:r>
              <a:rPr lang="en-IN" dirty="0"/>
              <a:t>RUN    pip    install     </a:t>
            </a:r>
            <a:r>
              <a:rPr lang="en-IN" dirty="0" err="1"/>
              <a:t>mysql</a:t>
            </a:r>
            <a:r>
              <a:rPr lang="en-IN" dirty="0"/>
              <a:t>-connector-python</a:t>
            </a:r>
          </a:p>
          <a:p>
            <a:r>
              <a:rPr lang="en-IN" dirty="0"/>
              <a:t>CMD    ["python", "app_old.py"]</a:t>
            </a:r>
          </a:p>
        </p:txBody>
      </p:sp>
    </p:spTree>
    <p:extLst>
      <p:ext uri="{BB962C8B-B14F-4D97-AF65-F5344CB8AC3E}">
        <p14:creationId xmlns:p14="http://schemas.microsoft.com/office/powerpoint/2010/main" val="3819606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05B2-5265-8099-6F2B-9C1051B7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Solution: Change app.py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58505-09B0-1DC5-00A4-6D3BCF0DB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mysql.connector</a:t>
            </a:r>
            <a:endParaRPr lang="en-IN" dirty="0"/>
          </a:p>
          <a:p>
            <a:endParaRPr lang="en-IN" dirty="0"/>
          </a:p>
          <a:p>
            <a:r>
              <a:rPr lang="en-IN" dirty="0"/>
              <a:t># Use container name</a:t>
            </a:r>
          </a:p>
          <a:p>
            <a:r>
              <a:rPr lang="en-IN" dirty="0"/>
              <a:t>conn = </a:t>
            </a:r>
            <a:r>
              <a:rPr lang="en-IN" b="1" dirty="0" err="1"/>
              <a:t>mysql</a:t>
            </a:r>
            <a:r>
              <a:rPr lang="en-IN" dirty="0" err="1"/>
              <a:t>.connector.connect</a:t>
            </a:r>
            <a:r>
              <a:rPr lang="en-IN" dirty="0"/>
              <a:t>(</a:t>
            </a:r>
          </a:p>
          <a:p>
            <a:r>
              <a:rPr lang="en-IN" dirty="0"/>
              <a:t>    host="</a:t>
            </a:r>
            <a:r>
              <a:rPr lang="en-IN" dirty="0" err="1"/>
              <a:t>mysql-db</a:t>
            </a:r>
            <a:r>
              <a:rPr lang="en-IN" dirty="0"/>
              <a:t>",</a:t>
            </a:r>
          </a:p>
          <a:p>
            <a:r>
              <a:rPr lang="en-IN" dirty="0"/>
              <a:t>    user="root",</a:t>
            </a:r>
          </a:p>
          <a:p>
            <a:r>
              <a:rPr lang="en-IN" dirty="0"/>
              <a:t>    password="root",</a:t>
            </a:r>
          </a:p>
          <a:p>
            <a:r>
              <a:rPr lang="en-IN" dirty="0"/>
              <a:t>    database="school"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cursor = </a:t>
            </a:r>
            <a:r>
              <a:rPr lang="en-IN" dirty="0" err="1"/>
              <a:t>conn.cursor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 err="1"/>
              <a:t>cursor.execute</a:t>
            </a:r>
            <a:r>
              <a:rPr lang="en-IN" dirty="0"/>
              <a:t>("CREATE TABLE IF NOT EXISTS students (name VARCHAR(50), age INT)")</a:t>
            </a:r>
          </a:p>
          <a:p>
            <a:r>
              <a:rPr lang="en-IN" dirty="0" err="1"/>
              <a:t>cursor.execute</a:t>
            </a:r>
            <a:r>
              <a:rPr lang="en-IN" dirty="0"/>
              <a:t>("INSERT INTO students VALUES ('Alice', 20)")</a:t>
            </a:r>
          </a:p>
          <a:p>
            <a:endParaRPr lang="en-IN" dirty="0"/>
          </a:p>
          <a:p>
            <a:r>
              <a:rPr lang="en-IN" dirty="0" err="1"/>
              <a:t>conn.commit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print("Inserted!")</a:t>
            </a:r>
          </a:p>
          <a:p>
            <a:endParaRPr lang="en-IN" dirty="0"/>
          </a:p>
          <a:p>
            <a:r>
              <a:rPr lang="en-IN" dirty="0" err="1"/>
              <a:t>cursor.close</a:t>
            </a:r>
            <a:r>
              <a:rPr lang="en-IN" dirty="0"/>
              <a:t>()</a:t>
            </a:r>
          </a:p>
          <a:p>
            <a:r>
              <a:rPr lang="en-IN" dirty="0" err="1"/>
              <a:t>conn.close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055726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34BB-CB13-3BA4-3E7C-79D855036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IN" dirty="0"/>
              <a:t>Using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979FD-8A8A-F570-9FAA-5E19C3FEA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>
            <a:normAutofit/>
          </a:bodyPr>
          <a:lstStyle/>
          <a:p>
            <a:r>
              <a:rPr lang="en-IN" dirty="0"/>
              <a:t>First edit </a:t>
            </a:r>
            <a:r>
              <a:rPr lang="en-IN" dirty="0" err="1"/>
              <a:t>Dockerfile</a:t>
            </a:r>
            <a:r>
              <a:rPr lang="en-IN" dirty="0"/>
              <a:t> to change </a:t>
            </a:r>
            <a:r>
              <a:rPr lang="en-IN" b="1" dirty="0"/>
              <a:t>app_old.py </a:t>
            </a:r>
            <a:r>
              <a:rPr lang="en-IN" dirty="0"/>
              <a:t>to </a:t>
            </a:r>
            <a:r>
              <a:rPr lang="en-IN" b="1" dirty="0"/>
              <a:t>app.py </a:t>
            </a:r>
            <a:r>
              <a:rPr lang="en-IN" dirty="0"/>
              <a:t>at two places</a:t>
            </a:r>
          </a:p>
          <a:p>
            <a:r>
              <a:rPr lang="en-IN" b="1" dirty="0"/>
              <a:t>docker     build     -t     student-app     .</a:t>
            </a:r>
          </a:p>
          <a:p>
            <a:r>
              <a:rPr lang="en-IN" b="1" dirty="0"/>
              <a:t>docker    network    create     </a:t>
            </a:r>
            <a:r>
              <a:rPr lang="en-IN" b="1" dirty="0" err="1"/>
              <a:t>mynet</a:t>
            </a:r>
            <a:endParaRPr lang="en-IN" b="1" dirty="0"/>
          </a:p>
          <a:p>
            <a:r>
              <a:rPr lang="en-IN" b="1" dirty="0"/>
              <a:t>docker   run   -d   --network </a:t>
            </a:r>
            <a:r>
              <a:rPr lang="en-IN" b="1" dirty="0" err="1"/>
              <a:t>mynet</a:t>
            </a:r>
            <a:r>
              <a:rPr lang="en-IN" b="1" dirty="0"/>
              <a:t>   --name  </a:t>
            </a:r>
            <a:r>
              <a:rPr lang="en-IN" b="1" dirty="0" err="1"/>
              <a:t>mysql-db</a:t>
            </a:r>
            <a:r>
              <a:rPr lang="en-IN" b="1" dirty="0"/>
              <a:t>   -e MYSQL_ROOT_PASSWORD=root   -e MYSQL_DATABASE=school   mysql:8</a:t>
            </a:r>
          </a:p>
          <a:p>
            <a:r>
              <a:rPr lang="en-IN" b="1" dirty="0"/>
              <a:t>docker   run   --network   </a:t>
            </a:r>
            <a:r>
              <a:rPr lang="en-IN" b="1" dirty="0" err="1"/>
              <a:t>mynet</a:t>
            </a:r>
            <a:r>
              <a:rPr lang="en-IN" b="1" dirty="0"/>
              <a:t>   --name     app     student-app</a:t>
            </a:r>
          </a:p>
          <a:p>
            <a:r>
              <a:rPr lang="en-US" b="1" dirty="0"/>
              <a:t>docker   exec   -it   </a:t>
            </a:r>
            <a:r>
              <a:rPr lang="en-US" b="1" dirty="0" err="1"/>
              <a:t>mysql-db</a:t>
            </a:r>
            <a:r>
              <a:rPr lang="en-US" b="1" dirty="0"/>
              <a:t>      </a:t>
            </a:r>
            <a:r>
              <a:rPr lang="en-US" b="1" dirty="0" err="1"/>
              <a:t>mysql</a:t>
            </a:r>
            <a:r>
              <a:rPr lang="en-US" b="1" dirty="0"/>
              <a:t>   -</a:t>
            </a:r>
            <a:r>
              <a:rPr lang="en-US" b="1" dirty="0" err="1"/>
              <a:t>uroot</a:t>
            </a:r>
            <a:r>
              <a:rPr lang="en-US" b="1" dirty="0"/>
              <a:t>   -</a:t>
            </a:r>
            <a:r>
              <a:rPr lang="en-US" b="1" dirty="0" err="1"/>
              <a:t>proot</a:t>
            </a:r>
            <a:endParaRPr lang="en-US" b="1" dirty="0"/>
          </a:p>
          <a:p>
            <a:r>
              <a:rPr lang="en-US" b="1" dirty="0" err="1"/>
              <a:t>mysql</a:t>
            </a:r>
            <a:r>
              <a:rPr lang="en-US" b="1" dirty="0"/>
              <a:t>&gt; USE school;</a:t>
            </a:r>
          </a:p>
          <a:p>
            <a:r>
              <a:rPr lang="en-US" b="1" dirty="0" err="1"/>
              <a:t>mysql</a:t>
            </a:r>
            <a:r>
              <a:rPr lang="en-US" b="1" dirty="0"/>
              <a:t>&gt; SELECT   *   FROM    students;</a:t>
            </a:r>
          </a:p>
          <a:p>
            <a:r>
              <a:rPr lang="en-US" b="1" dirty="0"/>
              <a:t>exit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941315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A61C-ED41-D975-2E42-6E00015DF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0AB5C-0C9F-485A-1E9A-6CB7FEE30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Docker containers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Problem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D79EA4-1088-3950-5245-A0B91AEE99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87272"/>
              </p:ext>
            </p:extLst>
          </p:nvPr>
        </p:nvGraphicFramePr>
        <p:xfrm>
          <a:off x="838200" y="2293729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48865">
                  <a:extLst>
                    <a:ext uri="{9D8B030D-6E8A-4147-A177-3AD203B41FA5}">
                      <a16:colId xmlns:a16="http://schemas.microsoft.com/office/drawing/2014/main" val="1929020309"/>
                    </a:ext>
                  </a:extLst>
                </a:gridCol>
                <a:gridCol w="6966735">
                  <a:extLst>
                    <a:ext uri="{9D8B030D-6E8A-4147-A177-3AD203B41FA5}">
                      <a16:colId xmlns:a16="http://schemas.microsoft.com/office/drawing/2014/main" val="3949411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Concept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Explanation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167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Ephemeral / Stateless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Containers are short-lived and disposable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364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Lifecycle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Can be easily created, destroyed, and recreated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365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inside container is lost when it is removed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5090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124573-296F-0740-6371-5B9B3DA0D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830408"/>
              </p:ext>
            </p:extLst>
          </p:nvPr>
        </p:nvGraphicFramePr>
        <p:xfrm>
          <a:off x="838200" y="4848860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610510">
                  <a:extLst>
                    <a:ext uri="{9D8B030D-6E8A-4147-A177-3AD203B41FA5}">
                      <a16:colId xmlns:a16="http://schemas.microsoft.com/office/drawing/2014/main" val="2359793495"/>
                    </a:ext>
                  </a:extLst>
                </a:gridCol>
                <a:gridCol w="6905090">
                  <a:extLst>
                    <a:ext uri="{9D8B030D-6E8A-4147-A177-3AD203B41FA5}">
                      <a16:colId xmlns:a16="http://schemas.microsoft.com/office/drawing/2014/main" val="3691228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Scenario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Outcome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725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Run MySQL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Database works normally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981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All data is lost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6061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Recreate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Starts fresh (no previous data)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928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3164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E29F8-72E5-82F0-E3FE-C29A5455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D2717-6D64-482B-5792-A037EE1E3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Solution: Docker Volume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With Volume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7602B9-6159-A732-873B-0C70DDD7D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605031"/>
              </p:ext>
            </p:extLst>
          </p:nvPr>
        </p:nvGraphicFramePr>
        <p:xfrm>
          <a:off x="714910" y="2447841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487220">
                  <a:extLst>
                    <a:ext uri="{9D8B030D-6E8A-4147-A177-3AD203B41FA5}">
                      <a16:colId xmlns:a16="http://schemas.microsoft.com/office/drawing/2014/main" val="2549946501"/>
                    </a:ext>
                  </a:extLst>
                </a:gridCol>
                <a:gridCol w="7028380">
                  <a:extLst>
                    <a:ext uri="{9D8B030D-6E8A-4147-A177-3AD203B41FA5}">
                      <a16:colId xmlns:a16="http://schemas.microsoft.com/office/drawing/2014/main" val="1810280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Concept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Explanation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3823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Storage outside container on host 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455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Persist data even after container removal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3430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Stored on local disk (managed by Docker)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9587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629379-283E-F122-E8FB-4FEE71488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800491"/>
              </p:ext>
            </p:extLst>
          </p:nvPr>
        </p:nvGraphicFramePr>
        <p:xfrm>
          <a:off x="714910" y="4842547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18043">
                  <a:extLst>
                    <a:ext uri="{9D8B030D-6E8A-4147-A177-3AD203B41FA5}">
                      <a16:colId xmlns:a16="http://schemas.microsoft.com/office/drawing/2014/main" val="501801177"/>
                    </a:ext>
                  </a:extLst>
                </a:gridCol>
                <a:gridCol w="6997557">
                  <a:extLst>
                    <a:ext uri="{9D8B030D-6E8A-4147-A177-3AD203B41FA5}">
                      <a16:colId xmlns:a16="http://schemas.microsoft.com/office/drawing/2014/main" val="195001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Scenario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Outcome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84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Run container with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stored in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919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remains safe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04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Recreate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Data is restored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699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8573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9F74E-75D1-1AD8-C536-CFF2037FD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Volume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78CA-2684-B46F-48CF-5393CB53E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Basic syntax</a:t>
            </a:r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What are A and B?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F6D963-A236-9A0A-797C-14817074F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505276"/>
              </p:ext>
            </p:extLst>
          </p:nvPr>
        </p:nvGraphicFramePr>
        <p:xfrm>
          <a:off x="684088" y="2369221"/>
          <a:ext cx="10515600" cy="7924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833081">
                  <a:extLst>
                    <a:ext uri="{9D8B030D-6E8A-4147-A177-3AD203B41FA5}">
                      <a16:colId xmlns:a16="http://schemas.microsoft.com/office/drawing/2014/main" val="2335262118"/>
                    </a:ext>
                  </a:extLst>
                </a:gridCol>
                <a:gridCol w="4880224">
                  <a:extLst>
                    <a:ext uri="{9D8B030D-6E8A-4147-A177-3AD203B41FA5}">
                      <a16:colId xmlns:a16="http://schemas.microsoft.com/office/drawing/2014/main" val="4277880592"/>
                    </a:ext>
                  </a:extLst>
                </a:gridCol>
                <a:gridCol w="3802295">
                  <a:extLst>
                    <a:ext uri="{9D8B030D-6E8A-4147-A177-3AD203B41FA5}">
                      <a16:colId xmlns:a16="http://schemas.microsoft.com/office/drawing/2014/main" val="3298573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Syntax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Plain Meaning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Example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82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A:B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Connect </a:t>
                      </a:r>
                      <a:r>
                        <a:rPr lang="en-US" sz="2000" b="1" noProof="0" dirty="0"/>
                        <a:t>A (outside)</a:t>
                      </a:r>
                      <a:r>
                        <a:rPr lang="en-US" sz="2000" noProof="0" dirty="0"/>
                        <a:t> to </a:t>
                      </a:r>
                      <a:r>
                        <a:rPr lang="en-US" sz="2000" b="1" noProof="0" dirty="0"/>
                        <a:t>B (inside container)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-v </a:t>
                      </a:r>
                      <a:r>
                        <a:rPr lang="en-US" sz="2000" b="1" noProof="0" dirty="0" err="1"/>
                        <a:t>mysql</a:t>
                      </a:r>
                      <a:r>
                        <a:rPr lang="en-US" sz="2000" b="1" noProof="0" dirty="0"/>
                        <a:t>-data:/var/lib/</a:t>
                      </a:r>
                      <a:r>
                        <a:rPr lang="en-US" sz="2000" b="1" noProof="0" dirty="0" err="1"/>
                        <a:t>mysql</a:t>
                      </a:r>
                      <a:endParaRPr lang="en-US" sz="20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81544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EFB850-8DFB-F4F3-2304-3BD686291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27564"/>
              </p:ext>
            </p:extLst>
          </p:nvPr>
        </p:nvGraphicFramePr>
        <p:xfrm>
          <a:off x="684088" y="3978177"/>
          <a:ext cx="10515600" cy="11887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000928">
                  <a:extLst>
                    <a:ext uri="{9D8B030D-6E8A-4147-A177-3AD203B41FA5}">
                      <a16:colId xmlns:a16="http://schemas.microsoft.com/office/drawing/2014/main" val="2955166015"/>
                    </a:ext>
                  </a:extLst>
                </a:gridCol>
                <a:gridCol w="6514672">
                  <a:extLst>
                    <a:ext uri="{9D8B030D-6E8A-4147-A177-3AD203B41FA5}">
                      <a16:colId xmlns:a16="http://schemas.microsoft.com/office/drawing/2014/main" val="2069922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Part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Meaning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823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A (left side)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Where data is stored </a:t>
                      </a:r>
                      <a:r>
                        <a:rPr lang="en-US" sz="2000" b="1" noProof="0" dirty="0"/>
                        <a:t>outside container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2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B (right side)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Where app stores data </a:t>
                      </a:r>
                      <a:r>
                        <a:rPr lang="en-US" sz="2000" b="1" noProof="0" dirty="0"/>
                        <a:t>inside container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037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2409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C3DB-7D2F-EEB7-C4DB-527DDF47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00404"/>
          </a:xfrm>
        </p:spPr>
        <p:txBody>
          <a:bodyPr/>
          <a:lstStyle/>
          <a:p>
            <a:r>
              <a:rPr lang="en-US" noProof="0" dirty="0"/>
              <a:t>Docker Volume: Three Common Cases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A08D27-12F7-1AAC-D083-ABAADFA16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22280"/>
              </p:ext>
            </p:extLst>
          </p:nvPr>
        </p:nvGraphicFramePr>
        <p:xfrm>
          <a:off x="838200" y="700405"/>
          <a:ext cx="11059273" cy="28041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100739">
                  <a:extLst>
                    <a:ext uri="{9D8B030D-6E8A-4147-A177-3AD203B41FA5}">
                      <a16:colId xmlns:a16="http://schemas.microsoft.com/office/drawing/2014/main" val="3637441749"/>
                    </a:ext>
                  </a:extLst>
                </a:gridCol>
                <a:gridCol w="5198195">
                  <a:extLst>
                    <a:ext uri="{9D8B030D-6E8A-4147-A177-3AD203B41FA5}">
                      <a16:colId xmlns:a16="http://schemas.microsoft.com/office/drawing/2014/main" val="3737816584"/>
                    </a:ext>
                  </a:extLst>
                </a:gridCol>
                <a:gridCol w="3760339">
                  <a:extLst>
                    <a:ext uri="{9D8B030D-6E8A-4147-A177-3AD203B41FA5}">
                      <a16:colId xmlns:a16="http://schemas.microsoft.com/office/drawing/2014/main" val="2133056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Case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Syntax Example (MySQL)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Meaning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121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Named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</a:t>
                      </a:r>
                      <a:r>
                        <a:rPr lang="en-US" sz="2000" noProof="0" dirty="0" err="1"/>
                        <a:t>mysql</a:t>
                      </a:r>
                      <a:r>
                        <a:rPr lang="en-US" sz="2000" noProof="0" dirty="0"/>
                        <a:t>-data:/var/lib/</a:t>
                      </a:r>
                      <a:r>
                        <a:rPr lang="en-US" sz="2000" noProof="0" dirty="0" err="1"/>
                        <a:t>mysql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creates storage </a:t>
                      </a:r>
                      <a:r>
                        <a:rPr lang="en-US" sz="2000" b="1" noProof="0" dirty="0" err="1"/>
                        <a:t>mysql</a:t>
                      </a:r>
                      <a:r>
                        <a:rPr lang="en-US" sz="2000" b="1" noProof="0" dirty="0"/>
                        <a:t>-data</a:t>
                      </a:r>
                      <a:r>
                        <a:rPr lang="en-US" sz="2000" noProof="0" dirty="0"/>
                        <a:t> and connects it to MySQL’s data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502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Local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/home/user/</a:t>
                      </a:r>
                      <a:r>
                        <a:rPr lang="en-US" sz="2000" noProof="0" dirty="0" err="1"/>
                        <a:t>mysql</a:t>
                      </a:r>
                      <a:r>
                        <a:rPr lang="en-US" sz="2000" noProof="0" dirty="0"/>
                        <a:t>-data:/var/lib/</a:t>
                      </a:r>
                      <a:r>
                        <a:rPr lang="en-US" sz="2000" noProof="0" dirty="0" err="1"/>
                        <a:t>mysql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Our local folder stores MySQL database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893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Only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/var/lib/</a:t>
                      </a:r>
                      <a:r>
                        <a:rPr lang="en-US" sz="2000" noProof="0" dirty="0" err="1"/>
                        <a:t>mysql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auto-creates storage and connects it to MySQL data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0953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DED581-56BB-41E4-1122-9DE805D39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304382"/>
              </p:ext>
            </p:extLst>
          </p:nvPr>
        </p:nvGraphicFramePr>
        <p:xfrm>
          <a:off x="838200" y="3658235"/>
          <a:ext cx="11059274" cy="24993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100739">
                  <a:extLst>
                    <a:ext uri="{9D8B030D-6E8A-4147-A177-3AD203B41FA5}">
                      <a16:colId xmlns:a16="http://schemas.microsoft.com/office/drawing/2014/main" val="3833997722"/>
                    </a:ext>
                  </a:extLst>
                </a:gridCol>
                <a:gridCol w="5240595">
                  <a:extLst>
                    <a:ext uri="{9D8B030D-6E8A-4147-A177-3AD203B41FA5}">
                      <a16:colId xmlns:a16="http://schemas.microsoft.com/office/drawing/2014/main" val="115630837"/>
                    </a:ext>
                  </a:extLst>
                </a:gridCol>
                <a:gridCol w="3717940">
                  <a:extLst>
                    <a:ext uri="{9D8B030D-6E8A-4147-A177-3AD203B41FA5}">
                      <a16:colId xmlns:a16="http://schemas.microsoft.com/office/drawing/2014/main" val="955391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Case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Syntax Example (NGINX)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Meaning</a:t>
                      </a:r>
                      <a:endParaRPr lang="en-US" sz="20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6168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Named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web-data:/</a:t>
                      </a:r>
                      <a:r>
                        <a:rPr lang="en-US" sz="2000" noProof="0" dirty="0" err="1"/>
                        <a:t>usr</a:t>
                      </a:r>
                      <a:r>
                        <a:rPr lang="en-US" sz="2000" noProof="0" dirty="0"/>
                        <a:t>/share/nginx/html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creates storage for website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53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Local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/home/user/html:/</a:t>
                      </a:r>
                      <a:r>
                        <a:rPr lang="en-US" sz="2000" noProof="0" dirty="0" err="1"/>
                        <a:t>usr</a:t>
                      </a:r>
                      <a:r>
                        <a:rPr lang="en-US" sz="2000" noProof="0" dirty="0"/>
                        <a:t>/share/nginx/html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Our local website files are served by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2813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Only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-v /</a:t>
                      </a:r>
                      <a:r>
                        <a:rPr lang="en-US" sz="2000" noProof="0" dirty="0" err="1"/>
                        <a:t>usr</a:t>
                      </a:r>
                      <a:r>
                        <a:rPr lang="en-US" sz="2000" noProof="0" dirty="0"/>
                        <a:t>/share/nginx/html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Docker auto-creates storage for web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261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6077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3E5C-AFE0-4960-872B-543B093E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Volume versus Bind Mount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6CEB3D-B9B5-83FB-B057-C0D3C7A633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9678843"/>
              </p:ext>
            </p:extLst>
          </p:nvPr>
        </p:nvGraphicFramePr>
        <p:xfrm>
          <a:off x="601894" y="1690688"/>
          <a:ext cx="10515600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264093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835114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78541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Aspect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Volume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Bind Mount (Local Folder)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696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Managed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You (host filesystem)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03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Hidden (Docker internal)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Visible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61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Portability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Low (path dependent)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41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Databases, production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Development, 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140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Can overwrite system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872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2473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4A053-F7B4-1553-6493-AAE05E9E0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Volume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E7CB90-4379-E301-3BC5-65A3C3CFD9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4799673"/>
              </p:ext>
            </p:extLst>
          </p:nvPr>
        </p:nvGraphicFramePr>
        <p:xfrm>
          <a:off x="838200" y="1807761"/>
          <a:ext cx="10515600" cy="3108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175589">
                  <a:extLst>
                    <a:ext uri="{9D8B030D-6E8A-4147-A177-3AD203B41FA5}">
                      <a16:colId xmlns:a16="http://schemas.microsoft.com/office/drawing/2014/main" val="3711901919"/>
                    </a:ext>
                  </a:extLst>
                </a:gridCol>
                <a:gridCol w="2424701">
                  <a:extLst>
                    <a:ext uri="{9D8B030D-6E8A-4147-A177-3AD203B41FA5}">
                      <a16:colId xmlns:a16="http://schemas.microsoft.com/office/drawing/2014/main" val="3451595487"/>
                    </a:ext>
                  </a:extLst>
                </a:gridCol>
                <a:gridCol w="3915310">
                  <a:extLst>
                    <a:ext uri="{9D8B030D-6E8A-4147-A177-3AD203B41FA5}">
                      <a16:colId xmlns:a16="http://schemas.microsoft.com/office/drawing/2014/main" val="363665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474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create &lt;name&gt;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create </a:t>
                      </a:r>
                      <a:r>
                        <a:rPr lang="en-US" sz="2400" noProof="0" dirty="0" err="1"/>
                        <a:t>myvol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925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volumes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291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inspect &lt;name&gt;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View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inspect </a:t>
                      </a:r>
                      <a:r>
                        <a:rPr lang="en-US" sz="2400" noProof="0" dirty="0" err="1"/>
                        <a:t>myvol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253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rm &lt;name&gt;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rm </a:t>
                      </a:r>
                      <a:r>
                        <a:rPr lang="en-US" sz="2400" noProof="0" dirty="0" err="1"/>
                        <a:t>myvol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554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prune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unused volumes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volume prune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1787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952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38248-5D6F-28BA-0598-B2FF9F77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Volume Lifecycle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10C2C5-1ECA-7E43-E131-1A54DFFD19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042527"/>
              </p:ext>
            </p:extLst>
          </p:nvPr>
        </p:nvGraphicFramePr>
        <p:xfrm>
          <a:off x="663539" y="1792350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959832">
                  <a:extLst>
                    <a:ext uri="{9D8B030D-6E8A-4147-A177-3AD203B41FA5}">
                      <a16:colId xmlns:a16="http://schemas.microsoft.com/office/drawing/2014/main" val="3916295351"/>
                    </a:ext>
                  </a:extLst>
                </a:gridCol>
                <a:gridCol w="6555768">
                  <a:extLst>
                    <a:ext uri="{9D8B030D-6E8A-4147-A177-3AD203B41FA5}">
                      <a16:colId xmlns:a16="http://schemas.microsoft.com/office/drawing/2014/main" val="2289158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What Happens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409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Container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Volume attached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445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Container stopped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Volume remains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979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Container removed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Volume still exists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958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Volume removed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Data permanently lost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027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733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C6D62-5B93-63CD-7217-8531DCB91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1.1: MySQL Without Volume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B26521-8FD0-5BE3-D305-541329AD4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412737"/>
              </p:ext>
            </p:extLst>
          </p:nvPr>
        </p:nvGraphicFramePr>
        <p:xfrm>
          <a:off x="250004" y="1431214"/>
          <a:ext cx="11564044" cy="28346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122960">
                  <a:extLst>
                    <a:ext uri="{9D8B030D-6E8A-4147-A177-3AD203B41FA5}">
                      <a16:colId xmlns:a16="http://schemas.microsoft.com/office/drawing/2014/main" val="2770439374"/>
                    </a:ext>
                  </a:extLst>
                </a:gridCol>
                <a:gridCol w="10441084">
                  <a:extLst>
                    <a:ext uri="{9D8B030D-6E8A-4147-A177-3AD203B41FA5}">
                      <a16:colId xmlns:a16="http://schemas.microsoft.com/office/drawing/2014/main" val="30229287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Step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Command / Action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63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docker run  -d   --name   my-</a:t>
                      </a:r>
                      <a:r>
                        <a:rPr lang="en-US" sz="2800" b="1" noProof="0" dirty="0" err="1"/>
                        <a:t>mysql</a:t>
                      </a:r>
                      <a:endParaRPr lang="en-US" sz="2800" b="1" noProof="0" dirty="0"/>
                    </a:p>
                    <a:p>
                      <a:pPr>
                        <a:buNone/>
                      </a:pPr>
                      <a:r>
                        <a:rPr lang="en-US" sz="2800" b="1" noProof="0" dirty="0"/>
                        <a:t>-e  MYSQL_ROOT_PASSWORD=root123 </a:t>
                      </a:r>
                    </a:p>
                    <a:p>
                      <a:pPr>
                        <a:buNone/>
                      </a:pPr>
                      <a:r>
                        <a:rPr lang="en-US" sz="2800" b="1" noProof="0" dirty="0"/>
                        <a:t>-p  3306:3306 </a:t>
                      </a:r>
                    </a:p>
                    <a:p>
                      <a:pPr>
                        <a:buNone/>
                      </a:pPr>
                      <a:r>
                        <a:rPr lang="en-US" sz="2800" b="1" noProof="0" dirty="0"/>
                        <a:t>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6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docker exec   -it   my-</a:t>
                      </a:r>
                      <a:r>
                        <a:rPr lang="en-US" sz="2800" b="1" noProof="0" dirty="0" err="1"/>
                        <a:t>mysql</a:t>
                      </a:r>
                      <a:r>
                        <a:rPr lang="en-US" sz="2800" b="1" noProof="0" dirty="0"/>
                        <a:t>   </a:t>
                      </a:r>
                      <a:r>
                        <a:rPr lang="en-US" sz="2800" b="1" noProof="0" dirty="0" err="1"/>
                        <a:t>mysql</a:t>
                      </a:r>
                      <a:r>
                        <a:rPr lang="en-US" sz="2800" b="1" noProof="0" dirty="0"/>
                        <a:t>   -</a:t>
                      </a:r>
                      <a:r>
                        <a:rPr lang="en-US" sz="2800" b="1" noProof="0" dirty="0" err="1"/>
                        <a:t>uroot</a:t>
                      </a:r>
                      <a:r>
                        <a:rPr lang="en-US" sz="2800" b="1" noProof="0" dirty="0"/>
                        <a:t>   -proot123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09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5517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E3686-2204-A60C-3DDC-A9BFDCF3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1.2: Create and Verify 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746640-BC5E-594B-30CB-C4D13EF60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409756"/>
              </p:ext>
            </p:extLst>
          </p:nvPr>
        </p:nvGraphicFramePr>
        <p:xfrm>
          <a:off x="838199" y="1943894"/>
          <a:ext cx="11100371" cy="44805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164988">
                  <a:extLst>
                    <a:ext uri="{9D8B030D-6E8A-4147-A177-3AD203B41FA5}">
                      <a16:colId xmlns:a16="http://schemas.microsoft.com/office/drawing/2014/main" val="3717561336"/>
                    </a:ext>
                  </a:extLst>
                </a:gridCol>
                <a:gridCol w="7469586">
                  <a:extLst>
                    <a:ext uri="{9D8B030D-6E8A-4147-A177-3AD203B41FA5}">
                      <a16:colId xmlns:a16="http://schemas.microsoft.com/office/drawing/2014/main" val="1816557201"/>
                    </a:ext>
                  </a:extLst>
                </a:gridCol>
                <a:gridCol w="2465797">
                  <a:extLst>
                    <a:ext uri="{9D8B030D-6E8A-4147-A177-3AD203B41FA5}">
                      <a16:colId xmlns:a16="http://schemas.microsoft.com/office/drawing/2014/main" val="4103591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55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DATABASE </a:t>
                      </a:r>
                      <a:r>
                        <a:rPr lang="en-US" sz="2400" noProof="0" dirty="0" err="1"/>
                        <a:t>cdac</a:t>
                      </a:r>
                      <a:r>
                        <a:rPr lang="en-US" sz="2400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66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 </a:t>
                      </a:r>
                      <a:r>
                        <a:rPr lang="en-US" sz="2400" noProof="0" dirty="0" err="1"/>
                        <a:t>cdac</a:t>
                      </a:r>
                      <a:r>
                        <a:rPr lang="en-US" sz="2400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Select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8175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TABLE IF NOT EXISTS student ( id INT PRIMARY KEY AUTO_INCREMENT, name VARCHAR(100), score INT 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726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INSERT INTO student (name, score) VALUES ('Amit', 85);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Insert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92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SELECT * FROM student;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356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Exit MySQL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843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  stop  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510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docker     rm     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475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748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07129-DF65-7700-02AB-EB52CE8EB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A68B-28D5-2F83-6B8D-062CBC265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1.3: Verify If Data Exists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30EEEC-9EEB-FEF9-FB0F-C3FE01E827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479336"/>
              </p:ext>
            </p:extLst>
          </p:nvPr>
        </p:nvGraphicFramePr>
        <p:xfrm>
          <a:off x="250004" y="1431214"/>
          <a:ext cx="11691991" cy="32918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91111">
                  <a:extLst>
                    <a:ext uri="{9D8B030D-6E8A-4147-A177-3AD203B41FA5}">
                      <a16:colId xmlns:a16="http://schemas.microsoft.com/office/drawing/2014/main" val="2770439374"/>
                    </a:ext>
                  </a:extLst>
                </a:gridCol>
                <a:gridCol w="7355608">
                  <a:extLst>
                    <a:ext uri="{9D8B030D-6E8A-4147-A177-3AD203B41FA5}">
                      <a16:colId xmlns:a16="http://schemas.microsoft.com/office/drawing/2014/main" val="3022928777"/>
                    </a:ext>
                  </a:extLst>
                </a:gridCol>
                <a:gridCol w="3545272">
                  <a:extLst>
                    <a:ext uri="{9D8B030D-6E8A-4147-A177-3AD203B41FA5}">
                      <a16:colId xmlns:a16="http://schemas.microsoft.com/office/drawing/2014/main" val="1314508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63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 -d   --name   my-</a:t>
                      </a:r>
                      <a:r>
                        <a:rPr lang="en-US" sz="2400" b="1" noProof="0" dirty="0" err="1"/>
                        <a:t>mysql</a:t>
                      </a:r>
                      <a:endParaRPr lang="en-US" sz="2400" b="1" noProof="0" dirty="0"/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-e  MYSQL_ROOT_PASSWORD=root123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-p  3306:3306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MySQL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6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  -it   my-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-</a:t>
                      </a:r>
                      <a:r>
                        <a:rPr lang="en-US" sz="2400" b="1" noProof="0" dirty="0" err="1"/>
                        <a:t>uroot</a:t>
                      </a:r>
                      <a:r>
                        <a:rPr lang="en-US" sz="2400" b="1" noProof="0" dirty="0"/>
                        <a:t>   -proot123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Connect to MySQL inside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09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use    </a:t>
                      </a:r>
                      <a:r>
                        <a:rPr lang="en-US" sz="2400" b="1" noProof="0" dirty="0" err="1"/>
                        <a:t>cdac</a:t>
                      </a:r>
                      <a:r>
                        <a:rPr lang="en-US" sz="2400" b="1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No such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825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2802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ABBE7-C7CD-DFB8-F848-3E9C999A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2.1 MySQL with Docker Volume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EACAE7-E20D-3E5C-1118-871761331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522864"/>
              </p:ext>
            </p:extLst>
          </p:nvPr>
        </p:nvGraphicFramePr>
        <p:xfrm>
          <a:off x="226031" y="1852454"/>
          <a:ext cx="11533153" cy="37795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119961">
                  <a:extLst>
                    <a:ext uri="{9D8B030D-6E8A-4147-A177-3AD203B41FA5}">
                      <a16:colId xmlns:a16="http://schemas.microsoft.com/office/drawing/2014/main" val="2770439374"/>
                    </a:ext>
                  </a:extLst>
                </a:gridCol>
                <a:gridCol w="10413192">
                  <a:extLst>
                    <a:ext uri="{9D8B030D-6E8A-4147-A177-3AD203B41FA5}">
                      <a16:colId xmlns:a16="http://schemas.microsoft.com/office/drawing/2014/main" val="30229287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Step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Command / Action</a:t>
                      </a:r>
                      <a:endParaRPr lang="en-US" sz="28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63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docker   volume   create   </a:t>
                      </a:r>
                      <a:r>
                        <a:rPr lang="en-US" sz="2800" b="1" noProof="0" dirty="0" err="1"/>
                        <a:t>mysql</a:t>
                      </a:r>
                      <a:r>
                        <a:rPr lang="en-US" sz="2800" b="1" noProof="0" dirty="0"/>
                        <a:t>-data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9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docker run  -d   --name   my-</a:t>
                      </a:r>
                      <a:r>
                        <a:rPr lang="en-US" sz="2800" b="1" noProof="0" dirty="0" err="1"/>
                        <a:t>mysql</a:t>
                      </a:r>
                      <a:endParaRPr lang="en-US" sz="2800" b="1" noProof="0" dirty="0"/>
                    </a:p>
                    <a:p>
                      <a:pPr>
                        <a:buNone/>
                      </a:pPr>
                      <a:r>
                        <a:rPr lang="en-US" sz="2800" b="1" noProof="0" dirty="0"/>
                        <a:t>-e  MYSQL_ROOT_PASSWORD=root123 </a:t>
                      </a:r>
                    </a:p>
                    <a:p>
                      <a:pPr>
                        <a:buNone/>
                      </a:pPr>
                      <a:r>
                        <a:rPr lang="en-US" sz="2800" b="1" noProof="0" dirty="0"/>
                        <a:t>-v  </a:t>
                      </a:r>
                      <a:r>
                        <a:rPr lang="en-US" sz="2800" b="1" noProof="0" dirty="0" err="1"/>
                        <a:t>mysql</a:t>
                      </a:r>
                      <a:r>
                        <a:rPr lang="en-US" sz="2800" b="1" noProof="0" dirty="0"/>
                        <a:t>-data:/var/lib/</a:t>
                      </a:r>
                      <a:r>
                        <a:rPr lang="en-US" sz="2800" b="1" noProof="0" dirty="0" err="1"/>
                        <a:t>mysql</a:t>
                      </a:r>
                      <a:r>
                        <a:rPr lang="en-US" sz="2800" b="1" noProof="0" dirty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sz="2800" b="1" noProof="0" dirty="0"/>
                        <a:t>-p  3306:3306 </a:t>
                      </a:r>
                    </a:p>
                    <a:p>
                      <a:pPr>
                        <a:buNone/>
                      </a:pPr>
                      <a:r>
                        <a:rPr lang="en-US" sz="2800" b="1" noProof="0" dirty="0"/>
                        <a:t>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6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docker exec   -it   my-</a:t>
                      </a:r>
                      <a:r>
                        <a:rPr lang="en-US" sz="2800" b="1" noProof="0" dirty="0" err="1"/>
                        <a:t>mysql</a:t>
                      </a:r>
                      <a:r>
                        <a:rPr lang="en-US" sz="2800" b="1" noProof="0" dirty="0"/>
                        <a:t>   </a:t>
                      </a:r>
                      <a:r>
                        <a:rPr lang="en-US" sz="2800" b="1" noProof="0" dirty="0" err="1"/>
                        <a:t>mysql</a:t>
                      </a:r>
                      <a:r>
                        <a:rPr lang="en-US" sz="2800" b="1" noProof="0" dirty="0"/>
                        <a:t>   -</a:t>
                      </a:r>
                      <a:r>
                        <a:rPr lang="en-US" sz="2800" b="1" noProof="0" dirty="0" err="1"/>
                        <a:t>uroot</a:t>
                      </a:r>
                      <a:r>
                        <a:rPr lang="en-US" sz="2800" b="1" noProof="0" dirty="0"/>
                        <a:t>   -proot123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09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9546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46B6B-9799-DE1C-E709-C56BC4D6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11270-2FD6-8843-A3CE-70161D7A1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2.2 Create and Verify 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CE472E-0207-6ED4-8BBC-AFFB3BEA0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790508"/>
              </p:ext>
            </p:extLst>
          </p:nvPr>
        </p:nvGraphicFramePr>
        <p:xfrm>
          <a:off x="838199" y="1943894"/>
          <a:ext cx="11100371" cy="44805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164988">
                  <a:extLst>
                    <a:ext uri="{9D8B030D-6E8A-4147-A177-3AD203B41FA5}">
                      <a16:colId xmlns:a16="http://schemas.microsoft.com/office/drawing/2014/main" val="3717561336"/>
                    </a:ext>
                  </a:extLst>
                </a:gridCol>
                <a:gridCol w="7438764">
                  <a:extLst>
                    <a:ext uri="{9D8B030D-6E8A-4147-A177-3AD203B41FA5}">
                      <a16:colId xmlns:a16="http://schemas.microsoft.com/office/drawing/2014/main" val="1816557201"/>
                    </a:ext>
                  </a:extLst>
                </a:gridCol>
                <a:gridCol w="2496619">
                  <a:extLst>
                    <a:ext uri="{9D8B030D-6E8A-4147-A177-3AD203B41FA5}">
                      <a16:colId xmlns:a16="http://schemas.microsoft.com/office/drawing/2014/main" val="4103591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55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DATABASE </a:t>
                      </a:r>
                      <a:r>
                        <a:rPr lang="en-US" sz="2400" noProof="0" dirty="0" err="1"/>
                        <a:t>cdac</a:t>
                      </a:r>
                      <a:r>
                        <a:rPr lang="en-US" sz="2400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66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USE </a:t>
                      </a:r>
                      <a:r>
                        <a:rPr lang="en-US" sz="2400" noProof="0" dirty="0" err="1"/>
                        <a:t>cdac</a:t>
                      </a:r>
                      <a:r>
                        <a:rPr lang="en-US" sz="2400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Select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8175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TABLE IF NOT EXISTS student ( id INT PRIMARY KEY AUTO_INCREMENT, name VARCHAR(100), score INT 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726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INSERT INTO student (name, score) VALUES ('Amit', 85);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Insert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92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SELECT * FROM student;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Verify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356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Exit MySQL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843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  stop  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173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docker     rm      my-</a:t>
                      </a:r>
                      <a:r>
                        <a:rPr lang="en-US" sz="2400" noProof="0" dirty="0" err="1"/>
                        <a:t>mysql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014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98839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5D30-1D7F-12E7-FA39-CB1C05CE3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550E5-7A0F-213D-AC6E-AF1AFCCCF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3.1 Verify If Data Exists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031DFD-F7DD-9E47-8F96-81F456589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20984"/>
              </p:ext>
            </p:extLst>
          </p:nvPr>
        </p:nvGraphicFramePr>
        <p:xfrm>
          <a:off x="250004" y="1431214"/>
          <a:ext cx="11691991" cy="4114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91111">
                  <a:extLst>
                    <a:ext uri="{9D8B030D-6E8A-4147-A177-3AD203B41FA5}">
                      <a16:colId xmlns:a16="http://schemas.microsoft.com/office/drawing/2014/main" val="2770439374"/>
                    </a:ext>
                  </a:extLst>
                </a:gridCol>
                <a:gridCol w="7355608">
                  <a:extLst>
                    <a:ext uri="{9D8B030D-6E8A-4147-A177-3AD203B41FA5}">
                      <a16:colId xmlns:a16="http://schemas.microsoft.com/office/drawing/2014/main" val="3022928777"/>
                    </a:ext>
                  </a:extLst>
                </a:gridCol>
                <a:gridCol w="3545272">
                  <a:extLst>
                    <a:ext uri="{9D8B030D-6E8A-4147-A177-3AD203B41FA5}">
                      <a16:colId xmlns:a16="http://schemas.microsoft.com/office/drawing/2014/main" val="1314508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63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run  -d   --name   my-</a:t>
                      </a:r>
                      <a:r>
                        <a:rPr lang="en-US" sz="2400" b="1" noProof="0" dirty="0" err="1"/>
                        <a:t>mysql</a:t>
                      </a:r>
                      <a:endParaRPr lang="en-US" sz="2400" b="1" noProof="0" dirty="0"/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-e  MYSQL_ROOT_PASSWORD=root123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-v  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-data:/var/lib/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-p  3306:3306 </a:t>
                      </a:r>
                    </a:p>
                    <a:p>
                      <a:pPr>
                        <a:buNone/>
                      </a:pPr>
                      <a:r>
                        <a:rPr lang="en-US" sz="2400" b="1" noProof="0" dirty="0"/>
                        <a:t>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MySQL container with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06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exec   -it   my-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</a:t>
                      </a:r>
                      <a:r>
                        <a:rPr lang="en-US" sz="2400" b="1" noProof="0" dirty="0" err="1"/>
                        <a:t>mysql</a:t>
                      </a:r>
                      <a:r>
                        <a:rPr lang="en-US" sz="2400" b="1" noProof="0" dirty="0"/>
                        <a:t>   -</a:t>
                      </a:r>
                      <a:r>
                        <a:rPr lang="en-US" sz="2400" b="1" noProof="0" dirty="0" err="1"/>
                        <a:t>uroot</a:t>
                      </a:r>
                      <a:r>
                        <a:rPr lang="en-US" sz="2400" b="1" noProof="0" dirty="0"/>
                        <a:t>   -p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Connect to MySQL inside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09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use    </a:t>
                      </a:r>
                      <a:r>
                        <a:rPr lang="en-US" sz="2400" b="1" noProof="0" dirty="0" err="1"/>
                        <a:t>cdac</a:t>
                      </a:r>
                      <a:r>
                        <a:rPr lang="en-US" sz="2400" b="1" noProof="0" dirty="0"/>
                        <a:t>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Should be present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825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SELECT    *     FROM student;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Should be present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255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047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98DE9-811C-6B15-9DDC-C4FCB9CA9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Cleanup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AD0D3A-B232-AC7E-A05A-C551530F5C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012225"/>
              </p:ext>
            </p:extLst>
          </p:nvPr>
        </p:nvGraphicFramePr>
        <p:xfrm>
          <a:off x="714910" y="1690688"/>
          <a:ext cx="11016842" cy="25298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558642">
                  <a:extLst>
                    <a:ext uri="{9D8B030D-6E8A-4147-A177-3AD203B41FA5}">
                      <a16:colId xmlns:a16="http://schemas.microsoft.com/office/drawing/2014/main" val="2898932846"/>
                    </a:ext>
                  </a:extLst>
                </a:gridCol>
                <a:gridCol w="8458200">
                  <a:extLst>
                    <a:ext uri="{9D8B030D-6E8A-4147-A177-3AD203B41FA5}">
                      <a16:colId xmlns:a16="http://schemas.microsoft.com/office/drawing/2014/main" val="2253543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732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docker     stop     my-</a:t>
                      </a:r>
                      <a:r>
                        <a:rPr lang="en-US" sz="2800" b="1" noProof="0" dirty="0" err="1"/>
                        <a:t>mysql</a:t>
                      </a:r>
                      <a:endParaRPr lang="en-US" sz="28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245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docker     rm       my-</a:t>
                      </a:r>
                      <a:r>
                        <a:rPr lang="en-US" sz="2800" b="1" noProof="0" dirty="0" err="1"/>
                        <a:t>mysql</a:t>
                      </a:r>
                      <a:endParaRPr lang="en-US" sz="28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82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docker         volume       rm         </a:t>
                      </a:r>
                      <a:r>
                        <a:rPr lang="en-US" sz="2800" b="1" noProof="0" dirty="0" err="1"/>
                        <a:t>mysql</a:t>
                      </a:r>
                      <a:r>
                        <a:rPr lang="en-US" sz="2800" b="1" noProof="0" dirty="0"/>
                        <a:t>-data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501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volumes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noProof="0" dirty="0"/>
                        <a:t>docker           volume           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3784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904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B2EC-9AA7-46A5-0670-D9DFF0AC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NGINX with Volume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E3C061-713A-57D7-AFB2-3D2DC96EF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468372"/>
              </p:ext>
            </p:extLst>
          </p:nvPr>
        </p:nvGraphicFramePr>
        <p:xfrm>
          <a:off x="308225" y="1610498"/>
          <a:ext cx="11774184" cy="2895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988106">
                  <a:extLst>
                    <a:ext uri="{9D8B030D-6E8A-4147-A177-3AD203B41FA5}">
                      <a16:colId xmlns:a16="http://schemas.microsoft.com/office/drawing/2014/main" val="4082530387"/>
                    </a:ext>
                  </a:extLst>
                </a:gridCol>
                <a:gridCol w="10786078">
                  <a:extLst>
                    <a:ext uri="{9D8B030D-6E8A-4147-A177-3AD203B41FA5}">
                      <a16:colId xmlns:a16="http://schemas.microsoft.com/office/drawing/2014/main" val="4055056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noProof="0" dirty="0"/>
                        <a:t>Step</a:t>
                      </a:r>
                      <a:endParaRPr lang="en-US" sz="32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noProof="0" dirty="0"/>
                        <a:t>Command / Action</a:t>
                      </a:r>
                      <a:endParaRPr lang="en-US" sz="32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460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 err="1"/>
                        <a:t>mkdir</a:t>
                      </a:r>
                      <a:r>
                        <a:rPr lang="en-US" sz="3200" noProof="0" dirty="0"/>
                        <a:t>     webpages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5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cd    webpages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911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echo "Hi from inside our CDAC nginx container!"   &gt;   index.html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601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noProof="0" dirty="0"/>
                        <a:t>cd 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967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1546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E0E0-9634-576E-9E75-0ABC83192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3DCF-9F6A-1C08-7BE5-31E2C472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NGINX with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D282A-3A75-2056-D1E5-CA3E802F9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8366"/>
            <a:ext cx="10515600" cy="4811481"/>
          </a:xfrm>
        </p:spPr>
        <p:txBody>
          <a:bodyPr>
            <a:normAutofit fontScale="92500" lnSpcReduction="20000"/>
          </a:bodyPr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Test: localhost:8080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B5D83C-3E95-8444-DF5F-D9765FA7A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86218"/>
              </p:ext>
            </p:extLst>
          </p:nvPr>
        </p:nvGraphicFramePr>
        <p:xfrm>
          <a:off x="170036" y="1463040"/>
          <a:ext cx="11744595" cy="30784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582007">
                  <a:extLst>
                    <a:ext uri="{9D8B030D-6E8A-4147-A177-3AD203B41FA5}">
                      <a16:colId xmlns:a16="http://schemas.microsoft.com/office/drawing/2014/main" val="3139510876"/>
                    </a:ext>
                  </a:extLst>
                </a:gridCol>
                <a:gridCol w="10162588">
                  <a:extLst>
                    <a:ext uri="{9D8B030D-6E8A-4147-A177-3AD203B41FA5}">
                      <a16:colId xmlns:a16="http://schemas.microsoft.com/office/drawing/2014/main" val="785444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Platform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445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>
                          <a:solidFill>
                            <a:schemeClr val="tx1"/>
                          </a:solidFill>
                        </a:rPr>
                        <a:t>Windows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noProof="0" dirty="0">
                          <a:solidFill>
                            <a:schemeClr val="tx1"/>
                          </a:solidFill>
                        </a:rPr>
                        <a:t>docker   run   -p   8080:80   --name   </a:t>
                      </a:r>
                      <a:r>
                        <a:rPr lang="en-US" sz="3200" b="1" noProof="0" dirty="0" err="1">
                          <a:solidFill>
                            <a:schemeClr val="tx1"/>
                          </a:solidFill>
                        </a:rPr>
                        <a:t>another_nginx</a:t>
                      </a:r>
                      <a:r>
                        <a:rPr lang="en-US" sz="3200" b="1" noProof="0" dirty="0">
                          <a:solidFill>
                            <a:schemeClr val="tx1"/>
                          </a:solidFill>
                        </a:rPr>
                        <a:t>   -v %cd%/webpages:/</a:t>
                      </a:r>
                      <a:r>
                        <a:rPr lang="en-US" sz="3200" b="1" noProof="0" dirty="0" err="1">
                          <a:solidFill>
                            <a:schemeClr val="tx1"/>
                          </a:solidFill>
                        </a:rPr>
                        <a:t>usr</a:t>
                      </a:r>
                      <a:r>
                        <a:rPr lang="en-US" sz="3200" b="1" noProof="0" dirty="0">
                          <a:solidFill>
                            <a:schemeClr val="tx1"/>
                          </a:solidFill>
                        </a:rPr>
                        <a:t>/share/nginx/html    -d    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945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Linux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noProof="0" dirty="0"/>
                        <a:t>docker     run     -p     8080:80     --name     </a:t>
                      </a:r>
                      <a:r>
                        <a:rPr lang="en-US" sz="3200" b="1" noProof="0" dirty="0" err="1"/>
                        <a:t>another_nginx</a:t>
                      </a:r>
                      <a:r>
                        <a:rPr lang="en-US" sz="3200" b="1" noProof="0" dirty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sz="3200" b="1" noProof="0" dirty="0"/>
                        <a:t>-v   ${PWD}/webpages:/</a:t>
                      </a:r>
                      <a:r>
                        <a:rPr lang="en-US" sz="3200" b="1" noProof="0" dirty="0" err="1"/>
                        <a:t>usr</a:t>
                      </a:r>
                      <a:r>
                        <a:rPr lang="en-US" sz="3200" b="1" noProof="0" dirty="0"/>
                        <a:t>/share/nginx/html </a:t>
                      </a:r>
                    </a:p>
                    <a:p>
                      <a:pPr>
                        <a:buNone/>
                      </a:pPr>
                      <a:r>
                        <a:rPr lang="en-US" sz="3200" b="1" noProof="0" dirty="0"/>
                        <a:t>-d  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581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1413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FF0A-AAA7-B07A-DFE2-62AD58EFE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Real-time Update with Docker Volume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B754F8-6807-BF63-07EE-4CE121661E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1416764"/>
              </p:ext>
            </p:extLst>
          </p:nvPr>
        </p:nvGraphicFramePr>
        <p:xfrm>
          <a:off x="766279" y="1690688"/>
          <a:ext cx="11305855" cy="26517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926081">
                  <a:extLst>
                    <a:ext uri="{9D8B030D-6E8A-4147-A177-3AD203B41FA5}">
                      <a16:colId xmlns:a16="http://schemas.microsoft.com/office/drawing/2014/main" val="3237940125"/>
                    </a:ext>
                  </a:extLst>
                </a:gridCol>
                <a:gridCol w="2503295">
                  <a:extLst>
                    <a:ext uri="{9D8B030D-6E8A-4147-A177-3AD203B41FA5}">
                      <a16:colId xmlns:a16="http://schemas.microsoft.com/office/drawing/2014/main" val="1872381802"/>
                    </a:ext>
                  </a:extLst>
                </a:gridCol>
                <a:gridCol w="7876479">
                  <a:extLst>
                    <a:ext uri="{9D8B030D-6E8A-4147-A177-3AD203B41FA5}">
                      <a16:colId xmlns:a16="http://schemas.microsoft.com/office/drawing/2014/main" val="3835778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What to Show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758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Edit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echo "Updated from host machine!"  &gt;  webpages/index.html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40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Refresh browser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Page updates immediately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123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Edit again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echo "Second update!"  &gt;  webpages/index.html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450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Refresh again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Instant change visible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718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1524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56FD-BA1C-81A4-046D-7FB62371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Viewing the Update Inside Container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58D8B9-6618-41FC-F615-2F5E59A93C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848417"/>
              </p:ext>
            </p:extLst>
          </p:nvPr>
        </p:nvGraphicFramePr>
        <p:xfrm>
          <a:off x="745733" y="1690688"/>
          <a:ext cx="10515600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408433">
                  <a:extLst>
                    <a:ext uri="{9D8B030D-6E8A-4147-A177-3AD203B41FA5}">
                      <a16:colId xmlns:a16="http://schemas.microsoft.com/office/drawing/2014/main" val="2369413116"/>
                    </a:ext>
                  </a:extLst>
                </a:gridCol>
                <a:gridCol w="5763803">
                  <a:extLst>
                    <a:ext uri="{9D8B030D-6E8A-4147-A177-3AD203B41FA5}">
                      <a16:colId xmlns:a16="http://schemas.microsoft.com/office/drawing/2014/main" val="1226846662"/>
                    </a:ext>
                  </a:extLst>
                </a:gridCol>
                <a:gridCol w="2343364">
                  <a:extLst>
                    <a:ext uri="{9D8B030D-6E8A-4147-A177-3AD203B41FA5}">
                      <a16:colId xmlns:a16="http://schemas.microsoft.com/office/drawing/2014/main" val="35004719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Result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96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Enter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exec  -it   </a:t>
                      </a:r>
                      <a:r>
                        <a:rPr lang="en-US" sz="2400" noProof="0" dirty="0" err="1"/>
                        <a:t>another_nginx</a:t>
                      </a:r>
                      <a:r>
                        <a:rPr lang="en-US" sz="2400" noProof="0" dirty="0"/>
                        <a:t>   /bin/bash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Access container shell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848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Check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cat   /</a:t>
                      </a:r>
                      <a:r>
                        <a:rPr lang="en-US" sz="2400" noProof="0" dirty="0" err="1"/>
                        <a:t>usr</a:t>
                      </a:r>
                      <a:r>
                        <a:rPr lang="en-US" sz="2400" noProof="0" dirty="0"/>
                        <a:t>/share/nginx/html/index.html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Same updated content seen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4052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0506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8587-B24E-5D95-42ED-AE05F512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 Image Using </a:t>
            </a:r>
            <a:r>
              <a:rPr lang="en-US" noProof="0" dirty="0" err="1"/>
              <a:t>Dockerfile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1F3E0-7F1D-5F3F-1062-2667122E8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 err="1"/>
              <a:t>Dockerfile</a:t>
            </a:r>
            <a:r>
              <a:rPr lang="en-US" noProof="0" dirty="0"/>
              <a:t>: Contains instructions that we want to give to Docker for building an image … Main instructions 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403F16-F9F3-62A2-8119-C8C86343F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959396"/>
              </p:ext>
            </p:extLst>
          </p:nvPr>
        </p:nvGraphicFramePr>
        <p:xfrm>
          <a:off x="455596" y="2796540"/>
          <a:ext cx="11280808" cy="3606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30667">
                  <a:extLst>
                    <a:ext uri="{9D8B030D-6E8A-4147-A177-3AD203B41FA5}">
                      <a16:colId xmlns:a16="http://schemas.microsoft.com/office/drawing/2014/main" val="75763021"/>
                    </a:ext>
                  </a:extLst>
                </a:gridCol>
                <a:gridCol w="9750141">
                  <a:extLst>
                    <a:ext uri="{9D8B030D-6E8A-4147-A177-3AD203B41FA5}">
                      <a16:colId xmlns:a16="http://schemas.microsoft.com/office/drawing/2014/main" val="1170328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Instruction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612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FROM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Set the base 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843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CMD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Command to be executed when the image is run as a container (Or pass options to ENTRYPOINT)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29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RUN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Executes a command to help build our 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56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EXPOSE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Opens network ports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95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VOLUME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Sets a disk share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04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COPY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Copies files from the local disk to the 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179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ENV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 an environment variable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95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ENTRYPOINT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Determines which executable runs when a container starts (Use CMD to pass options to the executable)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12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1692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2E5B-4875-0CB9-A62D-92A5BF25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Python “Hello World”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9A73BD-E7A4-E926-4DEF-3E6F8655B8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801134"/>
              </p:ext>
            </p:extLst>
          </p:nvPr>
        </p:nvGraphicFramePr>
        <p:xfrm>
          <a:off x="452063" y="1690688"/>
          <a:ext cx="10901737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60689">
                  <a:extLst>
                    <a:ext uri="{9D8B030D-6E8A-4147-A177-3AD203B41FA5}">
                      <a16:colId xmlns:a16="http://schemas.microsoft.com/office/drawing/2014/main" val="3202612486"/>
                    </a:ext>
                  </a:extLst>
                </a:gridCol>
                <a:gridCol w="2460480">
                  <a:extLst>
                    <a:ext uri="{9D8B030D-6E8A-4147-A177-3AD203B41FA5}">
                      <a16:colId xmlns:a16="http://schemas.microsoft.com/office/drawing/2014/main" val="818856933"/>
                    </a:ext>
                  </a:extLst>
                </a:gridCol>
                <a:gridCol w="4955134">
                  <a:extLst>
                    <a:ext uri="{9D8B030D-6E8A-4147-A177-3AD203B41FA5}">
                      <a16:colId xmlns:a16="http://schemas.microsoft.com/office/drawing/2014/main" val="1401476892"/>
                    </a:ext>
                  </a:extLst>
                </a:gridCol>
                <a:gridCol w="2725434">
                  <a:extLst>
                    <a:ext uri="{9D8B030D-6E8A-4147-A177-3AD203B41FA5}">
                      <a16:colId xmlns:a16="http://schemas.microsoft.com/office/drawing/2014/main" val="28992815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Content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389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mkdir</a:t>
                      </a:r>
                      <a:r>
                        <a:rPr lang="en-US" sz="2400" noProof="0" dirty="0"/>
                        <a:t>   ~/</a:t>
                      </a:r>
                      <a:r>
                        <a:rPr lang="en-US" sz="2400" noProof="0" dirty="0" err="1"/>
                        <a:t>docker_python_hello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Project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168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Python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hello.py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print("Hello World")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386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</a:t>
                      </a:r>
                      <a:r>
                        <a:rPr lang="en-US" sz="2400" noProof="0" dirty="0" err="1"/>
                        <a:t>Dockerfile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Dockerfile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Next slide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4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Build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build   -t   my-hello-python  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Build Docker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98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run   my-hello-python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Executes 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744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7478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EC6A-DBC1-BEC5-A992-43C3EF5E3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Dockerfile</a:t>
            </a:r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1110877-FAED-E864-759F-2EBD737848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35643"/>
              </p:ext>
            </p:extLst>
          </p:nvPr>
        </p:nvGraphicFramePr>
        <p:xfrm>
          <a:off x="838200" y="1474931"/>
          <a:ext cx="10515600" cy="30175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223499">
                  <a:extLst>
                    <a:ext uri="{9D8B030D-6E8A-4147-A177-3AD203B41FA5}">
                      <a16:colId xmlns:a16="http://schemas.microsoft.com/office/drawing/2014/main" val="2070175303"/>
                    </a:ext>
                  </a:extLst>
                </a:gridCol>
                <a:gridCol w="4786901">
                  <a:extLst>
                    <a:ext uri="{9D8B030D-6E8A-4147-A177-3AD203B41FA5}">
                      <a16:colId xmlns:a16="http://schemas.microsoft.com/office/drawing/2014/main" val="297848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01187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Instruction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Value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4775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FROM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python:3.9-slim-buster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Base Python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189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WORKDIR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/app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Set working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31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hello.py     /app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Copy file into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94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["python", "hello.py"]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Python script when we use the </a:t>
                      </a:r>
                      <a:r>
                        <a:rPr lang="en-US" sz="2400" i="1" noProof="0" dirty="0"/>
                        <a:t>docker run</a:t>
                      </a:r>
                      <a:r>
                        <a:rPr lang="en-US" sz="2400" i="0" noProof="0" dirty="0"/>
                        <a:t> command later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463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2844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1FB2-8E23-4163-F5B1-291A0122E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Push to </a:t>
            </a:r>
            <a:r>
              <a:rPr lang="en-US" noProof="0" dirty="0" err="1"/>
              <a:t>DockerHub</a:t>
            </a:r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D86ECA-09C7-0266-08E0-FA8851E0DA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752546"/>
              </p:ext>
            </p:extLst>
          </p:nvPr>
        </p:nvGraphicFramePr>
        <p:xfrm>
          <a:off x="205483" y="1690688"/>
          <a:ext cx="11671442" cy="454694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643865">
                  <a:extLst>
                    <a:ext uri="{9D8B030D-6E8A-4147-A177-3AD203B41FA5}">
                      <a16:colId xmlns:a16="http://schemas.microsoft.com/office/drawing/2014/main" val="1106057122"/>
                    </a:ext>
                  </a:extLst>
                </a:gridCol>
                <a:gridCol w="7874290">
                  <a:extLst>
                    <a:ext uri="{9D8B030D-6E8A-4147-A177-3AD203B41FA5}">
                      <a16:colId xmlns:a16="http://schemas.microsoft.com/office/drawing/2014/main" val="1299161274"/>
                    </a:ext>
                  </a:extLst>
                </a:gridCol>
                <a:gridCol w="2153287">
                  <a:extLst>
                    <a:ext uri="{9D8B030D-6E8A-4147-A177-3AD203B41FA5}">
                      <a16:colId xmlns:a16="http://schemas.microsoft.com/office/drawing/2014/main" val="3838684065"/>
                    </a:ext>
                  </a:extLst>
                </a:gridCol>
              </a:tblGrid>
              <a:tr h="55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321441"/>
                  </a:ext>
                </a:extLst>
              </a:tr>
              <a:tr h="55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DockerHub</a:t>
                      </a:r>
                      <a:r>
                        <a:rPr lang="en-US" sz="2400" noProof="0" dirty="0"/>
                        <a:t>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Visit </a:t>
                      </a:r>
                      <a:r>
                        <a:rPr lang="en-US" sz="2400" noProof="0" dirty="0" err="1"/>
                        <a:t>DockerHub</a:t>
                      </a:r>
                      <a:r>
                        <a:rPr lang="en-US" sz="2400" noProof="0" dirty="0"/>
                        <a:t> website and create an ID for yourself, if you do not have 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image pushing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478841"/>
                  </a:ext>
                </a:extLst>
              </a:tr>
              <a:tr h="55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Login on 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login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Authenticate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606180"/>
                  </a:ext>
                </a:extLst>
              </a:tr>
              <a:tr h="1381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Tag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tag  my-hello-python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your-id</a:t>
                      </a:r>
                      <a:r>
                        <a:rPr lang="en-US" sz="2400" b="1" noProof="0" dirty="0"/>
                        <a:t>/my-hello-python:1.0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Prepare for push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51598"/>
                  </a:ext>
                </a:extLst>
              </a:tr>
              <a:tr h="967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Push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 push     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your-id</a:t>
                      </a:r>
                      <a:r>
                        <a:rPr lang="en-US" sz="2400" b="1" noProof="0" dirty="0"/>
                        <a:t>/my-hello-python:1.0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Upload to </a:t>
                      </a:r>
                      <a:r>
                        <a:rPr lang="en-US" sz="2400" noProof="0" dirty="0" err="1"/>
                        <a:t>DockerHub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867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4775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5465E-17C5-C100-7822-3D9A14586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Example: Docker CMD versus ENTRYPOINT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47949-1CE7-08E5-3DE6-1258EC29E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/>
          <a:lstStyle/>
          <a:p>
            <a:r>
              <a:rPr lang="en-US" noProof="0" dirty="0" err="1"/>
              <a:t>Dockerfile</a:t>
            </a:r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EEEB99-0FDC-E4B0-4F51-9E0EE6F6BA75}"/>
              </a:ext>
            </a:extLst>
          </p:cNvPr>
          <p:cNvGraphicFramePr>
            <a:graphicFrameLocks noGrp="1"/>
          </p:cNvGraphicFramePr>
          <p:nvPr/>
        </p:nvGraphicFramePr>
        <p:xfrm>
          <a:off x="971764" y="1204669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521449">
                  <a:extLst>
                    <a:ext uri="{9D8B030D-6E8A-4147-A177-3AD203B41FA5}">
                      <a16:colId xmlns:a16="http://schemas.microsoft.com/office/drawing/2014/main" val="3059824307"/>
                    </a:ext>
                  </a:extLst>
                </a:gridCol>
                <a:gridCol w="3791164">
                  <a:extLst>
                    <a:ext uri="{9D8B030D-6E8A-4147-A177-3AD203B41FA5}">
                      <a16:colId xmlns:a16="http://schemas.microsoft.com/office/drawing/2014/main" val="3233229549"/>
                    </a:ext>
                  </a:extLst>
                </a:gridCol>
                <a:gridCol w="4202987">
                  <a:extLst>
                    <a:ext uri="{9D8B030D-6E8A-4147-A177-3AD203B41FA5}">
                      <a16:colId xmlns:a16="http://schemas.microsoft.com/office/drawing/2014/main" val="35070472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Instruction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Value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Meaning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791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FROM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Base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007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ENTRYPOINT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["echo"]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Fixed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031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["Hello from CMD"]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Default argument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0209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F12902-011B-936D-A382-844BEDFF108A}"/>
              </a:ext>
            </a:extLst>
          </p:cNvPr>
          <p:cNvGraphicFramePr>
            <a:graphicFrameLocks noGrp="1"/>
          </p:cNvGraphicFramePr>
          <p:nvPr/>
        </p:nvGraphicFramePr>
        <p:xfrm>
          <a:off x="971764" y="3824532"/>
          <a:ext cx="10515600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946097">
                  <a:extLst>
                    <a:ext uri="{9D8B030D-6E8A-4147-A177-3AD203B41FA5}">
                      <a16:colId xmlns:a16="http://schemas.microsoft.com/office/drawing/2014/main" val="2160210802"/>
                    </a:ext>
                  </a:extLst>
                </a:gridCol>
                <a:gridCol w="3311703">
                  <a:extLst>
                    <a:ext uri="{9D8B030D-6E8A-4147-A177-3AD203B41FA5}">
                      <a16:colId xmlns:a16="http://schemas.microsoft.com/office/drawing/2014/main" val="2070283495"/>
                    </a:ext>
                  </a:extLst>
                </a:gridCol>
                <a:gridCol w="2873339">
                  <a:extLst>
                    <a:ext uri="{9D8B030D-6E8A-4147-A177-3AD203B41FA5}">
                      <a16:colId xmlns:a16="http://schemas.microsoft.com/office/drawing/2014/main" val="1335574166"/>
                    </a:ext>
                  </a:extLst>
                </a:gridCol>
                <a:gridCol w="2384461">
                  <a:extLst>
                    <a:ext uri="{9D8B030D-6E8A-4147-A177-3AD203B41FA5}">
                      <a16:colId xmlns:a16="http://schemas.microsoft.com/office/drawing/2014/main" val="2266647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Case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What Runs Internally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Output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83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Case 1: No arguments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</a:t>
                      </a:r>
                      <a:r>
                        <a:rPr lang="en-US" sz="2400" noProof="0" dirty="0" err="1"/>
                        <a:t>myimage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echo Hello from CMD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Hello from CMD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6703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Case 2: With arguments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run </a:t>
                      </a:r>
                      <a:r>
                        <a:rPr lang="en-US" sz="2400" noProof="0" dirty="0" err="1"/>
                        <a:t>myimage</a:t>
                      </a:r>
                      <a:r>
                        <a:rPr lang="en-US" sz="2400" noProof="0" dirty="0"/>
                        <a:t> "Hi CDAC"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echo Hi CDAC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Hi CDAC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996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3191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150A5-25F0-A988-DBEE-EB9C7594A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515600" cy="904126"/>
          </a:xfrm>
        </p:spPr>
        <p:txBody>
          <a:bodyPr/>
          <a:lstStyle/>
          <a:p>
            <a:r>
              <a:rPr lang="en-US" noProof="0" dirty="0"/>
              <a:t>Java “Hello World”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966C1C-289E-0D97-EA1C-1EE5D353D5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2926095"/>
              </p:ext>
            </p:extLst>
          </p:nvPr>
        </p:nvGraphicFramePr>
        <p:xfrm>
          <a:off x="404543" y="858481"/>
          <a:ext cx="11408596" cy="3108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150583">
                  <a:extLst>
                    <a:ext uri="{9D8B030D-6E8A-4147-A177-3AD203B41FA5}">
                      <a16:colId xmlns:a16="http://schemas.microsoft.com/office/drawing/2014/main" val="474416782"/>
                    </a:ext>
                  </a:extLst>
                </a:gridCol>
                <a:gridCol w="3269683">
                  <a:extLst>
                    <a:ext uri="{9D8B030D-6E8A-4147-A177-3AD203B41FA5}">
                      <a16:colId xmlns:a16="http://schemas.microsoft.com/office/drawing/2014/main" val="240265882"/>
                    </a:ext>
                  </a:extLst>
                </a:gridCol>
                <a:gridCol w="6988330">
                  <a:extLst>
                    <a:ext uri="{9D8B030D-6E8A-4147-A177-3AD203B41FA5}">
                      <a16:colId xmlns:a16="http://schemas.microsoft.com/office/drawing/2014/main" val="37302424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 / 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Content / Action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969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mkdir</a:t>
                      </a:r>
                      <a:r>
                        <a:rPr lang="en-US" sz="2400" noProof="0" dirty="0"/>
                        <a:t>     ~/</a:t>
                      </a:r>
                      <a:r>
                        <a:rPr lang="en-US" sz="2400" noProof="0" dirty="0" err="1"/>
                        <a:t>docker_java_hello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74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Java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HelloWorld.java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7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Create </a:t>
                      </a:r>
                      <a:r>
                        <a:rPr lang="en-US" sz="2400" noProof="0" dirty="0" err="1"/>
                        <a:t>Dockerfile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 err="1"/>
                        <a:t>Dockerfile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38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Build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noProof="0" dirty="0"/>
                        <a:t>docker     build      -t 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docker-id</a:t>
                      </a:r>
                      <a:r>
                        <a:rPr lang="en-US" sz="2400" b="1" noProof="0" dirty="0"/>
                        <a:t>/cdac-java:1.0        .</a:t>
                      </a:r>
                    </a:p>
                    <a:p>
                      <a:pPr>
                        <a:buNone/>
                      </a:pP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306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run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docker-id</a:t>
                      </a:r>
                      <a:r>
                        <a:rPr lang="en-US" sz="2400" b="1" noProof="0" dirty="0"/>
                        <a:t>/cdac-java:1.0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0216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A0F596F-C3F4-6DD4-B3AC-50B11A547860}"/>
              </a:ext>
            </a:extLst>
          </p:cNvPr>
          <p:cNvSpPr txBox="1"/>
          <p:nvPr/>
        </p:nvSpPr>
        <p:spPr>
          <a:xfrm>
            <a:off x="32106" y="4284323"/>
            <a:ext cx="5809181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noProof="0" dirty="0"/>
              <a:t>public class HelloWorld {</a:t>
            </a:r>
          </a:p>
          <a:p>
            <a:r>
              <a:rPr lang="en-US" sz="2400" noProof="0" dirty="0"/>
              <a:t>     public static void main(String[] </a:t>
            </a:r>
            <a:r>
              <a:rPr lang="en-US" sz="2400" noProof="0" dirty="0" err="1"/>
              <a:t>args</a:t>
            </a:r>
            <a:r>
              <a:rPr lang="en-US" sz="2400" noProof="0" dirty="0"/>
              <a:t>) {</a:t>
            </a:r>
          </a:p>
          <a:p>
            <a:r>
              <a:rPr lang="en-US" sz="2400" noProof="0" dirty="0"/>
              <a:t>          </a:t>
            </a:r>
            <a:r>
              <a:rPr lang="en-US" sz="2400" noProof="0" dirty="0" err="1"/>
              <a:t>System.out.println</a:t>
            </a:r>
            <a:r>
              <a:rPr lang="en-US" sz="2400" noProof="0" dirty="0"/>
              <a:t> (“Hello, World!”);</a:t>
            </a:r>
          </a:p>
          <a:p>
            <a:r>
              <a:rPr lang="en-US" sz="2400" noProof="0" dirty="0"/>
              <a:t>     }</a:t>
            </a:r>
          </a:p>
          <a:p>
            <a:r>
              <a:rPr lang="en-US" sz="2400" noProof="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4D368-4C81-EA28-2DE0-5AF1BFAC221C}"/>
              </a:ext>
            </a:extLst>
          </p:cNvPr>
          <p:cNvSpPr txBox="1"/>
          <p:nvPr/>
        </p:nvSpPr>
        <p:spPr>
          <a:xfrm>
            <a:off x="6096000" y="4284323"/>
            <a:ext cx="6072027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FROM  		eclipse-temurin:17-jdk-alpine</a:t>
            </a:r>
          </a:p>
          <a:p>
            <a:r>
              <a:rPr lang="en-US" sz="2400" dirty="0"/>
              <a:t>WORKDIR	/app</a:t>
            </a:r>
          </a:p>
          <a:p>
            <a:r>
              <a:rPr lang="en-US" sz="2400" dirty="0"/>
              <a:t>COPY		HelloWorld.java      /app</a:t>
            </a:r>
          </a:p>
          <a:p>
            <a:r>
              <a:rPr lang="en-US" sz="2400" dirty="0"/>
              <a:t>RUN		</a:t>
            </a:r>
            <a:r>
              <a:rPr lang="en-US" sz="2400" dirty="0" err="1"/>
              <a:t>javac</a:t>
            </a:r>
            <a:r>
              <a:rPr lang="en-US" sz="2400" dirty="0"/>
              <a:t>   HelloWorld.java</a:t>
            </a:r>
          </a:p>
          <a:p>
            <a:r>
              <a:rPr lang="en-US" sz="2400" dirty="0"/>
              <a:t>CMD		["java", "HelloWorld"]</a:t>
            </a:r>
            <a:endParaRPr lang="en-US" sz="2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BEAAF4-C682-5EE8-8AFB-3688B1DF0625}"/>
              </a:ext>
            </a:extLst>
          </p:cNvPr>
          <p:cNvSpPr txBox="1"/>
          <p:nvPr/>
        </p:nvSpPr>
        <p:spPr>
          <a:xfrm>
            <a:off x="1294544" y="6308333"/>
            <a:ext cx="1993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HelloWorld.java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0ECB9-C364-0D1A-5A3A-0791799A8A47}"/>
              </a:ext>
            </a:extLst>
          </p:cNvPr>
          <p:cNvSpPr txBox="1"/>
          <p:nvPr/>
        </p:nvSpPr>
        <p:spPr>
          <a:xfrm>
            <a:off x="7858018" y="6308333"/>
            <a:ext cx="165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rgbClr val="FF0000"/>
                </a:solidFill>
              </a:rPr>
              <a:t>Dockerfile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9544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7DB1-80B2-2D9B-D288-69086577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Push to </a:t>
            </a:r>
            <a:r>
              <a:rPr lang="en-US" noProof="0" dirty="0" err="1"/>
              <a:t>DockerHub</a:t>
            </a:r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216837-8324-6876-2C44-4A7AA73CDC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2451208"/>
              </p:ext>
            </p:extLst>
          </p:nvPr>
        </p:nvGraphicFramePr>
        <p:xfrm>
          <a:off x="431516" y="1690688"/>
          <a:ext cx="11435136" cy="2826068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89811">
                  <a:extLst>
                    <a:ext uri="{9D8B030D-6E8A-4147-A177-3AD203B41FA5}">
                      <a16:colId xmlns:a16="http://schemas.microsoft.com/office/drawing/2014/main" val="259309852"/>
                    </a:ext>
                  </a:extLst>
                </a:gridCol>
                <a:gridCol w="8745325">
                  <a:extLst>
                    <a:ext uri="{9D8B030D-6E8A-4147-A177-3AD203B41FA5}">
                      <a16:colId xmlns:a16="http://schemas.microsoft.com/office/drawing/2014/main" val="3528790271"/>
                    </a:ext>
                  </a:extLst>
                </a:gridCol>
              </a:tblGrid>
              <a:tr h="753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544992"/>
                  </a:ext>
                </a:extLst>
              </a:tr>
              <a:tr h="753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 login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551025"/>
                  </a:ext>
                </a:extLst>
              </a:tr>
              <a:tr h="1318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Push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   push     </a:t>
                      </a:r>
                      <a:r>
                        <a:rPr lang="en-US" sz="2400" b="1" noProof="0" dirty="0">
                          <a:highlight>
                            <a:srgbClr val="FFFF00"/>
                          </a:highlight>
                        </a:rPr>
                        <a:t>docker-id</a:t>
                      </a:r>
                      <a:r>
                        <a:rPr lang="en-US" sz="2400" b="1" noProof="0" dirty="0"/>
                        <a:t>/</a:t>
                      </a:r>
                      <a:r>
                        <a:rPr lang="en-US" sz="2400" b="1" noProof="0" dirty="0" err="1"/>
                        <a:t>cdac</a:t>
                      </a:r>
                      <a:r>
                        <a:rPr lang="en-US" sz="2400" b="1" noProof="0" dirty="0"/>
                        <a:t>-java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353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8306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497E-04F2-3257-EA72-114EC5EFB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565"/>
            <a:ext cx="10515600" cy="711004"/>
          </a:xfrm>
        </p:spPr>
        <p:txBody>
          <a:bodyPr/>
          <a:lstStyle/>
          <a:p>
            <a:r>
              <a:rPr lang="en-IN" dirty="0"/>
              <a:t>Python Add Two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2448E-8EAF-4209-BA8D-D113E549FCF0}"/>
              </a:ext>
            </a:extLst>
          </p:cNvPr>
          <p:cNvSpPr txBox="1"/>
          <p:nvPr/>
        </p:nvSpPr>
        <p:spPr>
          <a:xfrm>
            <a:off x="267129" y="844569"/>
            <a:ext cx="4921320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 err="1"/>
              <a:t>mkdir</a:t>
            </a:r>
            <a:r>
              <a:rPr lang="en-IN" sz="2400" b="1" dirty="0"/>
              <a:t>     ~/</a:t>
            </a:r>
            <a:r>
              <a:rPr lang="en-IN" sz="2400" b="1" dirty="0" err="1"/>
              <a:t>docker_python_add</a:t>
            </a:r>
            <a:endParaRPr lang="en-IN" sz="2400" b="1" dirty="0"/>
          </a:p>
          <a:p>
            <a:r>
              <a:rPr lang="en-IN" sz="2400" b="1" dirty="0"/>
              <a:t>cd          ~/</a:t>
            </a:r>
            <a:r>
              <a:rPr lang="en-IN" sz="2400" b="1" dirty="0" err="1"/>
              <a:t>docker_python_add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C3A05-FCB7-3468-7EE9-26934A46B39C}"/>
              </a:ext>
            </a:extLst>
          </p:cNvPr>
          <p:cNvSpPr txBox="1"/>
          <p:nvPr/>
        </p:nvSpPr>
        <p:spPr>
          <a:xfrm>
            <a:off x="0" y="2227779"/>
            <a:ext cx="6462445" cy="30469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nano     add.py</a:t>
            </a:r>
          </a:p>
          <a:p>
            <a:endParaRPr lang="en-IN" sz="2400" b="1" dirty="0"/>
          </a:p>
          <a:p>
            <a:r>
              <a:rPr lang="en-US" sz="2400" b="1" dirty="0"/>
              <a:t>num1 = float(input("Enter the first number: "))</a:t>
            </a:r>
          </a:p>
          <a:p>
            <a:r>
              <a:rPr lang="en-US" sz="2400" b="1" dirty="0"/>
              <a:t>num2 = float(input("Enter the second number: "))</a:t>
            </a:r>
          </a:p>
          <a:p>
            <a:r>
              <a:rPr lang="en-US" sz="2400" b="1" dirty="0"/>
              <a:t>        </a:t>
            </a:r>
          </a:p>
          <a:p>
            <a:r>
              <a:rPr lang="en-US" sz="2400" b="1" dirty="0"/>
              <a:t>total = num1 + num2</a:t>
            </a:r>
          </a:p>
          <a:p>
            <a:r>
              <a:rPr lang="en-US" sz="2400" b="1" dirty="0"/>
              <a:t>print(</a:t>
            </a:r>
            <a:r>
              <a:rPr lang="en-US" sz="2400" b="1" dirty="0" err="1"/>
              <a:t>f"The</a:t>
            </a:r>
            <a:r>
              <a:rPr lang="en-US" sz="2400" b="1" dirty="0"/>
              <a:t> sum is: {total}")</a:t>
            </a:r>
          </a:p>
          <a:p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8FC62-5E90-5E45-0ABD-2F8DFD377E54}"/>
              </a:ext>
            </a:extLst>
          </p:cNvPr>
          <p:cNvSpPr txBox="1"/>
          <p:nvPr/>
        </p:nvSpPr>
        <p:spPr>
          <a:xfrm>
            <a:off x="6544638" y="750971"/>
            <a:ext cx="5647362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nano     </a:t>
            </a:r>
            <a:r>
              <a:rPr lang="en-IN" sz="2400" b="1" dirty="0" err="1">
                <a:solidFill>
                  <a:schemeClr val="accent1"/>
                </a:solidFill>
              </a:rPr>
              <a:t>Dockerfile</a:t>
            </a:r>
            <a:endParaRPr lang="en-IN" sz="2400" b="1" dirty="0">
              <a:solidFill>
                <a:schemeClr val="accent1"/>
              </a:solidFill>
            </a:endParaRPr>
          </a:p>
          <a:p>
            <a:endParaRPr lang="en-IN" sz="2400" b="1" dirty="0"/>
          </a:p>
          <a:p>
            <a:r>
              <a:rPr lang="en-US" sz="2400" b="1" dirty="0"/>
              <a:t>FROM 		python:3.11-slim</a:t>
            </a:r>
          </a:p>
          <a:p>
            <a:r>
              <a:rPr lang="en-US" sz="2400" b="1" dirty="0"/>
              <a:t>WORKDIR     	/</a:t>
            </a:r>
            <a:r>
              <a:rPr lang="en-US" sz="2400" b="1" dirty="0" err="1"/>
              <a:t>myapplication</a:t>
            </a:r>
            <a:endParaRPr lang="en-US" sz="2400" b="1" dirty="0"/>
          </a:p>
          <a:p>
            <a:r>
              <a:rPr lang="en-US" sz="2400" b="1" dirty="0"/>
              <a:t>COPY 		add.py    /</a:t>
            </a:r>
            <a:r>
              <a:rPr lang="en-US" sz="2400" b="1" dirty="0" err="1"/>
              <a:t>myapplication</a:t>
            </a:r>
            <a:endParaRPr lang="en-US" sz="2400" b="1" dirty="0"/>
          </a:p>
          <a:p>
            <a:r>
              <a:rPr lang="en-US" sz="2400" b="1" dirty="0"/>
              <a:t>CMD   		["python", "add.py"]</a:t>
            </a:r>
          </a:p>
          <a:p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E1216-3C23-2E3C-2E9A-EB2CE2CC90F5}"/>
              </a:ext>
            </a:extLst>
          </p:cNvPr>
          <p:cNvSpPr txBox="1"/>
          <p:nvPr/>
        </p:nvSpPr>
        <p:spPr>
          <a:xfrm>
            <a:off x="6544637" y="3705107"/>
            <a:ext cx="5457291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/>
              <a:t>docker    build    -t    python-sum-app    .</a:t>
            </a:r>
          </a:p>
          <a:p>
            <a:endParaRPr lang="en-IN" sz="2400" b="1" dirty="0"/>
          </a:p>
          <a:p>
            <a:r>
              <a:rPr lang="en-IN" sz="2400" b="1" dirty="0"/>
              <a:t>docker    run     python-sum-ap   </a:t>
            </a:r>
            <a:r>
              <a:rPr lang="en-IN" sz="2400" b="1" dirty="0">
                <a:solidFill>
                  <a:srgbClr val="FF0000"/>
                </a:solidFill>
              </a:rPr>
              <a:t>ERROR!!!</a:t>
            </a:r>
            <a:r>
              <a:rPr lang="en-IN" sz="2400" b="1" dirty="0"/>
              <a:t>	</a:t>
            </a:r>
          </a:p>
          <a:p>
            <a:endParaRPr lang="en-IN" sz="2400" b="1" dirty="0"/>
          </a:p>
          <a:p>
            <a:r>
              <a:rPr lang="en-IN" sz="2400" b="1" dirty="0"/>
              <a:t>docker    run    -it    python-sum-app</a:t>
            </a:r>
          </a:p>
        </p:txBody>
      </p:sp>
    </p:spTree>
    <p:extLst>
      <p:ext uri="{BB962C8B-B14F-4D97-AF65-F5344CB8AC3E}">
        <p14:creationId xmlns:p14="http://schemas.microsoft.com/office/powerpoint/2010/main" val="32961664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F0C4-BF21-A2AB-AA8A-D01514731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Saving/Loading Docker Images (Local Disk)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F3DEA6D-F8EB-539A-30D1-65708BAAC6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9492434"/>
              </p:ext>
            </p:extLst>
          </p:nvPr>
        </p:nvGraphicFramePr>
        <p:xfrm>
          <a:off x="318499" y="1690688"/>
          <a:ext cx="11239927" cy="33832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751341">
                  <a:extLst>
                    <a:ext uri="{9D8B030D-6E8A-4147-A177-3AD203B41FA5}">
                      <a16:colId xmlns:a16="http://schemas.microsoft.com/office/drawing/2014/main" val="2566965168"/>
                    </a:ext>
                  </a:extLst>
                </a:gridCol>
                <a:gridCol w="5238493">
                  <a:extLst>
                    <a:ext uri="{9D8B030D-6E8A-4147-A177-3AD203B41FA5}">
                      <a16:colId xmlns:a16="http://schemas.microsoft.com/office/drawing/2014/main" val="718088638"/>
                    </a:ext>
                  </a:extLst>
                </a:gridCol>
                <a:gridCol w="2630184">
                  <a:extLst>
                    <a:ext uri="{9D8B030D-6E8A-4147-A177-3AD203B41FA5}">
                      <a16:colId xmlns:a16="http://schemas.microsoft.com/office/drawing/2014/main" val="2605626661"/>
                    </a:ext>
                  </a:extLst>
                </a:gridCol>
                <a:gridCol w="2619909">
                  <a:extLst>
                    <a:ext uri="{9D8B030D-6E8A-4147-A177-3AD203B41FA5}">
                      <a16:colId xmlns:a16="http://schemas.microsoft.com/office/drawing/2014/main" val="2534692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Step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Output / Result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605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pull   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Download image from Docker 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Image available locally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2597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save   ubuntu   -o    ubuntu.tar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Save image as a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ubuntu.tar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667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Copy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Transfer ubuntu.tar to another 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File 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9722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docker   load   -</a:t>
                      </a:r>
                      <a:r>
                        <a:rPr lang="en-US" sz="2400" b="1" noProof="0" dirty="0" err="1"/>
                        <a:t>i</a:t>
                      </a:r>
                      <a:r>
                        <a:rPr lang="en-US" sz="2400" b="1" noProof="0" dirty="0"/>
                        <a:t>     ubuntu.tar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Load image from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Image restored locally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716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4558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36E6-C0D9-8B77-BD9B-699A25B7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Stop and Remove All Running Containers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641A50-B5B4-2C45-849C-E05719A08A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8869193"/>
              </p:ext>
            </p:extLst>
          </p:nvPr>
        </p:nvGraphicFramePr>
        <p:xfrm>
          <a:off x="684088" y="1690688"/>
          <a:ext cx="10515600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720119">
                  <a:extLst>
                    <a:ext uri="{9D8B030D-6E8A-4147-A177-3AD203B41FA5}">
                      <a16:colId xmlns:a16="http://schemas.microsoft.com/office/drawing/2014/main" val="3844474461"/>
                    </a:ext>
                  </a:extLst>
                </a:gridCol>
                <a:gridCol w="2897312">
                  <a:extLst>
                    <a:ext uri="{9D8B030D-6E8A-4147-A177-3AD203B41FA5}">
                      <a16:colId xmlns:a16="http://schemas.microsoft.com/office/drawing/2014/main" val="3988208647"/>
                    </a:ext>
                  </a:extLst>
                </a:gridCol>
                <a:gridCol w="2898169">
                  <a:extLst>
                    <a:ext uri="{9D8B030D-6E8A-4147-A177-3AD203B41FA5}">
                      <a16:colId xmlns:a16="http://schemas.microsoft.com/office/drawing/2014/main" val="903093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Explanation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31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stop $(docker   </a:t>
                      </a:r>
                      <a:r>
                        <a:rPr lang="en-US" sz="2400" noProof="0" dirty="0" err="1"/>
                        <a:t>ps</a:t>
                      </a:r>
                      <a:r>
                        <a:rPr lang="en-US" sz="2400" noProof="0" dirty="0"/>
                        <a:t>   -a   -q)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all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Gets all container IDs and stops them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109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  rm $(docker   </a:t>
                      </a:r>
                      <a:r>
                        <a:rPr lang="en-US" sz="2400" noProof="0" dirty="0" err="1"/>
                        <a:t>ps</a:t>
                      </a:r>
                      <a:r>
                        <a:rPr lang="en-US" sz="2400" noProof="0" dirty="0"/>
                        <a:t>   -a   -q)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Remove all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Deletes all containers (after stopping)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11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52113B-C9FA-24DD-FBE9-ECE1599A8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842107"/>
              </p:ext>
            </p:extLst>
          </p:nvPr>
        </p:nvGraphicFramePr>
        <p:xfrm>
          <a:off x="684088" y="4574592"/>
          <a:ext cx="10515600" cy="14630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4750941">
                  <a:extLst>
                    <a:ext uri="{9D8B030D-6E8A-4147-A177-3AD203B41FA5}">
                      <a16:colId xmlns:a16="http://schemas.microsoft.com/office/drawing/2014/main" val="1848869454"/>
                    </a:ext>
                  </a:extLst>
                </a:gridCol>
                <a:gridCol w="5764659">
                  <a:extLst>
                    <a:ext uri="{9D8B030D-6E8A-4147-A177-3AD203B41FA5}">
                      <a16:colId xmlns:a16="http://schemas.microsoft.com/office/drawing/2014/main" val="5279245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Part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Meaning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705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docker </a:t>
                      </a:r>
                      <a:r>
                        <a:rPr lang="en-US" noProof="0" dirty="0" err="1"/>
                        <a:t>ps</a:t>
                      </a:r>
                      <a:r>
                        <a:rPr lang="en-US" noProof="0" dirty="0"/>
                        <a:t> -a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List all containers (running + stopped)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917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-q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Show only container 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97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$(...)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Pass output as input to another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54742"/>
                  </a:ext>
                </a:extLst>
              </a:tr>
            </a:tbl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B54D416D-360C-2064-723D-FBC80324109A}"/>
              </a:ext>
            </a:extLst>
          </p:cNvPr>
          <p:cNvSpPr/>
          <p:nvPr/>
        </p:nvSpPr>
        <p:spPr>
          <a:xfrm>
            <a:off x="5178174" y="3937620"/>
            <a:ext cx="534257" cy="49316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75114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2932-C59E-668B-35D8-61C5E2BA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C2DA2-E6D2-180C-FB61-78ED33835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a C program to take input from the user and test it</a:t>
            </a:r>
          </a:p>
          <a:p>
            <a:r>
              <a:rPr lang="en-US" noProof="0" dirty="0"/>
              <a:t>Then create an image using </a:t>
            </a:r>
            <a:r>
              <a:rPr lang="en-US" noProof="0" dirty="0" err="1"/>
              <a:t>Dockerfile</a:t>
            </a:r>
            <a:endParaRPr lang="en-US" noProof="0" dirty="0"/>
          </a:p>
          <a:p>
            <a:r>
              <a:rPr lang="en-US" noProof="0" dirty="0"/>
              <a:t>Test image by the running container</a:t>
            </a:r>
          </a:p>
          <a:p>
            <a:r>
              <a:rPr lang="en-US" noProof="0" dirty="0"/>
              <a:t>Then push the image to the docker hub repository</a:t>
            </a:r>
          </a:p>
          <a:p>
            <a:r>
              <a:rPr lang="en-US" noProof="0" dirty="0"/>
              <a:t>Then also export the image in a “cprogback.tar” file</a:t>
            </a:r>
          </a:p>
        </p:txBody>
      </p:sp>
    </p:spTree>
    <p:extLst>
      <p:ext uri="{BB962C8B-B14F-4D97-AF65-F5344CB8AC3E}">
        <p14:creationId xmlns:p14="http://schemas.microsoft.com/office/powerpoint/2010/main" val="3554423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D8B64-03FB-2874-3FBF-BB66D5F3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Create a C Program and </a:t>
            </a:r>
            <a:r>
              <a:rPr lang="en-US" noProof="0" dirty="0" err="1"/>
              <a:t>Dockerfile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5C08B-4E49-5096-233C-B8D7F4973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27416"/>
            <a:ext cx="5181600" cy="5149547"/>
          </a:xfrm>
        </p:spPr>
        <p:txBody>
          <a:bodyPr>
            <a:normAutofit fontScale="85000" lnSpcReduction="20000"/>
          </a:bodyPr>
          <a:lstStyle/>
          <a:p>
            <a:r>
              <a:rPr lang="en-US" b="1" noProof="0" dirty="0" err="1"/>
              <a:t>mkdir</a:t>
            </a:r>
            <a:r>
              <a:rPr lang="en-US" b="1" noProof="0" dirty="0"/>
              <a:t>   ~/</a:t>
            </a:r>
            <a:r>
              <a:rPr lang="en-US" b="1" noProof="0" dirty="0" err="1"/>
              <a:t>docker_c_example</a:t>
            </a:r>
            <a:endParaRPr lang="en-US" b="1" noProof="0" dirty="0"/>
          </a:p>
          <a:p>
            <a:r>
              <a:rPr lang="en-US" b="1" noProof="0" dirty="0"/>
              <a:t>cd    ~/</a:t>
            </a:r>
            <a:r>
              <a:rPr lang="en-US" b="1" noProof="0" dirty="0" err="1"/>
              <a:t>docker_c_example</a:t>
            </a:r>
            <a:endParaRPr lang="en-US" b="1" noProof="0" dirty="0"/>
          </a:p>
          <a:p>
            <a:r>
              <a:rPr lang="en-US" b="1" noProof="0" dirty="0"/>
              <a:t>nano  </a:t>
            </a:r>
            <a:r>
              <a:rPr lang="en-US" b="1" noProof="0" dirty="0" err="1"/>
              <a:t>user_input.c</a:t>
            </a:r>
            <a:endParaRPr lang="en-US" b="1" noProof="0" dirty="0"/>
          </a:p>
          <a:p>
            <a:endParaRPr lang="en-US" b="1" noProof="0" dirty="0"/>
          </a:p>
          <a:p>
            <a:r>
              <a:rPr lang="en-US" noProof="0" dirty="0">
                <a:solidFill>
                  <a:srgbClr val="C00000"/>
                </a:solidFill>
              </a:rPr>
              <a:t>#include &lt;</a:t>
            </a:r>
            <a:r>
              <a:rPr lang="en-US" noProof="0" dirty="0" err="1">
                <a:solidFill>
                  <a:srgbClr val="C00000"/>
                </a:solidFill>
              </a:rPr>
              <a:t>stdio.h</a:t>
            </a:r>
            <a:r>
              <a:rPr lang="en-US" noProof="0" dirty="0">
                <a:solidFill>
                  <a:srgbClr val="C00000"/>
                </a:solidFill>
              </a:rPr>
              <a:t>&gt;</a:t>
            </a:r>
          </a:p>
          <a:p>
            <a:endParaRPr lang="en-US" noProof="0" dirty="0">
              <a:solidFill>
                <a:srgbClr val="C00000"/>
              </a:solidFill>
            </a:endParaRPr>
          </a:p>
          <a:p>
            <a:r>
              <a:rPr lang="en-US" noProof="0" dirty="0">
                <a:solidFill>
                  <a:srgbClr val="C00000"/>
                </a:solidFill>
              </a:rPr>
              <a:t>int main() {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char name[100];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</a:t>
            </a:r>
            <a:r>
              <a:rPr lang="en-US" noProof="0" dirty="0" err="1">
                <a:solidFill>
                  <a:srgbClr val="C00000"/>
                </a:solidFill>
              </a:rPr>
              <a:t>printf</a:t>
            </a:r>
            <a:r>
              <a:rPr lang="en-US" noProof="0" dirty="0">
                <a:solidFill>
                  <a:srgbClr val="C00000"/>
                </a:solidFill>
              </a:rPr>
              <a:t> ("Enter your name: ");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</a:t>
            </a:r>
            <a:r>
              <a:rPr lang="en-US" noProof="0" dirty="0" err="1">
                <a:solidFill>
                  <a:srgbClr val="C00000"/>
                </a:solidFill>
              </a:rPr>
              <a:t>scanf</a:t>
            </a:r>
            <a:r>
              <a:rPr lang="en-US" noProof="0" dirty="0">
                <a:solidFill>
                  <a:srgbClr val="C00000"/>
                </a:solidFill>
              </a:rPr>
              <a:t> ("%s", name);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</a:t>
            </a:r>
            <a:r>
              <a:rPr lang="en-US" noProof="0" dirty="0" err="1">
                <a:solidFill>
                  <a:srgbClr val="C00000"/>
                </a:solidFill>
              </a:rPr>
              <a:t>printf</a:t>
            </a:r>
            <a:r>
              <a:rPr lang="en-US" noProof="0" dirty="0">
                <a:solidFill>
                  <a:srgbClr val="C00000"/>
                </a:solidFill>
              </a:rPr>
              <a:t> ("Hello, %s!\n", name);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return 0;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}</a:t>
            </a:r>
          </a:p>
          <a:p>
            <a:endParaRPr lang="en-US" b="1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30D41-B1FB-5433-68EA-D9DE26D4D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9416" y="1027416"/>
            <a:ext cx="5754384" cy="5149547"/>
          </a:xfrm>
          <a:solidFill>
            <a:schemeClr val="bg1">
              <a:lumMod val="95000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noProof="0" dirty="0"/>
              <a:t>     nano   </a:t>
            </a:r>
            <a:r>
              <a:rPr lang="en-US" b="1" noProof="0" dirty="0" err="1"/>
              <a:t>Dockerfile</a:t>
            </a:r>
            <a:endParaRPr lang="en-US" b="1" noProof="0" dirty="0"/>
          </a:p>
          <a:p>
            <a:endParaRPr lang="en-US" b="1" noProof="0" dirty="0"/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FROM    </a:t>
            </a:r>
            <a:r>
              <a:rPr lang="en-US" noProof="0" dirty="0" err="1">
                <a:solidFill>
                  <a:srgbClr val="C00000"/>
                </a:solidFill>
              </a:rPr>
              <a:t>gcc:latest</a:t>
            </a: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WORKDIR   /</a:t>
            </a:r>
            <a:r>
              <a:rPr lang="en-US" noProof="0" dirty="0" err="1">
                <a:solidFill>
                  <a:srgbClr val="C00000"/>
                </a:solidFill>
              </a:rPr>
              <a:t>cdac</a:t>
            </a:r>
            <a:r>
              <a:rPr lang="en-US" noProof="0" dirty="0">
                <a:solidFill>
                  <a:srgbClr val="C00000"/>
                </a:solidFill>
              </a:rPr>
              <a:t>/</a:t>
            </a:r>
            <a:r>
              <a:rPr lang="en-US" noProof="0" dirty="0" err="1">
                <a:solidFill>
                  <a:srgbClr val="C00000"/>
                </a:solidFill>
              </a:rPr>
              <a:t>ditiss</a:t>
            </a:r>
            <a:r>
              <a:rPr lang="en-US" noProof="0" dirty="0">
                <a:solidFill>
                  <a:srgbClr val="C00000"/>
                </a:solidFill>
              </a:rPr>
              <a:t>/</a:t>
            </a:r>
            <a:r>
              <a:rPr lang="en-US" noProof="0" dirty="0" err="1">
                <a:solidFill>
                  <a:srgbClr val="C00000"/>
                </a:solidFill>
              </a:rPr>
              <a:t>mycode</a:t>
            </a: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COPY    </a:t>
            </a:r>
            <a:r>
              <a:rPr lang="en-US" noProof="0" dirty="0" err="1">
                <a:solidFill>
                  <a:srgbClr val="C00000"/>
                </a:solidFill>
              </a:rPr>
              <a:t>user_input.c</a:t>
            </a:r>
            <a:r>
              <a:rPr lang="en-US" noProof="0" dirty="0">
                <a:solidFill>
                  <a:srgbClr val="C00000"/>
                </a:solidFill>
              </a:rPr>
              <a:t>    /</a:t>
            </a:r>
            <a:r>
              <a:rPr lang="en-US" noProof="0" dirty="0" err="1">
                <a:solidFill>
                  <a:srgbClr val="C00000"/>
                </a:solidFill>
              </a:rPr>
              <a:t>cdac</a:t>
            </a:r>
            <a:r>
              <a:rPr lang="en-US" noProof="0" dirty="0">
                <a:solidFill>
                  <a:srgbClr val="C00000"/>
                </a:solidFill>
              </a:rPr>
              <a:t>/</a:t>
            </a:r>
            <a:r>
              <a:rPr lang="en-US" noProof="0" dirty="0" err="1">
                <a:solidFill>
                  <a:srgbClr val="C00000"/>
                </a:solidFill>
              </a:rPr>
              <a:t>ditiss</a:t>
            </a:r>
            <a:r>
              <a:rPr lang="en-US" noProof="0" dirty="0">
                <a:solidFill>
                  <a:srgbClr val="C00000"/>
                </a:solidFill>
              </a:rPr>
              <a:t>/</a:t>
            </a:r>
            <a:r>
              <a:rPr lang="en-US" noProof="0" dirty="0" err="1">
                <a:solidFill>
                  <a:srgbClr val="C00000"/>
                </a:solidFill>
              </a:rPr>
              <a:t>mycode</a:t>
            </a: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RUN    </a:t>
            </a:r>
            <a:r>
              <a:rPr lang="en-US" noProof="0" dirty="0" err="1">
                <a:solidFill>
                  <a:srgbClr val="C00000"/>
                </a:solidFill>
              </a:rPr>
              <a:t>gcc</a:t>
            </a:r>
            <a:r>
              <a:rPr lang="en-US" noProof="0" dirty="0">
                <a:solidFill>
                  <a:srgbClr val="C00000"/>
                </a:solidFill>
              </a:rPr>
              <a:t>    -o    </a:t>
            </a:r>
            <a:r>
              <a:rPr lang="en-US" noProof="0" dirty="0" err="1">
                <a:solidFill>
                  <a:srgbClr val="C00000"/>
                </a:solidFill>
              </a:rPr>
              <a:t>user_input</a:t>
            </a:r>
            <a:r>
              <a:rPr lang="en-US" noProof="0" dirty="0">
                <a:solidFill>
                  <a:srgbClr val="C00000"/>
                </a:solidFill>
              </a:rPr>
              <a:t>     </a:t>
            </a:r>
            <a:r>
              <a:rPr lang="en-US" noProof="0" dirty="0" err="1">
                <a:solidFill>
                  <a:srgbClr val="C00000"/>
                </a:solidFill>
              </a:rPr>
              <a:t>user_input.c</a:t>
            </a: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noProof="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C00000"/>
                </a:solidFill>
              </a:rPr>
              <a:t>CMD ["./</a:t>
            </a:r>
            <a:r>
              <a:rPr lang="en-US" noProof="0" dirty="0" err="1">
                <a:solidFill>
                  <a:srgbClr val="C00000"/>
                </a:solidFill>
              </a:rPr>
              <a:t>user_input</a:t>
            </a:r>
            <a:r>
              <a:rPr lang="en-US" noProof="0" dirty="0">
                <a:solidFill>
                  <a:srgbClr val="C00000"/>
                </a:solidFill>
              </a:rPr>
              <a:t>"]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804619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6069D-A737-CADE-51A9-728E2D80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034B4-2625-5B53-BE36-0FDF1DA8F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 and Execute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7D348-96B2-E59F-4A9F-E9C8FA1E5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# Build the Docker image</a:t>
            </a: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build   -t   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     .</a:t>
            </a:r>
          </a:p>
          <a:p>
            <a:endParaRPr lang="en-US" noProof="0" dirty="0"/>
          </a:p>
          <a:p>
            <a:r>
              <a:rPr lang="en-US" noProof="0" dirty="0"/>
              <a:t># Run the Docker container</a:t>
            </a: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run   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			</a:t>
            </a:r>
            <a:r>
              <a:rPr lang="en-US" sz="3600" b="1" noProof="0" dirty="0">
                <a:solidFill>
                  <a:srgbClr val="FF0000"/>
                </a:solidFill>
                <a:highlight>
                  <a:srgbClr val="FFFF00"/>
                </a:highlight>
              </a:rPr>
              <a:t>PROBLEM!</a:t>
            </a:r>
          </a:p>
          <a:p>
            <a:endParaRPr lang="en-US" sz="3600" b="1" noProof="0" dirty="0">
              <a:solidFill>
                <a:srgbClr val="FF0000"/>
              </a:solidFill>
            </a:endParaRP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run   -it       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</a:t>
            </a:r>
            <a:endParaRPr lang="en-US" b="1" noProof="0" dirty="0">
              <a:solidFill>
                <a:srgbClr val="FF0000"/>
              </a:solidFill>
            </a:endParaRPr>
          </a:p>
          <a:p>
            <a:endParaRPr lang="en-US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3649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80FC-500D-7970-ABD4-2C7CA0BB0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Push to </a:t>
            </a:r>
            <a:r>
              <a:rPr lang="en-US" noProof="0" dirty="0" err="1"/>
              <a:t>DockerHub</a:t>
            </a:r>
            <a:r>
              <a:rPr lang="en-US" noProof="0" dirty="0"/>
              <a:t> and Also Save As a tar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6FC9D-8B70-6582-6725-DCF926BFD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600" b="1" noProof="0" dirty="0">
                <a:solidFill>
                  <a:srgbClr val="FF0000"/>
                </a:solidFill>
              </a:rPr>
              <a:t>docker login</a:t>
            </a:r>
          </a:p>
          <a:p>
            <a:endParaRPr lang="en-US" sz="3600" noProof="0" dirty="0">
              <a:solidFill>
                <a:srgbClr val="FF0000"/>
              </a:solidFill>
            </a:endParaRP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 tag    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   </a:t>
            </a:r>
            <a:r>
              <a:rPr lang="en-US" sz="3600" b="1" noProof="0" dirty="0" err="1">
                <a:solidFill>
                  <a:srgbClr val="FF0000"/>
                </a:solidFill>
                <a:highlight>
                  <a:srgbClr val="FFFF00"/>
                </a:highlight>
              </a:rPr>
              <a:t>newdelthis</a:t>
            </a:r>
            <a:r>
              <a:rPr lang="en-US" sz="3600" b="1" noProof="0" dirty="0">
                <a:solidFill>
                  <a:srgbClr val="FF0000"/>
                </a:solidFill>
              </a:rPr>
              <a:t>/my-ditiss-c:1.0</a:t>
            </a:r>
          </a:p>
          <a:p>
            <a:endParaRPr lang="en-US" sz="3600" noProof="0" dirty="0">
              <a:solidFill>
                <a:srgbClr val="FF0000"/>
              </a:solidFill>
            </a:endParaRP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  push    </a:t>
            </a:r>
            <a:r>
              <a:rPr lang="en-US" sz="3600" b="1" noProof="0" dirty="0" err="1">
                <a:solidFill>
                  <a:srgbClr val="FF0000"/>
                </a:solidFill>
                <a:highlight>
                  <a:srgbClr val="FFFF00"/>
                </a:highlight>
              </a:rPr>
              <a:t>newdelthis</a:t>
            </a:r>
            <a:r>
              <a:rPr lang="en-US" sz="3600" b="1" noProof="0" dirty="0">
                <a:solidFill>
                  <a:srgbClr val="FF0000"/>
                </a:solidFill>
              </a:rPr>
              <a:t>/my-ditiss-c:1.0</a:t>
            </a:r>
          </a:p>
          <a:p>
            <a:endParaRPr lang="en-US" sz="3600" noProof="0" dirty="0">
              <a:solidFill>
                <a:srgbClr val="FF0000"/>
              </a:solidFill>
            </a:endParaRPr>
          </a:p>
          <a:p>
            <a:r>
              <a:rPr lang="en-US" sz="3600" b="1" noProof="0" dirty="0">
                <a:solidFill>
                  <a:srgbClr val="FF0000"/>
                </a:solidFill>
              </a:rPr>
              <a:t>docker 	save 		my-</a:t>
            </a:r>
            <a:r>
              <a:rPr lang="en-US" sz="3600" b="1" noProof="0" dirty="0" err="1">
                <a:solidFill>
                  <a:srgbClr val="FF0000"/>
                </a:solidFill>
              </a:rPr>
              <a:t>ditiss</a:t>
            </a:r>
            <a:r>
              <a:rPr lang="en-US" sz="3600" b="1" noProof="0" dirty="0">
                <a:solidFill>
                  <a:srgbClr val="FF0000"/>
                </a:solidFill>
              </a:rPr>
              <a:t>-c	   -o	cprogback.tar</a:t>
            </a:r>
          </a:p>
        </p:txBody>
      </p:sp>
    </p:spTree>
    <p:extLst>
      <p:ext uri="{BB962C8B-B14F-4D97-AF65-F5344CB8AC3E}">
        <p14:creationId xmlns:p14="http://schemas.microsoft.com/office/powerpoint/2010/main" val="10627735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D02A-7564-EA13-51B3-99A285B2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Web Application: Running a Tomcat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FF903-B125-00E8-2A0D-9DA570316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docker   run  -</a:t>
            </a:r>
            <a:r>
              <a:rPr lang="en-US" b="1" noProof="0" dirty="0" err="1"/>
              <a:t>dit</a:t>
            </a:r>
            <a:r>
              <a:rPr lang="en-US" b="1" noProof="0" dirty="0"/>
              <a:t>   --rm   --name   tomcat-container   -p   7777:8080 tomcat:8.0</a:t>
            </a:r>
          </a:p>
          <a:p>
            <a:r>
              <a:rPr lang="en-US" noProof="0" dirty="0"/>
              <a:t>Browser: localhost:7777</a:t>
            </a:r>
          </a:p>
          <a:p>
            <a:r>
              <a:rPr lang="en-US" b="1" noProof="0" dirty="0"/>
              <a:t>docker 	exec    -it   tomcat-container 	/bin/bash</a:t>
            </a:r>
          </a:p>
          <a:p>
            <a:pPr lvl="1"/>
            <a:r>
              <a:rPr lang="en-US" b="1" noProof="0" dirty="0"/>
              <a:t>cd   webapps/examples</a:t>
            </a:r>
          </a:p>
          <a:p>
            <a:pPr lvl="1"/>
            <a:r>
              <a:rPr lang="en-US" b="1" noProof="0" dirty="0"/>
              <a:t>echo   “Hello from DITISS” &gt; cdac.html</a:t>
            </a:r>
          </a:p>
          <a:p>
            <a:r>
              <a:rPr lang="en-US" noProof="0" dirty="0"/>
              <a:t>Browser: localhost:7777/examples/cdac.html</a:t>
            </a:r>
          </a:p>
          <a:p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29253586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3B86-AD4E-3D97-E091-2BF7666EC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90DC6-4195-5BBB-EF86-46AF55C9E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an httpd container running on port 8000</a:t>
            </a:r>
          </a:p>
          <a:p>
            <a:r>
              <a:rPr lang="en-US" noProof="0" dirty="0"/>
              <a:t>Name the container as web5</a:t>
            </a:r>
          </a:p>
          <a:p>
            <a:r>
              <a:rPr lang="en-US" noProof="0" dirty="0"/>
              <a:t>Do not map any directory</a:t>
            </a:r>
          </a:p>
          <a:p>
            <a:r>
              <a:rPr lang="en-US" noProof="0" dirty="0"/>
              <a:t>Create an “index.html” file &amp; copy this file inside the container and check if the website displays your webpage</a:t>
            </a:r>
          </a:p>
          <a:p>
            <a:r>
              <a:rPr lang="en-US" noProof="0" dirty="0"/>
              <a:t>Again, modify the “index.html” file and copy it inside the container, and check if the website is updated or not</a:t>
            </a:r>
          </a:p>
        </p:txBody>
      </p:sp>
    </p:spTree>
    <p:extLst>
      <p:ext uri="{BB962C8B-B14F-4D97-AF65-F5344CB8AC3E}">
        <p14:creationId xmlns:p14="http://schemas.microsoft.com/office/powerpoint/2010/main" val="17769814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0CC2-8A24-F31B-0A3F-3F3E7EDF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04978-D3EE-7CA5-5B18-A14409BEB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/>
              <a:t>docker   run   -</a:t>
            </a:r>
            <a:r>
              <a:rPr lang="en-US" noProof="0" dirty="0" err="1"/>
              <a:t>dit</a:t>
            </a:r>
            <a:r>
              <a:rPr lang="en-US" noProof="0" dirty="0"/>
              <a:t>   --name   web5   -p   7777:80   httpd</a:t>
            </a:r>
          </a:p>
          <a:p>
            <a:r>
              <a:rPr lang="en-US" noProof="0" dirty="0"/>
              <a:t>On the local machine, create index.html</a:t>
            </a:r>
          </a:p>
          <a:p>
            <a:r>
              <a:rPr lang="en-US" noProof="0" dirty="0"/>
              <a:t>&lt;html&gt;</a:t>
            </a:r>
          </a:p>
          <a:p>
            <a:r>
              <a:rPr lang="en-US" noProof="0" dirty="0"/>
              <a:t>&lt;body&gt;</a:t>
            </a:r>
          </a:p>
          <a:p>
            <a:r>
              <a:rPr lang="en-US" noProof="0" dirty="0"/>
              <a:t>    &lt;h1&gt;Hello from CDAC!&lt;/h1&gt;</a:t>
            </a:r>
          </a:p>
          <a:p>
            <a:r>
              <a:rPr lang="en-US" noProof="0" dirty="0"/>
              <a:t>&lt;/body&gt;</a:t>
            </a:r>
          </a:p>
          <a:p>
            <a:r>
              <a:rPr lang="en-US" noProof="0" dirty="0"/>
              <a:t>&lt;/html&gt;</a:t>
            </a:r>
          </a:p>
          <a:p>
            <a:r>
              <a:rPr lang="en-US" noProof="0" dirty="0"/>
              <a:t>docker  cp  index.html  web5:/</a:t>
            </a:r>
            <a:r>
              <a:rPr lang="en-US" noProof="0" dirty="0" err="1"/>
              <a:t>usr</a:t>
            </a:r>
            <a:r>
              <a:rPr lang="en-US" noProof="0" dirty="0"/>
              <a:t>/local/apache2/</a:t>
            </a:r>
            <a:r>
              <a:rPr lang="en-US" noProof="0" dirty="0" err="1"/>
              <a:t>htdocs</a:t>
            </a:r>
            <a:r>
              <a:rPr lang="en-US" noProof="0" dirty="0"/>
              <a:t>/index.html</a:t>
            </a:r>
          </a:p>
          <a:p>
            <a:r>
              <a:rPr lang="en-US" noProof="0" dirty="0"/>
              <a:t>Open browser: localhost:7777</a:t>
            </a:r>
          </a:p>
          <a:p>
            <a:r>
              <a:rPr lang="en-US" noProof="0" dirty="0"/>
              <a:t>Modify index.html to have  &lt;h1&gt;Hello from DITISS!&lt;/h1&gt;</a:t>
            </a:r>
          </a:p>
          <a:p>
            <a:r>
              <a:rPr lang="en-US" noProof="0" dirty="0"/>
              <a:t>docker   cp   index.html   web5:/</a:t>
            </a:r>
            <a:r>
              <a:rPr lang="en-US" noProof="0" dirty="0" err="1"/>
              <a:t>usr</a:t>
            </a:r>
            <a:r>
              <a:rPr lang="en-US" noProof="0" dirty="0"/>
              <a:t>/local/apache2/</a:t>
            </a:r>
            <a:r>
              <a:rPr lang="en-US" noProof="0" dirty="0" err="1"/>
              <a:t>htdocs</a:t>
            </a:r>
            <a:r>
              <a:rPr lang="en-US" noProof="0" dirty="0"/>
              <a:t>/index.html</a:t>
            </a:r>
          </a:p>
          <a:p>
            <a:r>
              <a:rPr lang="en-US" noProof="0" dirty="0"/>
              <a:t>Open browser: localhost:7777</a:t>
            </a:r>
          </a:p>
        </p:txBody>
      </p:sp>
    </p:spTree>
    <p:extLst>
      <p:ext uri="{BB962C8B-B14F-4D97-AF65-F5344CB8AC3E}">
        <p14:creationId xmlns:p14="http://schemas.microsoft.com/office/powerpoint/2010/main" val="25310629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097C-82B8-1ADA-4305-56CBCC29A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Volume and Docker Network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C907B-AF7B-BCC1-DC8E-67CC54123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a Tomcat container and a MySQL container</a:t>
            </a:r>
          </a:p>
          <a:p>
            <a:r>
              <a:rPr lang="en-US" noProof="0" dirty="0"/>
              <a:t>Put them in the same Docker network</a:t>
            </a:r>
          </a:p>
          <a:p>
            <a:r>
              <a:rPr lang="en-US" noProof="0" dirty="0"/>
              <a:t>From the Tomcat container, create a </a:t>
            </a:r>
            <a:r>
              <a:rPr lang="en-US" i="1" noProof="0" dirty="0"/>
              <a:t>Student </a:t>
            </a:r>
            <a:r>
              <a:rPr lang="en-US" noProof="0" dirty="0"/>
              <a:t>table in MySQL container</a:t>
            </a:r>
          </a:p>
          <a:p>
            <a:r>
              <a:rPr lang="en-US" noProof="0" dirty="0"/>
              <a:t>It will have three columns: PRN, Name, Course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EC3B8-58C2-44BE-AC97-A6C87F88EA45}"/>
              </a:ext>
            </a:extLst>
          </p:cNvPr>
          <p:cNvSpPr txBox="1"/>
          <p:nvPr/>
        </p:nvSpPr>
        <p:spPr>
          <a:xfrm>
            <a:off x="1021266" y="4336426"/>
            <a:ext cx="260752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/>
              <a:t>Tomcat container</a:t>
            </a:r>
            <a:endParaRPr lang="en-US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FFC50-983D-7034-88CC-C1381F8C4966}"/>
              </a:ext>
            </a:extLst>
          </p:cNvPr>
          <p:cNvSpPr txBox="1"/>
          <p:nvPr/>
        </p:nvSpPr>
        <p:spPr>
          <a:xfrm>
            <a:off x="7639298" y="4336426"/>
            <a:ext cx="2881661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/>
              <a:t>MySQL container</a:t>
            </a:r>
            <a:endParaRPr lang="en-US" b="1" noProof="0" dirty="0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71BB046E-3045-D67B-F0FC-FB8A4627E0CF}"/>
              </a:ext>
            </a:extLst>
          </p:cNvPr>
          <p:cNvSpPr/>
          <p:nvPr/>
        </p:nvSpPr>
        <p:spPr>
          <a:xfrm>
            <a:off x="3811859" y="4210635"/>
            <a:ext cx="3242076" cy="713245"/>
          </a:xfrm>
          <a:prstGeom prst="left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>
                <a:solidFill>
                  <a:schemeClr val="tx1"/>
                </a:solidFill>
              </a:rPr>
              <a:t>Custom Docker Network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17438E9B-721A-50C0-B7C0-53762FF082F6}"/>
              </a:ext>
            </a:extLst>
          </p:cNvPr>
          <p:cNvSpPr/>
          <p:nvPr/>
        </p:nvSpPr>
        <p:spPr>
          <a:xfrm>
            <a:off x="10535135" y="4090137"/>
            <a:ext cx="997646" cy="853213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Docker Volume</a:t>
            </a:r>
          </a:p>
        </p:txBody>
      </p:sp>
    </p:spTree>
    <p:extLst>
      <p:ext uri="{BB962C8B-B14F-4D97-AF65-F5344CB8AC3E}">
        <p14:creationId xmlns:p14="http://schemas.microsoft.com/office/powerpoint/2010/main" val="15975165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C3C33-C9D0-FF83-9127-E3C0F73BC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Networking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3B0EE-0ADC-4AD0-ABF7-E87FF2C2C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docker network create my-network</a:t>
            </a:r>
          </a:p>
          <a:p>
            <a:endParaRPr lang="en-US" b="1" noProof="0" dirty="0"/>
          </a:p>
          <a:p>
            <a:r>
              <a:rPr lang="en-US" b="1" noProof="0" dirty="0"/>
              <a:t>docker container run --name </a:t>
            </a:r>
            <a:r>
              <a:rPr lang="en-US" b="1" noProof="0" dirty="0" err="1"/>
              <a:t>mysql</a:t>
            </a:r>
            <a:r>
              <a:rPr lang="en-US" b="1" noProof="0" dirty="0"/>
              <a:t>-container -v /data/</a:t>
            </a:r>
            <a:r>
              <a:rPr lang="en-US" b="1" noProof="0" dirty="0" err="1"/>
              <a:t>mysql_data</a:t>
            </a:r>
            <a:r>
              <a:rPr lang="en-US" b="1" noProof="0" dirty="0"/>
              <a:t>:/var/lib/</a:t>
            </a:r>
            <a:r>
              <a:rPr lang="en-US" b="1" noProof="0" dirty="0" err="1"/>
              <a:t>mysql</a:t>
            </a:r>
            <a:r>
              <a:rPr lang="en-US" b="1" noProof="0" dirty="0"/>
              <a:t> --network my-network -e MYSQL_ROOT_PASSWORD=pass -d </a:t>
            </a:r>
            <a:r>
              <a:rPr lang="en-US" b="1" noProof="0" dirty="0" err="1"/>
              <a:t>mysql:latest</a:t>
            </a:r>
            <a:endParaRPr lang="en-US" b="1" noProof="0" dirty="0"/>
          </a:p>
          <a:p>
            <a:endParaRPr lang="en-US" noProof="0" dirty="0"/>
          </a:p>
          <a:p>
            <a:r>
              <a:rPr lang="en-US" b="1" noProof="0" dirty="0"/>
              <a:t>docker container run --name tomcat-container --network my-network -p 7777:8080 -v /data/</a:t>
            </a:r>
            <a:r>
              <a:rPr lang="en-US" b="1" noProof="0" dirty="0" err="1"/>
              <a:t>mytomcat_data</a:t>
            </a:r>
            <a:r>
              <a:rPr lang="en-US" b="1" noProof="0" dirty="0"/>
              <a:t>:/</a:t>
            </a:r>
            <a:r>
              <a:rPr lang="en-US" b="1" noProof="0" dirty="0" err="1"/>
              <a:t>usr</a:t>
            </a:r>
            <a:r>
              <a:rPr lang="en-US" b="1" noProof="0" dirty="0"/>
              <a:t>/local/tomcat/webapps -d tomcat:8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6963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C3C33-C9D0-FF83-9127-E3C0F73BC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Networking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3B0EE-0ADC-4AD0-ABF7-E87FF2C2C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Connect to the Tomcat container and verify that it can access MySQL</a:t>
            </a:r>
          </a:p>
          <a:p>
            <a:pPr lvl="1"/>
            <a:r>
              <a:rPr lang="en-US" b="1" noProof="0" dirty="0"/>
              <a:t>docker exec -it tomcat-container /bin/bash</a:t>
            </a:r>
          </a:p>
          <a:p>
            <a:pPr lvl="1"/>
            <a:r>
              <a:rPr lang="en-US" b="1" noProof="0" dirty="0"/>
              <a:t>apt-get update</a:t>
            </a:r>
          </a:p>
          <a:p>
            <a:pPr lvl="1"/>
            <a:r>
              <a:rPr lang="en-US" b="1" noProof="0" dirty="0"/>
              <a:t>apt-get install -y </a:t>
            </a:r>
            <a:r>
              <a:rPr lang="en-US" b="1" noProof="0" dirty="0" err="1"/>
              <a:t>mysql</a:t>
            </a:r>
            <a:r>
              <a:rPr lang="en-US" b="1" noProof="0" dirty="0"/>
              <a:t>-client</a:t>
            </a:r>
          </a:p>
          <a:p>
            <a:pPr lvl="1"/>
            <a:r>
              <a:rPr lang="en-US" b="1" noProof="0" dirty="0" err="1"/>
              <a:t>mysql</a:t>
            </a:r>
            <a:r>
              <a:rPr lang="en-US" b="1" noProof="0" dirty="0"/>
              <a:t> -h </a:t>
            </a:r>
            <a:r>
              <a:rPr lang="en-US" b="1" noProof="0" dirty="0" err="1"/>
              <a:t>mysql</a:t>
            </a:r>
            <a:r>
              <a:rPr lang="en-US" b="1" noProof="0" dirty="0"/>
              <a:t>-container -</a:t>
            </a:r>
            <a:r>
              <a:rPr lang="en-US" b="1" noProof="0" dirty="0" err="1"/>
              <a:t>uroot</a:t>
            </a:r>
            <a:r>
              <a:rPr lang="en-US" b="1" noProof="0" dirty="0"/>
              <a:t> -</a:t>
            </a:r>
            <a:r>
              <a:rPr lang="en-US" b="1" noProof="0" dirty="0" err="1"/>
              <a:t>ppass</a:t>
            </a:r>
            <a:endParaRPr lang="en-US" b="1" noProof="0" dirty="0"/>
          </a:p>
          <a:p>
            <a:r>
              <a:rPr lang="en-US" noProof="0" dirty="0"/>
              <a:t>Create a database, a table, and add 1 row:</a:t>
            </a:r>
          </a:p>
          <a:p>
            <a:pPr lvl="1"/>
            <a:r>
              <a:rPr lang="en-US" noProof="0" dirty="0"/>
              <a:t>CREATE DATABASE </a:t>
            </a:r>
            <a:r>
              <a:rPr lang="en-US" noProof="0" dirty="0" err="1"/>
              <a:t>ditiss</a:t>
            </a:r>
            <a:r>
              <a:rPr lang="en-US" noProof="0" dirty="0"/>
              <a:t>;</a:t>
            </a:r>
          </a:p>
          <a:p>
            <a:pPr lvl="1"/>
            <a:r>
              <a:rPr lang="en-US" noProof="0" dirty="0"/>
              <a:t>USE </a:t>
            </a:r>
            <a:r>
              <a:rPr lang="en-US" noProof="0" dirty="0" err="1"/>
              <a:t>ditiss</a:t>
            </a:r>
            <a:r>
              <a:rPr lang="en-US" noProof="0" dirty="0"/>
              <a:t>;</a:t>
            </a:r>
          </a:p>
          <a:p>
            <a:pPr lvl="1"/>
            <a:r>
              <a:rPr lang="en-US" noProof="0" dirty="0"/>
              <a:t>CREATE TABLE </a:t>
            </a:r>
            <a:r>
              <a:rPr lang="en-US" noProof="0" dirty="0" err="1"/>
              <a:t>student_tbl</a:t>
            </a:r>
            <a:r>
              <a:rPr lang="en-US" noProof="0" dirty="0"/>
              <a:t> (prn integer, name char(30));</a:t>
            </a:r>
          </a:p>
          <a:p>
            <a:pPr lvl="1"/>
            <a:r>
              <a:rPr lang="en-US" noProof="0" dirty="0"/>
              <a:t>INSERT INTO </a:t>
            </a:r>
            <a:r>
              <a:rPr lang="en-US" noProof="0" dirty="0" err="1"/>
              <a:t>student_tbl</a:t>
            </a:r>
            <a:r>
              <a:rPr lang="en-US" noProof="0" dirty="0"/>
              <a:t> VALUES (1, “My name”);</a:t>
            </a:r>
          </a:p>
          <a:p>
            <a:pPr lvl="1"/>
            <a:r>
              <a:rPr lang="en-US" noProof="0" dirty="0"/>
              <a:t>SELECT * FROM </a:t>
            </a:r>
            <a:r>
              <a:rPr lang="en-US" noProof="0" dirty="0" err="1"/>
              <a:t>student_tbl</a:t>
            </a:r>
            <a:r>
              <a:rPr lang="en-US" noProof="0" dirty="0"/>
              <a:t>;</a:t>
            </a:r>
          </a:p>
          <a:p>
            <a:pPr lvl="1"/>
            <a:endParaRPr lang="en-US" b="1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00307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1A86-8E3C-9FEF-2774-7EF5CCB27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5496"/>
          </a:xfrm>
        </p:spPr>
        <p:txBody>
          <a:bodyPr/>
          <a:lstStyle/>
          <a:p>
            <a:r>
              <a:rPr lang="en-US" noProof="0" dirty="0"/>
              <a:t>Docker Compose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EF116F1-8DB1-15F0-7B41-59DBB34F6C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6784436"/>
              </p:ext>
            </p:extLst>
          </p:nvPr>
        </p:nvGraphicFramePr>
        <p:xfrm>
          <a:off x="838200" y="838909"/>
          <a:ext cx="10515600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069387">
                  <a:extLst>
                    <a:ext uri="{9D8B030D-6E8A-4147-A177-3AD203B41FA5}">
                      <a16:colId xmlns:a16="http://schemas.microsoft.com/office/drawing/2014/main" val="3982211168"/>
                    </a:ext>
                  </a:extLst>
                </a:gridCol>
                <a:gridCol w="8446213">
                  <a:extLst>
                    <a:ext uri="{9D8B030D-6E8A-4147-A177-3AD203B41FA5}">
                      <a16:colId xmlns:a16="http://schemas.microsoft.com/office/drawing/2014/main" val="29000194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Aspect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Explanation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6324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What is it?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Tool to run </a:t>
                      </a:r>
                      <a:r>
                        <a:rPr lang="en-US" sz="2400" b="1" noProof="0" dirty="0"/>
                        <a:t>multiple containers together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794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File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docker-</a:t>
                      </a:r>
                      <a:r>
                        <a:rPr lang="en-US" sz="2400" noProof="0" dirty="0" err="1"/>
                        <a:t>compose.yml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482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Define and manage multi-container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31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Web app + Database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41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Key idea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Everything defined in a </a:t>
                      </a:r>
                      <a:r>
                        <a:rPr lang="en-US" sz="2400" b="1" noProof="0" dirty="0"/>
                        <a:t>single YAML file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56324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CFA2E62-42E2-7108-F199-F6A220251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616415"/>
              </p:ext>
            </p:extLst>
          </p:nvPr>
        </p:nvGraphicFramePr>
        <p:xfrm>
          <a:off x="838200" y="3703343"/>
          <a:ext cx="10515600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908461">
                  <a:extLst>
                    <a:ext uri="{9D8B030D-6E8A-4147-A177-3AD203B41FA5}">
                      <a16:colId xmlns:a16="http://schemas.microsoft.com/office/drawing/2014/main" val="525296855"/>
                    </a:ext>
                  </a:extLst>
                </a:gridCol>
                <a:gridCol w="6607139">
                  <a:extLst>
                    <a:ext uri="{9D8B030D-6E8A-4147-A177-3AD203B41FA5}">
                      <a16:colId xmlns:a16="http://schemas.microsoft.com/office/drawing/2014/main" val="1669420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Command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Purpose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843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compose 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Start all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375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compose up -d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Run in background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663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compose down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Stop and remove 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10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docker compose </a:t>
                      </a:r>
                      <a:r>
                        <a:rPr lang="en-US" sz="2400" noProof="0" dirty="0" err="1"/>
                        <a:t>ps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139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5071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0ED5-54C0-625E-70AD-AC7A2472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Compose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A31BF-1E37-75B2-BBAB-CE423BF99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cd    ~</a:t>
            </a:r>
          </a:p>
          <a:p>
            <a:r>
              <a:rPr lang="en-US" dirty="0" err="1"/>
              <a:t>mkdir</a:t>
            </a:r>
            <a:r>
              <a:rPr lang="en-US" dirty="0"/>
              <a:t>    </a:t>
            </a:r>
            <a:r>
              <a:rPr lang="en-US" dirty="0" err="1"/>
              <a:t>docker_compose_files</a:t>
            </a:r>
            <a:endParaRPr lang="en-US" dirty="0"/>
          </a:p>
          <a:p>
            <a:r>
              <a:rPr lang="en-US" dirty="0"/>
              <a:t>cd         </a:t>
            </a:r>
            <a:r>
              <a:rPr lang="en-US" dirty="0" err="1"/>
              <a:t>docker_compose_files</a:t>
            </a:r>
            <a:endParaRPr lang="en-US" noProof="0" dirty="0"/>
          </a:p>
          <a:p>
            <a:r>
              <a:rPr lang="en-US" noProof="0" dirty="0"/>
              <a:t>Download </a:t>
            </a:r>
            <a:r>
              <a:rPr lang="en-US" noProof="0" dirty="0">
                <a:hlinkClick r:id="rId2"/>
              </a:rPr>
              <a:t>https://github.com/newdelthis/demo/blob/main/docker-compose.yml</a:t>
            </a:r>
            <a:r>
              <a:rPr lang="en-US" noProof="0" dirty="0"/>
              <a:t>   in this directory</a:t>
            </a:r>
          </a:p>
          <a:p>
            <a:r>
              <a:rPr lang="en-US" dirty="0"/>
              <a:t>Run: </a:t>
            </a:r>
            <a:r>
              <a:rPr lang="en-US" b="1" dirty="0"/>
              <a:t>docker compose up</a:t>
            </a:r>
            <a:endParaRPr lang="en-US" b="1" noProof="0" dirty="0"/>
          </a:p>
          <a:p>
            <a:r>
              <a:rPr lang="en-US" noProof="0" dirty="0"/>
              <a:t>Browser</a:t>
            </a:r>
          </a:p>
          <a:p>
            <a:pPr lvl="1"/>
            <a:r>
              <a:rPr lang="en-US" noProof="0" dirty="0"/>
              <a:t>localhost:8080 -&gt; nginx</a:t>
            </a:r>
          </a:p>
          <a:p>
            <a:pPr lvl="1"/>
            <a:r>
              <a:rPr lang="en-US" noProof="0" dirty="0"/>
              <a:t>localhost:8081 -&gt; </a:t>
            </a:r>
            <a:r>
              <a:rPr lang="en-US" noProof="0" dirty="0" err="1"/>
              <a:t>PHPMyAdmin</a:t>
            </a:r>
            <a:r>
              <a:rPr lang="en-US" noProof="0" dirty="0"/>
              <a:t> (User = root, Password = root123)</a:t>
            </a:r>
          </a:p>
          <a:p>
            <a:r>
              <a:rPr lang="en-US" dirty="0"/>
              <a:t>Run: </a:t>
            </a:r>
            <a:r>
              <a:rPr lang="en-US" b="1" dirty="0"/>
              <a:t>docker compose down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8110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C9FD2-97BB-A6B5-36BA-CD126174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2823E-4F22-4D37-FA1C-BDED45883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Write the top-level section: services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services:</a:t>
            </a:r>
          </a:p>
          <a:p>
            <a:pPr marL="0" indent="0">
              <a:buNone/>
            </a:pPr>
            <a:r>
              <a:rPr lang="en-US" noProof="0" dirty="0"/>
              <a:t>   web:</a:t>
            </a:r>
          </a:p>
          <a:p>
            <a:pPr marL="0" indent="0">
              <a:buNone/>
            </a:pPr>
            <a:r>
              <a:rPr lang="en-US" noProof="0" dirty="0"/>
              <a:t>   </a:t>
            </a:r>
            <a:r>
              <a:rPr lang="en-US" noProof="0" dirty="0" err="1"/>
              <a:t>db</a:t>
            </a:r>
            <a:r>
              <a:rPr lang="en-US" noProof="0" dirty="0"/>
              <a:t>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4FB4D0-89C1-D675-F255-AB60EFA80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875598"/>
              </p:ext>
            </p:extLst>
          </p:nvPr>
        </p:nvGraphicFramePr>
        <p:xfrm>
          <a:off x="1074505" y="2330716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44740">
                  <a:extLst>
                    <a:ext uri="{9D8B030D-6E8A-4147-A177-3AD203B41FA5}">
                      <a16:colId xmlns:a16="http://schemas.microsoft.com/office/drawing/2014/main" val="2252397583"/>
                    </a:ext>
                  </a:extLst>
                </a:gridCol>
                <a:gridCol w="7870860">
                  <a:extLst>
                    <a:ext uri="{9D8B030D-6E8A-4147-A177-3AD203B41FA5}">
                      <a16:colId xmlns:a16="http://schemas.microsoft.com/office/drawing/2014/main" val="679156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Keyword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Meaning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802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services: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List of containers to run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6358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385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5DBBA-42A1-3348-C12C-41509C7C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4BF1-1662-A769-4BD2-3B3DB672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CB1D4-ADE5-466E-54C0-40F9DDEB8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Give each service an image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services:</a:t>
            </a:r>
          </a:p>
          <a:p>
            <a:pPr marL="0" indent="0">
              <a:buNone/>
            </a:pPr>
            <a:r>
              <a:rPr lang="en-US" noProof="0" dirty="0"/>
              <a:t>    web:</a:t>
            </a:r>
          </a:p>
          <a:p>
            <a:pPr marL="0" indent="0">
              <a:buNone/>
            </a:pPr>
            <a:r>
              <a:rPr lang="en-US" noProof="0" dirty="0"/>
              <a:t>          image: nginx</a:t>
            </a:r>
          </a:p>
          <a:p>
            <a:pPr marL="0" indent="0">
              <a:buNone/>
            </a:pPr>
            <a:r>
              <a:rPr lang="en-US" noProof="0" dirty="0"/>
              <a:t>    </a:t>
            </a:r>
            <a:r>
              <a:rPr lang="en-US" noProof="0" dirty="0" err="1"/>
              <a:t>db</a:t>
            </a:r>
            <a:r>
              <a:rPr lang="en-US" noProof="0" dirty="0"/>
              <a:t>:</a:t>
            </a:r>
          </a:p>
          <a:p>
            <a:pPr marL="0" indent="0">
              <a:buNone/>
            </a:pPr>
            <a:r>
              <a:rPr lang="en-US" noProof="0" dirty="0"/>
              <a:t>          image: mysql:8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38F71A-20CB-6F0D-D515-8FC953EB1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103261"/>
              </p:ext>
            </p:extLst>
          </p:nvPr>
        </p:nvGraphicFramePr>
        <p:xfrm>
          <a:off x="951215" y="2402635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428983">
                  <a:extLst>
                    <a:ext uri="{9D8B030D-6E8A-4147-A177-3AD203B41FA5}">
                      <a16:colId xmlns:a16="http://schemas.microsoft.com/office/drawing/2014/main" val="90908612"/>
                    </a:ext>
                  </a:extLst>
                </a:gridCol>
                <a:gridCol w="4581417">
                  <a:extLst>
                    <a:ext uri="{9D8B030D-6E8A-4147-A177-3AD203B41FA5}">
                      <a16:colId xmlns:a16="http://schemas.microsoft.com/office/drawing/2014/main" val="19223760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35809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Key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Meaning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441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image: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Which ready image to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nginx, 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585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9621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C9B54-17D2-E638-1D3E-D1B94777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08BE-A2B6-F9F8-A7D7-9DE45535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39E2-D568-6586-E7E8-84B01F099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Add ports if needed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dirty="0"/>
              <a:t>services:</a:t>
            </a:r>
          </a:p>
          <a:p>
            <a:pPr marL="0" indent="0">
              <a:buNone/>
            </a:pPr>
            <a:r>
              <a:rPr lang="en-US" dirty="0"/>
              <a:t>     web:</a:t>
            </a:r>
          </a:p>
          <a:p>
            <a:pPr marL="0" indent="0">
              <a:buNone/>
            </a:pPr>
            <a:r>
              <a:rPr lang="en-US" dirty="0"/>
              <a:t>           image: nginx</a:t>
            </a:r>
          </a:p>
          <a:p>
            <a:pPr marL="0" indent="0">
              <a:buNone/>
            </a:pPr>
            <a:r>
              <a:rPr lang="en-US" dirty="0"/>
              <a:t>           ports:</a:t>
            </a:r>
          </a:p>
          <a:p>
            <a:pPr marL="0" indent="0">
              <a:buNone/>
            </a:pPr>
            <a:r>
              <a:rPr lang="en-US" dirty="0"/>
              <a:t>                - "8080:80"</a:t>
            </a:r>
            <a:endParaRPr lang="en-US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D4A841-D480-7DA2-DF3F-5365473A0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437333"/>
              </p:ext>
            </p:extLst>
          </p:nvPr>
        </p:nvGraphicFramePr>
        <p:xfrm>
          <a:off x="992312" y="2371813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726933">
                  <a:extLst>
                    <a:ext uri="{9D8B030D-6E8A-4147-A177-3AD203B41FA5}">
                      <a16:colId xmlns:a16="http://schemas.microsoft.com/office/drawing/2014/main" val="3911174403"/>
                    </a:ext>
                  </a:extLst>
                </a:gridCol>
                <a:gridCol w="4283467">
                  <a:extLst>
                    <a:ext uri="{9D8B030D-6E8A-4147-A177-3AD203B41FA5}">
                      <a16:colId xmlns:a16="http://schemas.microsoft.com/office/drawing/2014/main" val="42813801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1703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Key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Meaning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 dirty="0"/>
                        <a:t>Example</a:t>
                      </a:r>
                      <a:endParaRPr lang="en-US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659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ports: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Map host port to container 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noProof="0" dirty="0"/>
                        <a:t>"8080:80"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346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76128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F444A-F4A5-A18C-120D-DF77209D3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7B14-72B7-120F-67DA-78E3FD6E7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CF41D-A5B5-1E55-4110-E12FCE226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Add environment variables if needed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dirty="0"/>
              <a:t>services: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db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image: mysql:8</a:t>
            </a:r>
          </a:p>
          <a:p>
            <a:pPr marL="0" indent="0">
              <a:buNone/>
            </a:pPr>
            <a:r>
              <a:rPr lang="en-US" dirty="0"/>
              <a:t>          environment:</a:t>
            </a:r>
          </a:p>
          <a:p>
            <a:pPr marL="0" indent="0">
              <a:buNone/>
            </a:pPr>
            <a:r>
              <a:rPr lang="en-US" dirty="0"/>
              <a:t>               MYSQL_ROOT_PASSWORD: root123</a:t>
            </a:r>
          </a:p>
          <a:p>
            <a:pPr marL="0" indent="0">
              <a:buNone/>
            </a:pPr>
            <a:r>
              <a:rPr lang="en-US" dirty="0"/>
              <a:t>               MYSQL_DATABASE: </a:t>
            </a:r>
            <a:r>
              <a:rPr lang="en-US" dirty="0" err="1"/>
              <a:t>cdac</a:t>
            </a:r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D84B86-CF29-4F28-D2B6-D326C045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643064"/>
              </p:ext>
            </p:extLst>
          </p:nvPr>
        </p:nvGraphicFramePr>
        <p:xfrm>
          <a:off x="756006" y="2279345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850223">
                  <a:extLst>
                    <a:ext uri="{9D8B030D-6E8A-4147-A177-3AD203B41FA5}">
                      <a16:colId xmlns:a16="http://schemas.microsoft.com/office/drawing/2014/main" val="4044055182"/>
                    </a:ext>
                  </a:extLst>
                </a:gridCol>
                <a:gridCol w="3708971">
                  <a:extLst>
                    <a:ext uri="{9D8B030D-6E8A-4147-A177-3AD203B41FA5}">
                      <a16:colId xmlns:a16="http://schemas.microsoft.com/office/drawing/2014/main" val="2046046648"/>
                    </a:ext>
                  </a:extLst>
                </a:gridCol>
                <a:gridCol w="3956406">
                  <a:extLst>
                    <a:ext uri="{9D8B030D-6E8A-4147-A177-3AD203B41FA5}">
                      <a16:colId xmlns:a16="http://schemas.microsoft.com/office/drawing/2014/main" val="1551532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Key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Meaning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Example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53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environment: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Pass settings into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MySQL password, DB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629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21495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CA006-A662-3CEF-6988-34F10D9D8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3942-5467-DCF3-4E05-B69B928F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A057F-13A2-3F40-A9B2-097F8A3A0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Add volumes if needed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dirty="0"/>
              <a:t>services: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db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image: mysql:8</a:t>
            </a:r>
          </a:p>
          <a:p>
            <a:pPr marL="0" indent="0">
              <a:buNone/>
            </a:pPr>
            <a:r>
              <a:rPr lang="en-US" dirty="0"/>
              <a:t>         environment:</a:t>
            </a:r>
          </a:p>
          <a:p>
            <a:pPr marL="0" indent="0">
              <a:buNone/>
            </a:pPr>
            <a:r>
              <a:rPr lang="en-US" dirty="0"/>
              <a:t>              MYSQL_ROOT_PASSWORD: root123</a:t>
            </a:r>
          </a:p>
          <a:p>
            <a:pPr marL="0" indent="0">
              <a:buNone/>
            </a:pPr>
            <a:r>
              <a:rPr lang="en-US" dirty="0"/>
              <a:t>          volumes:</a:t>
            </a:r>
          </a:p>
          <a:p>
            <a:pPr marL="0" indent="0">
              <a:buNone/>
            </a:pPr>
            <a:r>
              <a:rPr lang="en-US" dirty="0"/>
              <a:t>               - </a:t>
            </a:r>
            <a:r>
              <a:rPr lang="en-US" dirty="0" err="1"/>
              <a:t>mysql</a:t>
            </a:r>
            <a:r>
              <a:rPr lang="en-US" dirty="0"/>
              <a:t>-data:/var/lib/</a:t>
            </a:r>
            <a:r>
              <a:rPr lang="en-US" dirty="0" err="1"/>
              <a:t>mysql</a:t>
            </a:r>
            <a:endParaRPr lang="en-US" noProof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C1423D-71DE-D141-EDC7-D6A0AA651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570014"/>
              </p:ext>
            </p:extLst>
          </p:nvPr>
        </p:nvGraphicFramePr>
        <p:xfrm>
          <a:off x="838200" y="2203831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230366">
                  <a:extLst>
                    <a:ext uri="{9D8B030D-6E8A-4147-A177-3AD203B41FA5}">
                      <a16:colId xmlns:a16="http://schemas.microsoft.com/office/drawing/2014/main" val="1371263517"/>
                    </a:ext>
                  </a:extLst>
                </a:gridCol>
                <a:gridCol w="3780034">
                  <a:extLst>
                    <a:ext uri="{9D8B030D-6E8A-4147-A177-3AD203B41FA5}">
                      <a16:colId xmlns:a16="http://schemas.microsoft.com/office/drawing/2014/main" val="2720079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249767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Key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Meaning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Example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884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volumes: under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Attach storage to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mysql</a:t>
                      </a:r>
                      <a:r>
                        <a:rPr lang="en-IN" sz="2400" dirty="0"/>
                        <a:t>-data:/var/lib/</a:t>
                      </a:r>
                      <a:r>
                        <a:rPr lang="en-IN" sz="2400" dirty="0" err="1"/>
                        <a:t>mysql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0700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205244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51BB2-3C7F-F526-39B6-0894A746B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5709-A931-FBB8-4D0A-3617FDAE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 Docker Compose </a:t>
            </a:r>
            <a:r>
              <a:rPr lang="en-US" noProof="0" dirty="0" err="1"/>
              <a:t>yaml</a:t>
            </a:r>
            <a:r>
              <a:rPr lang="en-US" noProof="0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A18F0-04F2-E41E-70D6-E9B50F026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Add container name if needed</a:t>
            </a:r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dirty="0"/>
              <a:t>services: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db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image: mysql:8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container_name</a:t>
            </a:r>
            <a:r>
              <a:rPr lang="en-US" dirty="0"/>
              <a:t>: my-</a:t>
            </a:r>
            <a:r>
              <a:rPr lang="en-US" dirty="0" err="1"/>
              <a:t>mysql</a:t>
            </a:r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F23789-C7EC-E2D6-191B-840F53583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33007"/>
              </p:ext>
            </p:extLst>
          </p:nvPr>
        </p:nvGraphicFramePr>
        <p:xfrm>
          <a:off x="910119" y="2248522"/>
          <a:ext cx="10515600" cy="914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8080357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073731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65377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Key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Meaning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Example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45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container_name: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Give fixed container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my-</a:t>
                      </a:r>
                      <a:r>
                        <a:rPr lang="en-IN" sz="2400" dirty="0" err="1"/>
                        <a:t>mysql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885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7760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A9BCC-D379-A327-B16F-BDEAFB11C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Compose File: Key Points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F57736-D9FF-D919-8ADE-9E9E994C51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762273"/>
              </p:ext>
            </p:extLst>
          </p:nvPr>
        </p:nvGraphicFramePr>
        <p:xfrm>
          <a:off x="838200" y="1600200"/>
          <a:ext cx="10515600" cy="4114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189270">
                  <a:extLst>
                    <a:ext uri="{9D8B030D-6E8A-4147-A177-3AD203B41FA5}">
                      <a16:colId xmlns:a16="http://schemas.microsoft.com/office/drawing/2014/main" val="632446385"/>
                    </a:ext>
                  </a:extLst>
                </a:gridCol>
                <a:gridCol w="7326330">
                  <a:extLst>
                    <a:ext uri="{9D8B030D-6E8A-4147-A177-3AD203B41FA5}">
                      <a16:colId xmlns:a16="http://schemas.microsoft.com/office/drawing/2014/main" val="21165698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Line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Meaning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182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services: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Start defining containers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92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web: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First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1712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image: nginx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 NGINX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541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ports: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Expose 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981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db: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Second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037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image: mysql:8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 MySQL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environment: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Set MySQL variables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286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volumes: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Store DB data persistently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181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63045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A0E0-7E2D-9A33-631A-39B298FD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65D7C-2322-851E-85C0-B8710223C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Docker compose</a:t>
            </a:r>
            <a:r>
              <a:rPr lang="en-US" noProof="0" dirty="0"/>
              <a:t>: Tool for automating the building and running of containers</a:t>
            </a:r>
          </a:p>
          <a:p>
            <a:r>
              <a:rPr lang="en-US" noProof="0" dirty="0"/>
              <a:t>How: Create a docker-</a:t>
            </a:r>
            <a:r>
              <a:rPr lang="en-US" noProof="0" dirty="0" err="1"/>
              <a:t>compose.yml</a:t>
            </a:r>
            <a:r>
              <a:rPr lang="en-US" noProof="0" dirty="0"/>
              <a:t> file</a:t>
            </a:r>
          </a:p>
          <a:p>
            <a:r>
              <a:rPr lang="en-US" noProof="0" dirty="0"/>
              <a:t>docker-</a:t>
            </a:r>
            <a:r>
              <a:rPr lang="en-US" noProof="0" dirty="0" err="1"/>
              <a:t>compose.yml</a:t>
            </a:r>
            <a:r>
              <a:rPr lang="en-US" noProof="0" dirty="0"/>
              <a:t>: Replaces the </a:t>
            </a:r>
            <a:r>
              <a:rPr lang="en-US" b="1" noProof="0" dirty="0"/>
              <a:t>docker build</a:t>
            </a:r>
            <a:r>
              <a:rPr lang="en-US" noProof="0" dirty="0"/>
              <a:t> and </a:t>
            </a:r>
            <a:r>
              <a:rPr lang="en-US" b="1" noProof="0" dirty="0"/>
              <a:t>docker run</a:t>
            </a:r>
            <a:r>
              <a:rPr lang="en-US" noProof="0" dirty="0"/>
              <a:t> commands</a:t>
            </a:r>
          </a:p>
          <a:p>
            <a:r>
              <a:rPr lang="en-US" noProof="0" dirty="0" err="1"/>
              <a:t>Dockerfile</a:t>
            </a:r>
            <a:r>
              <a:rPr lang="en-US" noProof="0" dirty="0"/>
              <a:t>: Will still be needed for the actual step-by-step </a:t>
            </a:r>
            <a:r>
              <a:rPr lang="en-US" noProof="0" dirty="0" err="1"/>
              <a:t>instructionns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A8EA1-11B7-797D-2A3E-258C6A71E0CF}"/>
              </a:ext>
            </a:extLst>
          </p:cNvPr>
          <p:cNvSpPr txBox="1"/>
          <p:nvPr/>
        </p:nvSpPr>
        <p:spPr>
          <a:xfrm>
            <a:off x="530298" y="5161300"/>
            <a:ext cx="2799907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 err="1">
                <a:solidFill>
                  <a:srgbClr val="FF0000"/>
                </a:solidFill>
              </a:rPr>
              <a:t>Dockerfile</a:t>
            </a:r>
            <a:endParaRPr lang="en-US" sz="2000" b="1" noProof="0" dirty="0">
              <a:solidFill>
                <a:srgbClr val="FF0000"/>
              </a:solidFill>
            </a:endParaRPr>
          </a:p>
          <a:p>
            <a:r>
              <a:rPr lang="en-US" sz="2000" noProof="0" dirty="0"/>
              <a:t>Usual details for creating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65E2D-E959-4C0E-A1D5-46462CC72262}"/>
              </a:ext>
            </a:extLst>
          </p:cNvPr>
          <p:cNvSpPr txBox="1"/>
          <p:nvPr/>
        </p:nvSpPr>
        <p:spPr>
          <a:xfrm>
            <a:off x="3711204" y="5161299"/>
            <a:ext cx="3184453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rgbClr val="FF0000"/>
                </a:solidFill>
              </a:rPr>
              <a:t>docker-</a:t>
            </a:r>
            <a:r>
              <a:rPr lang="en-US" sz="2000" b="1" noProof="0" dirty="0" err="1">
                <a:solidFill>
                  <a:srgbClr val="FF0000"/>
                </a:solidFill>
              </a:rPr>
              <a:t>compose.yml</a:t>
            </a:r>
            <a:endParaRPr lang="en-US" sz="2000" b="1" noProof="0" dirty="0">
              <a:solidFill>
                <a:srgbClr val="FF0000"/>
              </a:solidFill>
            </a:endParaRPr>
          </a:p>
          <a:p>
            <a:r>
              <a:rPr lang="en-US" sz="2000" noProof="0" dirty="0"/>
              <a:t>Replaces the </a:t>
            </a:r>
            <a:r>
              <a:rPr lang="en-US" sz="2000" b="1" noProof="0" dirty="0"/>
              <a:t>docker build</a:t>
            </a:r>
            <a:r>
              <a:rPr lang="en-US" sz="2000" noProof="0" dirty="0"/>
              <a:t> and </a:t>
            </a:r>
            <a:r>
              <a:rPr lang="en-US" sz="2000" b="1" noProof="0" dirty="0"/>
              <a:t>docker run</a:t>
            </a:r>
            <a:r>
              <a:rPr lang="en-US" sz="2000" noProof="0" dirty="0"/>
              <a:t> commands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FB128A-3918-3685-6B6C-B0FBB0CEB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254214" y="4323907"/>
            <a:ext cx="1784498" cy="17844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845035-7CCB-EA5E-CD2F-C6F462167934}"/>
              </a:ext>
            </a:extLst>
          </p:cNvPr>
          <p:cNvSpPr txBox="1"/>
          <p:nvPr/>
        </p:nvSpPr>
        <p:spPr>
          <a:xfrm>
            <a:off x="7390069" y="5161299"/>
            <a:ext cx="2799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</a:rPr>
              <a:t>docker compose build</a:t>
            </a:r>
          </a:p>
          <a:p>
            <a:r>
              <a:rPr lang="en-US" b="1" noProof="0" dirty="0">
                <a:solidFill>
                  <a:srgbClr val="FF0000"/>
                </a:solidFill>
              </a:rPr>
              <a:t>docker compose up</a:t>
            </a:r>
          </a:p>
          <a:p>
            <a:r>
              <a:rPr lang="en-US" b="1" noProof="0" dirty="0">
                <a:solidFill>
                  <a:srgbClr val="FF0000"/>
                </a:solidFill>
              </a:rPr>
              <a:t>docker compose down</a:t>
            </a:r>
          </a:p>
        </p:txBody>
      </p:sp>
    </p:spTree>
    <p:extLst>
      <p:ext uri="{BB962C8B-B14F-4D97-AF65-F5344CB8AC3E}">
        <p14:creationId xmlns:p14="http://schemas.microsoft.com/office/powerpoint/2010/main" val="133071792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D8E80-53FA-2D7D-C2B0-3FD33C06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883"/>
            <a:ext cx="10515600" cy="1618769"/>
          </a:xfrm>
        </p:spPr>
        <p:txBody>
          <a:bodyPr/>
          <a:lstStyle/>
          <a:p>
            <a:r>
              <a:rPr lang="en-US" noProof="0" dirty="0"/>
              <a:t>HelloWorld.java				</a:t>
            </a:r>
            <a:r>
              <a:rPr lang="en-US" noProof="0" dirty="0" err="1"/>
              <a:t>Dockerfile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2CDD2-A5A3-ACA6-1FAC-35C5270F5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03" y="2301295"/>
            <a:ext cx="6055760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noProof="0" dirty="0">
                <a:solidFill>
                  <a:srgbClr val="C00000"/>
                </a:solidFill>
              </a:rPr>
              <a:t>public class HelloWorld {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public static void main(String[] </a:t>
            </a:r>
            <a:r>
              <a:rPr lang="en-US" noProof="0" dirty="0" err="1">
                <a:solidFill>
                  <a:srgbClr val="C00000"/>
                </a:solidFill>
              </a:rPr>
              <a:t>args</a:t>
            </a:r>
            <a:r>
              <a:rPr lang="en-US" noProof="0" dirty="0">
                <a:solidFill>
                  <a:srgbClr val="C00000"/>
                </a:solidFill>
              </a:rPr>
              <a:t>) {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    </a:t>
            </a:r>
            <a:r>
              <a:rPr lang="en-US" noProof="0" dirty="0" err="1">
                <a:solidFill>
                  <a:srgbClr val="C00000"/>
                </a:solidFill>
              </a:rPr>
              <a:t>System.out.println</a:t>
            </a:r>
            <a:r>
              <a:rPr lang="en-US" noProof="0" dirty="0">
                <a:solidFill>
                  <a:srgbClr val="C00000"/>
                </a:solidFill>
              </a:rPr>
              <a:t>("Hello, World!");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    }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}</a:t>
            </a:r>
          </a:p>
          <a:p>
            <a:endParaRPr lang="en-US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FC7C3A-1D98-FB5B-4136-2C884512FFFC}"/>
              </a:ext>
            </a:extLst>
          </p:cNvPr>
          <p:cNvSpPr txBox="1">
            <a:spLocks/>
          </p:cNvSpPr>
          <p:nvPr/>
        </p:nvSpPr>
        <p:spPr>
          <a:xfrm>
            <a:off x="6497549" y="2217389"/>
            <a:ext cx="5493248" cy="43513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FROM eclipse-temurin:17-jdk-alpine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WORKDIR  /my-compose-app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COPY    HelloWorld.java  /my-compose-app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RUN   </a:t>
            </a:r>
            <a:r>
              <a:rPr lang="en-US" dirty="0" err="1">
                <a:solidFill>
                  <a:srgbClr val="C00000"/>
                </a:solidFill>
              </a:rPr>
              <a:t>javac</a:t>
            </a:r>
            <a:r>
              <a:rPr lang="en-US" dirty="0">
                <a:solidFill>
                  <a:srgbClr val="C00000"/>
                </a:solidFill>
              </a:rPr>
              <a:t>   HelloWorld.java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CMD   ["java",   "HelloWorld"]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DB5E3-3F3A-98ED-AB03-87F97EDF181F}"/>
              </a:ext>
            </a:extLst>
          </p:cNvPr>
          <p:cNvSpPr txBox="1"/>
          <p:nvPr/>
        </p:nvSpPr>
        <p:spPr>
          <a:xfrm>
            <a:off x="1479479" y="184935"/>
            <a:ext cx="85172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err="1"/>
              <a:t>mkdir</a:t>
            </a:r>
            <a:r>
              <a:rPr lang="en-IN" sz="2800" dirty="0"/>
              <a:t>   ~/</a:t>
            </a:r>
            <a:r>
              <a:rPr lang="en-IN" sz="2800" dirty="0" err="1"/>
              <a:t>java_docker_compose</a:t>
            </a:r>
            <a:endParaRPr lang="en-IN" sz="2800" dirty="0"/>
          </a:p>
          <a:p>
            <a:r>
              <a:rPr lang="en-IN" sz="2800" dirty="0"/>
              <a:t>cd   ~/</a:t>
            </a:r>
            <a:r>
              <a:rPr lang="en-IN" sz="2800" dirty="0" err="1"/>
              <a:t>java_docker_compose</a:t>
            </a:r>
            <a:endParaRPr lang="en-IN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5886520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74D0-C013-8E18-40EF-897B0D3C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210"/>
            <a:ext cx="10515600" cy="65754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docker-</a:t>
            </a:r>
            <a:r>
              <a:rPr lang="en-US" noProof="0" dirty="0" err="1"/>
              <a:t>compose.yml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ADC7EC-B391-9723-E05E-6507BB9D5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63" y="1130159"/>
            <a:ext cx="11897474" cy="2676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973EB6-E1B0-FD32-7D69-51DA686B4500}"/>
              </a:ext>
            </a:extLst>
          </p:cNvPr>
          <p:cNvSpPr txBox="1"/>
          <p:nvPr/>
        </p:nvSpPr>
        <p:spPr>
          <a:xfrm>
            <a:off x="838199" y="3924728"/>
            <a:ext cx="9138007" cy="2431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dirty="0"/>
              <a:t>To run and then remove:</a:t>
            </a:r>
          </a:p>
          <a:p>
            <a:endParaRPr lang="en-IN" sz="2800" dirty="0"/>
          </a:p>
          <a:p>
            <a:r>
              <a:rPr lang="en-IN" sz="3200" b="1" dirty="0"/>
              <a:t>docker      compose       up</a:t>
            </a:r>
          </a:p>
          <a:p>
            <a:endParaRPr lang="en-IN" sz="3200" b="1" dirty="0"/>
          </a:p>
          <a:p>
            <a:r>
              <a:rPr lang="en-IN" sz="3200" b="1" dirty="0"/>
              <a:t>docker      compose       down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92231770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914A-A075-6CDA-8FBC-40219AA46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Swarm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83FEF-040D-1464-FE1B-28F2A1B5D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noProof="0" dirty="0"/>
              <a:t>Docker Swarm</a:t>
            </a:r>
            <a:r>
              <a:rPr lang="en-US" noProof="0" dirty="0"/>
              <a:t>: Docker’s built-in </a:t>
            </a:r>
            <a:r>
              <a:rPr lang="en-US" noProof="0" dirty="0">
                <a:solidFill>
                  <a:srgbClr val="FF0000"/>
                </a:solidFill>
              </a:rPr>
              <a:t>container orchestration</a:t>
            </a:r>
            <a:r>
              <a:rPr lang="en-US" noProof="0" dirty="0"/>
              <a:t> tool</a:t>
            </a:r>
          </a:p>
          <a:p>
            <a:r>
              <a:rPr lang="en-US" noProof="0" dirty="0"/>
              <a:t>Alternative to Kubernetes</a:t>
            </a:r>
          </a:p>
          <a:p>
            <a:r>
              <a:rPr lang="en-US" noProof="0" dirty="0"/>
              <a:t>Not so popular</a:t>
            </a:r>
          </a:p>
          <a:p>
            <a:endParaRPr lang="en-US" noProof="0" dirty="0"/>
          </a:p>
          <a:p>
            <a:r>
              <a:rPr lang="en-US" b="1" noProof="0" dirty="0"/>
              <a:t>docker   info</a:t>
            </a:r>
          </a:p>
          <a:p>
            <a:r>
              <a:rPr lang="en-US" noProof="0" dirty="0"/>
              <a:t>If it shows Docker Swarm not active: </a:t>
            </a:r>
            <a:r>
              <a:rPr lang="en-US" b="1" noProof="0" dirty="0"/>
              <a:t>docker  swarm   </a:t>
            </a:r>
            <a:r>
              <a:rPr lang="en-US" b="1" noProof="0" dirty="0" err="1"/>
              <a:t>init</a:t>
            </a:r>
            <a:endParaRPr lang="en-US" b="1" noProof="0" dirty="0"/>
          </a:p>
          <a:p>
            <a:r>
              <a:rPr lang="en-US" noProof="0" dirty="0"/>
              <a:t>If it gives multiple interfaces error: </a:t>
            </a:r>
          </a:p>
          <a:p>
            <a:pPr marL="0" indent="0">
              <a:buNone/>
            </a:pPr>
            <a:r>
              <a:rPr lang="en-US" b="1" noProof="0" dirty="0"/>
              <a:t>  docker   swarm   </a:t>
            </a:r>
            <a:r>
              <a:rPr lang="en-US" b="1" noProof="0" dirty="0" err="1"/>
              <a:t>init</a:t>
            </a:r>
            <a:r>
              <a:rPr lang="en-US" b="1" noProof="0" dirty="0"/>
              <a:t>   --advertise-</a:t>
            </a:r>
            <a:r>
              <a:rPr lang="en-US" b="1" noProof="0" dirty="0" err="1"/>
              <a:t>addr</a:t>
            </a:r>
            <a:r>
              <a:rPr lang="en-US" b="1" noProof="0" dirty="0"/>
              <a:t> </a:t>
            </a:r>
            <a:r>
              <a:rPr lang="en-US" b="1" noProof="0" dirty="0">
                <a:highlight>
                  <a:srgbClr val="FFFF00"/>
                </a:highlight>
              </a:rPr>
              <a:t>192.168.0.151</a:t>
            </a:r>
            <a:r>
              <a:rPr lang="en-US" noProof="0" dirty="0"/>
              <a:t> (Replace this IP with one of the IPs it has shown)</a:t>
            </a:r>
          </a:p>
          <a:p>
            <a:r>
              <a:rPr lang="en-US" noProof="0" dirty="0"/>
              <a:t>Swarm: Single-node cluster</a:t>
            </a:r>
          </a:p>
          <a:p>
            <a:r>
              <a:rPr lang="en-US" b="1" noProof="0" dirty="0"/>
              <a:t>docker   node   ls</a:t>
            </a:r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061904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5ED4D-E244-359C-AD12-DCF477D1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Swarm Service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92876-952A-7C8F-4495-78419DD76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b="1" noProof="0" dirty="0"/>
              <a:t>docker   service   create   nginx</a:t>
            </a:r>
          </a:p>
          <a:p>
            <a:pPr lvl="1"/>
            <a:endParaRPr lang="en-US" noProof="0" dirty="0"/>
          </a:p>
          <a:p>
            <a:r>
              <a:rPr lang="en-US" noProof="0" dirty="0"/>
              <a:t>Get more details: </a:t>
            </a:r>
            <a:r>
              <a:rPr lang="en-US" b="1" noProof="0" dirty="0"/>
              <a:t>docker   service   ls</a:t>
            </a:r>
          </a:p>
          <a:p>
            <a:endParaRPr lang="en-US" b="1" noProof="0" dirty="0"/>
          </a:p>
          <a:p>
            <a:r>
              <a:rPr lang="en-US" b="1" noProof="0" dirty="0"/>
              <a:t>docker   service   </a:t>
            </a:r>
            <a:r>
              <a:rPr lang="en-US" b="1" noProof="0" dirty="0" err="1"/>
              <a:t>ps</a:t>
            </a:r>
            <a:r>
              <a:rPr lang="en-US" b="1" noProof="0" dirty="0"/>
              <a:t>   &lt;service id&gt;</a:t>
            </a:r>
          </a:p>
          <a:p>
            <a:endParaRPr lang="en-US" b="1" noProof="0" dirty="0"/>
          </a:p>
          <a:p>
            <a:r>
              <a:rPr lang="en-US" b="1" noProof="0" dirty="0"/>
              <a:t>docker   service   update   &lt;service id&gt;   --replicas   &lt;Number&gt;</a:t>
            </a:r>
          </a:p>
          <a:p>
            <a:endParaRPr lang="en-US" b="1" noProof="0" dirty="0"/>
          </a:p>
          <a:p>
            <a:r>
              <a:rPr lang="en-US" b="1" noProof="0" dirty="0"/>
              <a:t>docker   </a:t>
            </a:r>
            <a:r>
              <a:rPr lang="en-US" b="1" noProof="0" dirty="0" err="1"/>
              <a:t>ps</a:t>
            </a:r>
            <a:endParaRPr lang="en-US" b="1" noProof="0" dirty="0"/>
          </a:p>
          <a:p>
            <a:endParaRPr lang="en-US" b="1" noProof="0" dirty="0"/>
          </a:p>
          <a:p>
            <a:r>
              <a:rPr lang="en-US" b="1" noProof="0" dirty="0"/>
              <a:t>docker container stop &lt;container id&gt;</a:t>
            </a:r>
          </a:p>
          <a:p>
            <a:endParaRPr lang="en-US" b="1" noProof="0" dirty="0"/>
          </a:p>
          <a:p>
            <a:r>
              <a:rPr lang="en-US" b="1" noProof="0" dirty="0"/>
              <a:t>docker   container    rm   -f   &lt;container id&gt;</a:t>
            </a:r>
          </a:p>
          <a:p>
            <a:endParaRPr lang="en-US" b="1" noProof="0" dirty="0"/>
          </a:p>
          <a:p>
            <a:r>
              <a:rPr lang="en-US" b="1" noProof="0" dirty="0"/>
              <a:t>docker   container   ls   </a:t>
            </a:r>
            <a:r>
              <a:rPr lang="en-US" noProof="0" dirty="0"/>
              <a:t>… Note that a replacement container has started</a:t>
            </a:r>
          </a:p>
          <a:p>
            <a:endParaRPr lang="en-US" noProof="0" dirty="0"/>
          </a:p>
          <a:p>
            <a:r>
              <a:rPr lang="en-US" b="1" noProof="0" dirty="0"/>
              <a:t>docker service rm &lt;service name&gt;   </a:t>
            </a:r>
            <a:r>
              <a:rPr lang="en-US" noProof="0" dirty="0"/>
              <a:t>… Remove the service itself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1933C-8F68-E23D-86F7-7949BBE26BA0}"/>
              </a:ext>
            </a:extLst>
          </p:cNvPr>
          <p:cNvSpPr txBox="1"/>
          <p:nvPr/>
        </p:nvSpPr>
        <p:spPr>
          <a:xfrm>
            <a:off x="5866543" y="1791628"/>
            <a:ext cx="5383659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service</a:t>
            </a:r>
            <a:r>
              <a:rPr lang="en-US" sz="2400" noProof="0" dirty="0"/>
              <a:t>: We create a service in Docker Swarm to run containers inside it … It is a logical group of multiple copies of the same container</a:t>
            </a:r>
          </a:p>
        </p:txBody>
      </p:sp>
    </p:spTree>
    <p:extLst>
      <p:ext uri="{BB962C8B-B14F-4D97-AF65-F5344CB8AC3E}">
        <p14:creationId xmlns:p14="http://schemas.microsoft.com/office/powerpoint/2010/main" val="326003027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66A4-F041-05F2-F8A3-9E1B655F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Docker Swarm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05152-066F-4E6F-BD1E-634C1C79A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a new docker image using NGINX</a:t>
            </a:r>
          </a:p>
          <a:p>
            <a:r>
              <a:rPr lang="en-US" noProof="0" dirty="0"/>
              <a:t>Push it to docker hub</a:t>
            </a:r>
          </a:p>
          <a:p>
            <a:r>
              <a:rPr lang="en-US" noProof="0" dirty="0"/>
              <a:t>Create a service on </a:t>
            </a:r>
            <a:r>
              <a:rPr lang="en-US" noProof="0" dirty="0" err="1"/>
              <a:t>Dockerswarm</a:t>
            </a:r>
            <a:endParaRPr lang="en-US" noProof="0" dirty="0"/>
          </a:p>
          <a:p>
            <a:r>
              <a:rPr lang="en-US" noProof="0" dirty="0"/>
              <a:t>Keep initial replicas as 1 and then increase the replicas to 10</a:t>
            </a:r>
          </a:p>
          <a:p>
            <a:r>
              <a:rPr lang="en-US" noProof="0" dirty="0"/>
              <a:t>Reduce the replicas to 2</a:t>
            </a:r>
          </a:p>
          <a:p>
            <a:r>
              <a:rPr lang="en-US" noProof="0" dirty="0"/>
              <a:t>Create a new image by modifying “index.html”</a:t>
            </a:r>
          </a:p>
          <a:p>
            <a:r>
              <a:rPr lang="en-US" noProof="0" dirty="0"/>
              <a:t>Push to docker hub and then update the service for a new image</a:t>
            </a:r>
          </a:p>
        </p:txBody>
      </p:sp>
    </p:spTree>
    <p:extLst>
      <p:ext uri="{BB962C8B-B14F-4D97-AF65-F5344CB8AC3E}">
        <p14:creationId xmlns:p14="http://schemas.microsoft.com/office/powerpoint/2010/main" val="261510468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A19D5-DAA6-E2B5-87BB-6F8EBA1A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Solution –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20ECB-CF0A-F0F1-4833-6758246DA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 err="1"/>
              <a:t>mkdir</a:t>
            </a:r>
            <a:r>
              <a:rPr lang="en-US" noProof="0" dirty="0"/>
              <a:t>   </a:t>
            </a:r>
            <a:r>
              <a:rPr lang="en-US" noProof="0" dirty="0" err="1"/>
              <a:t>nginx_project</a:t>
            </a:r>
            <a:endParaRPr lang="en-US" noProof="0" dirty="0"/>
          </a:p>
          <a:p>
            <a:r>
              <a:rPr lang="en-US" noProof="0" dirty="0"/>
              <a:t>cd   </a:t>
            </a:r>
            <a:r>
              <a:rPr lang="en-US" noProof="0" dirty="0" err="1"/>
              <a:t>nginx_project</a:t>
            </a:r>
            <a:endParaRPr lang="en-US" noProof="0" dirty="0"/>
          </a:p>
          <a:p>
            <a:r>
              <a:rPr lang="en-US" noProof="0" dirty="0"/>
              <a:t>echo  "&lt;h1&gt;Welcome to my custom NGINX server&lt;/h1&gt;"   &gt; index.html</a:t>
            </a:r>
          </a:p>
          <a:p>
            <a:r>
              <a:rPr lang="en-US" noProof="0" dirty="0" err="1"/>
              <a:t>sudo</a:t>
            </a:r>
            <a:r>
              <a:rPr lang="en-US" noProof="0" dirty="0"/>
              <a:t>   nano  </a:t>
            </a:r>
            <a:r>
              <a:rPr lang="en-US" noProof="0" dirty="0" err="1"/>
              <a:t>Dockerfile</a:t>
            </a:r>
            <a:endParaRPr lang="en-US" noProof="0" dirty="0"/>
          </a:p>
          <a:p>
            <a:r>
              <a:rPr lang="en-US" noProof="0" dirty="0">
                <a:solidFill>
                  <a:srgbClr val="C00000"/>
                </a:solidFill>
              </a:rPr>
              <a:t>FROM   </a:t>
            </a:r>
            <a:r>
              <a:rPr lang="en-US" noProof="0" dirty="0" err="1">
                <a:solidFill>
                  <a:srgbClr val="C00000"/>
                </a:solidFill>
              </a:rPr>
              <a:t>nginx:latest</a:t>
            </a:r>
            <a:r>
              <a:rPr lang="en-US" noProof="0" dirty="0">
                <a:solidFill>
                  <a:srgbClr val="C00000"/>
                </a:solidFill>
              </a:rPr>
              <a:t> 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COPY   index.html   /</a:t>
            </a:r>
            <a:r>
              <a:rPr lang="en-US" noProof="0" dirty="0" err="1">
                <a:solidFill>
                  <a:srgbClr val="C00000"/>
                </a:solidFill>
              </a:rPr>
              <a:t>usr</a:t>
            </a:r>
            <a:r>
              <a:rPr lang="en-US" noProof="0" dirty="0">
                <a:solidFill>
                  <a:srgbClr val="C00000"/>
                </a:solidFill>
              </a:rPr>
              <a:t>/share/nginx/html/index.html</a:t>
            </a:r>
          </a:p>
          <a:p>
            <a:r>
              <a:rPr lang="en-US" noProof="0" dirty="0"/>
              <a:t>docker   build   -t   </a:t>
            </a:r>
            <a:r>
              <a:rPr lang="en-US" noProof="0" dirty="0" err="1"/>
              <a:t>newdelthis</a:t>
            </a:r>
            <a:r>
              <a:rPr lang="en-US" noProof="0" dirty="0"/>
              <a:t>/custom-nginx:1.0   .</a:t>
            </a:r>
          </a:p>
          <a:p>
            <a:r>
              <a:rPr lang="en-US" noProof="0" dirty="0"/>
              <a:t>docker run   -d   -p   9999:80   </a:t>
            </a:r>
            <a:r>
              <a:rPr lang="en-US" noProof="0" dirty="0" err="1"/>
              <a:t>newdelthis</a:t>
            </a:r>
            <a:r>
              <a:rPr lang="en-US" noProof="0" dirty="0"/>
              <a:t>/custom-nginx:1.0</a:t>
            </a:r>
          </a:p>
          <a:p>
            <a:r>
              <a:rPr lang="en-US" noProof="0" dirty="0"/>
              <a:t>Browser: localhost:9999</a:t>
            </a:r>
          </a:p>
          <a:p>
            <a:r>
              <a:rPr lang="en-US" noProof="0" dirty="0"/>
              <a:t>docker  login</a:t>
            </a:r>
          </a:p>
          <a:p>
            <a:r>
              <a:rPr lang="en-US" noProof="0" dirty="0"/>
              <a:t>docker   push   </a:t>
            </a:r>
            <a:r>
              <a:rPr lang="en-US" noProof="0" dirty="0" err="1"/>
              <a:t>newdlethis</a:t>
            </a:r>
            <a:r>
              <a:rPr lang="en-US" noProof="0" dirty="0"/>
              <a:t>/custom-nginx:1.0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375064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51E23-20EB-4565-A381-2B0933A8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7E91B-EF03-9CD2-E3AA-FCC02ACC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Solution –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E4DB-C228-F1D4-B81A-66F6CEFE0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docker    swarm   </a:t>
            </a:r>
            <a:r>
              <a:rPr lang="en-US" noProof="0" dirty="0" err="1"/>
              <a:t>init</a:t>
            </a:r>
            <a:endParaRPr lang="en-US" noProof="0" dirty="0"/>
          </a:p>
          <a:p>
            <a:r>
              <a:rPr lang="en-US" noProof="0" dirty="0"/>
              <a:t>docker   service   create   --name   nginx-service   --replicas   1   -p 9999:80   </a:t>
            </a:r>
            <a:r>
              <a:rPr lang="en-US" noProof="0" dirty="0" err="1"/>
              <a:t>newdelthis</a:t>
            </a:r>
            <a:r>
              <a:rPr lang="en-US" noProof="0" dirty="0"/>
              <a:t>/custom-nginx:1.0</a:t>
            </a:r>
          </a:p>
          <a:p>
            <a:r>
              <a:rPr lang="en-US" noProof="0" dirty="0"/>
              <a:t>docker   service   ls</a:t>
            </a:r>
          </a:p>
          <a:p>
            <a:r>
              <a:rPr lang="en-US" noProof="0" dirty="0"/>
              <a:t>docker   service   scale   nginx-service=10</a:t>
            </a:r>
          </a:p>
          <a:p>
            <a:r>
              <a:rPr lang="en-US" noProof="0" dirty="0"/>
              <a:t>docker   service   </a:t>
            </a:r>
            <a:r>
              <a:rPr lang="en-US" noProof="0" dirty="0" err="1"/>
              <a:t>ps</a:t>
            </a:r>
            <a:r>
              <a:rPr lang="en-US" noProof="0" dirty="0"/>
              <a:t>   nginx-service</a:t>
            </a:r>
          </a:p>
          <a:p>
            <a:r>
              <a:rPr lang="en-US" noProof="0" dirty="0"/>
              <a:t>docker   service   scale   nginx-service=2</a:t>
            </a:r>
          </a:p>
          <a:p>
            <a:r>
              <a:rPr lang="en-US" noProof="0" dirty="0"/>
              <a:t>docker   service   </a:t>
            </a:r>
            <a:r>
              <a:rPr lang="en-US" noProof="0" dirty="0" err="1"/>
              <a:t>ps</a:t>
            </a:r>
            <a:r>
              <a:rPr lang="en-US" noProof="0" dirty="0"/>
              <a:t>   nginx-service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92485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9BE30-FA09-E414-9C52-8987F9BE3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6BCFC-51F0-66B2-56E0-A77C9EDEE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Solution – 3 (New index.html)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CADE2-C7EF-D8AC-9737-A09F8F3C7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echo  "&lt;h1&gt;Welcome to the updated NGINX server&lt;/h1&gt;"   &gt; index.html</a:t>
            </a:r>
          </a:p>
          <a:p>
            <a:r>
              <a:rPr lang="en-US" noProof="0" dirty="0"/>
              <a:t>docker   build   -t   </a:t>
            </a:r>
            <a:r>
              <a:rPr lang="en-US" noProof="0" dirty="0" err="1"/>
              <a:t>newdelthis</a:t>
            </a:r>
            <a:r>
              <a:rPr lang="en-US" noProof="0" dirty="0"/>
              <a:t>/custom-nginx:2.0   .</a:t>
            </a:r>
          </a:p>
          <a:p>
            <a:r>
              <a:rPr lang="en-US" noProof="0" dirty="0"/>
              <a:t>docker   push   </a:t>
            </a:r>
            <a:r>
              <a:rPr lang="en-US" noProof="0" dirty="0" err="1"/>
              <a:t>newdelthis</a:t>
            </a:r>
            <a:r>
              <a:rPr lang="en-US" noProof="0" dirty="0"/>
              <a:t>/custom-nginx:2.0</a:t>
            </a:r>
          </a:p>
          <a:p>
            <a:r>
              <a:rPr lang="en-US" noProof="0" dirty="0"/>
              <a:t>docker   service   update   --image   </a:t>
            </a:r>
            <a:r>
              <a:rPr lang="en-US" noProof="0" dirty="0" err="1"/>
              <a:t>newdelthis</a:t>
            </a:r>
            <a:r>
              <a:rPr lang="en-US" noProof="0" dirty="0"/>
              <a:t>/custom-nginx:2.0 nginx-service</a:t>
            </a:r>
          </a:p>
          <a:p>
            <a:r>
              <a:rPr lang="en-US" noProof="0" dirty="0"/>
              <a:t>docker   service   </a:t>
            </a:r>
            <a:r>
              <a:rPr lang="en-US" noProof="0" dirty="0" err="1"/>
              <a:t>ps</a:t>
            </a:r>
            <a:r>
              <a:rPr lang="en-US" noProof="0" dirty="0"/>
              <a:t>   nginx-service</a:t>
            </a:r>
          </a:p>
          <a:p>
            <a:r>
              <a:rPr lang="en-US" noProof="0" dirty="0"/>
              <a:t>Browser: localhost:9999</a:t>
            </a:r>
          </a:p>
          <a:p>
            <a:r>
              <a:rPr lang="en-US" noProof="0" dirty="0"/>
              <a:t>docker   service   rm   nginx-service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899960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CC2D5-3EE5-7891-4B7A-25484700E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Running a Container and Stopping it After Displaying a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875A3-2080-6054-E10B-77FE459A3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an Alpine container that displays </a:t>
            </a:r>
            <a:r>
              <a:rPr lang="en-US" i="1" noProof="0" dirty="0"/>
              <a:t>Hello World</a:t>
            </a:r>
          </a:p>
          <a:p>
            <a:r>
              <a:rPr lang="en-US" noProof="0" dirty="0"/>
              <a:t>docker run --rm alpine </a:t>
            </a:r>
            <a:r>
              <a:rPr lang="en-US" noProof="0" dirty="0" err="1"/>
              <a:t>sh</a:t>
            </a:r>
            <a:r>
              <a:rPr lang="en-US" noProof="0" dirty="0"/>
              <a:t> -c "echo 'hello world'"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42815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AB5B-1404-767E-EC7E-264FE1BF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Trivy</a:t>
            </a:r>
            <a:r>
              <a:rPr lang="en-US" noProof="0" dirty="0"/>
              <a:t>: Scan Docker Images for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E8641-946F-7C8A-8E1A-786473182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</a:t>
            </a:r>
            <a:r>
              <a:rPr lang="en-US" noProof="0" dirty="0" err="1"/>
              <a:t>Trivy</a:t>
            </a:r>
            <a:r>
              <a:rPr lang="en-US" noProof="0" dirty="0"/>
              <a:t> as a Docker container: docker run </a:t>
            </a:r>
            <a:r>
              <a:rPr lang="en-US" noProof="0" dirty="0" err="1"/>
              <a:t>aquasec</a:t>
            </a:r>
            <a:r>
              <a:rPr lang="en-US" noProof="0" dirty="0"/>
              <a:t>/</a:t>
            </a:r>
            <a:r>
              <a:rPr lang="en-US" noProof="0" dirty="0" err="1"/>
              <a:t>trivy</a:t>
            </a:r>
            <a:endParaRPr lang="en-US" noProof="0" dirty="0"/>
          </a:p>
          <a:p>
            <a:r>
              <a:rPr lang="en-US" noProof="0" dirty="0"/>
              <a:t>Scan an image: docker run --rm  -v /var/run/</a:t>
            </a:r>
            <a:r>
              <a:rPr lang="en-US" noProof="0" dirty="0" err="1"/>
              <a:t>docker.sock</a:t>
            </a:r>
            <a:r>
              <a:rPr lang="en-US" noProof="0" dirty="0"/>
              <a:t>:/var/run/</a:t>
            </a:r>
            <a:r>
              <a:rPr lang="en-US" noProof="0" dirty="0" err="1"/>
              <a:t>docker.sock</a:t>
            </a:r>
            <a:r>
              <a:rPr lang="en-US" noProof="0" dirty="0"/>
              <a:t> </a:t>
            </a:r>
            <a:r>
              <a:rPr lang="en-US" noProof="0" dirty="0" err="1"/>
              <a:t>aquasec</a:t>
            </a:r>
            <a:r>
              <a:rPr lang="en-US" noProof="0" dirty="0"/>
              <a:t>/</a:t>
            </a:r>
            <a:r>
              <a:rPr lang="en-US" noProof="0" dirty="0" err="1"/>
              <a:t>trivy:latest</a:t>
            </a:r>
            <a:r>
              <a:rPr lang="en-US" noProof="0" dirty="0"/>
              <a:t> image </a:t>
            </a:r>
            <a:r>
              <a:rPr lang="en-US" noProof="0" dirty="0" err="1">
                <a:highlight>
                  <a:srgbClr val="FFFF00"/>
                </a:highlight>
              </a:rPr>
              <a:t>newdelthis</a:t>
            </a:r>
            <a:r>
              <a:rPr lang="en-US" noProof="0" dirty="0">
                <a:highlight>
                  <a:srgbClr val="FFFF00"/>
                </a:highlight>
              </a:rPr>
              <a:t>/docker_jenkins_demo:1.0</a:t>
            </a:r>
          </a:p>
        </p:txBody>
      </p:sp>
    </p:spTree>
    <p:extLst>
      <p:ext uri="{BB962C8B-B14F-4D97-AF65-F5344CB8AC3E}">
        <p14:creationId xmlns:p14="http://schemas.microsoft.com/office/powerpoint/2010/main" val="2745144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9747</TotalTime>
  <Words>6743</Words>
  <Application>Microsoft Office PowerPoint</Application>
  <PresentationFormat>Widescreen</PresentationFormat>
  <Paragraphs>1579</Paragraphs>
  <Slides>95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9" baseType="lpstr">
      <vt:lpstr>Arial</vt:lpstr>
      <vt:lpstr>Calibri</vt:lpstr>
      <vt:lpstr>Calibri Light</vt:lpstr>
      <vt:lpstr>Office Theme</vt:lpstr>
      <vt:lpstr>Docker: Containerization</vt:lpstr>
      <vt:lpstr>Running Applications</vt:lpstr>
      <vt:lpstr>Software Deployment</vt:lpstr>
      <vt:lpstr>What is Docker?</vt:lpstr>
      <vt:lpstr>Image and Container</vt:lpstr>
      <vt:lpstr>Container versus Virtual Machine</vt:lpstr>
      <vt:lpstr>Docker and Windows</vt:lpstr>
      <vt:lpstr>Container-related Standards and Projects</vt:lpstr>
      <vt:lpstr>Installing Docker on Ubuntu</vt:lpstr>
      <vt:lpstr>Alternative: Installing Docker on Ubuntu</vt:lpstr>
      <vt:lpstr>The “Ops” View</vt:lpstr>
      <vt:lpstr>Commands on the Previous Slide</vt:lpstr>
      <vt:lpstr>The “Dev” View</vt:lpstr>
      <vt:lpstr>The Docker Engine</vt:lpstr>
      <vt:lpstr>containerd (“Container-d”)</vt:lpstr>
      <vt:lpstr>Starting a New Container</vt:lpstr>
      <vt:lpstr>Ready Docker Images</vt:lpstr>
      <vt:lpstr>Run a Container</vt:lpstr>
      <vt:lpstr>Docker Container Lifecycle</vt:lpstr>
      <vt:lpstr>Docker Image Commands</vt:lpstr>
      <vt:lpstr>docker prune – Containers</vt:lpstr>
      <vt:lpstr>docker prune - Images</vt:lpstr>
      <vt:lpstr>Inspect a Container</vt:lpstr>
      <vt:lpstr>Naming a Docker Container</vt:lpstr>
      <vt:lpstr>Docker Logs Command</vt:lpstr>
      <vt:lpstr>Docker Networking</vt:lpstr>
      <vt:lpstr>Port Mapping</vt:lpstr>
      <vt:lpstr>Docker Bridge Networks Comparison</vt:lpstr>
      <vt:lpstr>Docker Networking Hands-on</vt:lpstr>
      <vt:lpstr>Docker Networking Hands-on</vt:lpstr>
      <vt:lpstr>Create Custom Network</vt:lpstr>
      <vt:lpstr>Communication in Custom Bridge Networks</vt:lpstr>
      <vt:lpstr>Docker Networking</vt:lpstr>
      <vt:lpstr>Docker Networking - app.py</vt:lpstr>
      <vt:lpstr>Dockerfile</vt:lpstr>
      <vt:lpstr>Solution: Change app.py</vt:lpstr>
      <vt:lpstr>Using Network</vt:lpstr>
      <vt:lpstr>Docker Volume</vt:lpstr>
      <vt:lpstr>Docker Volume</vt:lpstr>
      <vt:lpstr>Docker Volume Syntax</vt:lpstr>
      <vt:lpstr>Docker Volume: Three Common Cases</vt:lpstr>
      <vt:lpstr>Volume versus Bind Mount</vt:lpstr>
      <vt:lpstr>Volume Commands</vt:lpstr>
      <vt:lpstr>Volume Lifecycle</vt:lpstr>
      <vt:lpstr>Step 1.1: MySQL Without Volume</vt:lpstr>
      <vt:lpstr>Step 1.2: Create and Verify Data</vt:lpstr>
      <vt:lpstr>Step 1.3: Verify If Data Exists</vt:lpstr>
      <vt:lpstr>Step 2.1 MySQL with Docker Volume</vt:lpstr>
      <vt:lpstr>Step 2.2 Create and Verify Data</vt:lpstr>
      <vt:lpstr>Step 3.1 Verify If Data Exists</vt:lpstr>
      <vt:lpstr>Cleanup</vt:lpstr>
      <vt:lpstr>NGINX with Volume</vt:lpstr>
      <vt:lpstr>NGINX with Volume</vt:lpstr>
      <vt:lpstr>Real-time Update with Docker Volume</vt:lpstr>
      <vt:lpstr>Viewing the Update Inside Container</vt:lpstr>
      <vt:lpstr>Build Image Using Dockerfile</vt:lpstr>
      <vt:lpstr>Python “Hello World”</vt:lpstr>
      <vt:lpstr>Dockerfile</vt:lpstr>
      <vt:lpstr>Push to DockerHub</vt:lpstr>
      <vt:lpstr>Example: Docker CMD versus ENTRYPOINT</vt:lpstr>
      <vt:lpstr>Java “Hello World”</vt:lpstr>
      <vt:lpstr>Push to DockerHub</vt:lpstr>
      <vt:lpstr>Python Add Two Numbers</vt:lpstr>
      <vt:lpstr>Saving/Loading Docker Images (Local Disk)</vt:lpstr>
      <vt:lpstr>Stop and Remove All Running Containers</vt:lpstr>
      <vt:lpstr>Problem</vt:lpstr>
      <vt:lpstr>Create a C Program and Dockerfile</vt:lpstr>
      <vt:lpstr>Build and Execute</vt:lpstr>
      <vt:lpstr>Push to DockerHub and Also Save As a tar File</vt:lpstr>
      <vt:lpstr>Web Application: Running a Tomcat Container</vt:lpstr>
      <vt:lpstr>Problem</vt:lpstr>
      <vt:lpstr>Solution</vt:lpstr>
      <vt:lpstr>Docker Volume and Docker Network Example</vt:lpstr>
      <vt:lpstr>Docker Networking Example</vt:lpstr>
      <vt:lpstr>Docker Networking Example</vt:lpstr>
      <vt:lpstr>Docker Compose</vt:lpstr>
      <vt:lpstr>Docker Compose Example</vt:lpstr>
      <vt:lpstr>Creating a Docker Compose yaml File</vt:lpstr>
      <vt:lpstr>Creating a Docker Compose yaml File</vt:lpstr>
      <vt:lpstr>Creating a Docker Compose yaml File</vt:lpstr>
      <vt:lpstr>Creating a Docker Compose yaml File</vt:lpstr>
      <vt:lpstr>Creating a Docker Compose yaml File</vt:lpstr>
      <vt:lpstr>Creating a Docker Compose yaml File</vt:lpstr>
      <vt:lpstr>Docker Compose File: Key Points</vt:lpstr>
      <vt:lpstr>Docker Compose</vt:lpstr>
      <vt:lpstr>HelloWorld.java    Dockerfile</vt:lpstr>
      <vt:lpstr>docker-compose.yml</vt:lpstr>
      <vt:lpstr>Docker Swarm</vt:lpstr>
      <vt:lpstr>Docker Swarm Service Example</vt:lpstr>
      <vt:lpstr>Docker Swarm Problem</vt:lpstr>
      <vt:lpstr>Solution – 1</vt:lpstr>
      <vt:lpstr>Solution – 2</vt:lpstr>
      <vt:lpstr>Solution – 3 (New index.html)</vt:lpstr>
      <vt:lpstr>Running a Container and Stopping it After Displaying a Message</vt:lpstr>
      <vt:lpstr>Trivy: Scan Docker Images for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84</cp:revision>
  <dcterms:created xsi:type="dcterms:W3CDTF">2024-11-17T11:29:29Z</dcterms:created>
  <dcterms:modified xsi:type="dcterms:W3CDTF">2026-04-23T09:34:23Z</dcterms:modified>
</cp:coreProperties>
</file>